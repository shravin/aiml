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7" r:id="rId2"/>
    <p:sldId id="1420" r:id="rId3"/>
    <p:sldId id="324" r:id="rId4"/>
    <p:sldId id="1670" r:id="rId5"/>
    <p:sldId id="1687" r:id="rId6"/>
    <p:sldId id="1671" r:id="rId7"/>
    <p:sldId id="1675" r:id="rId8"/>
    <p:sldId id="1672" r:id="rId9"/>
    <p:sldId id="1459" r:id="rId10"/>
    <p:sldId id="1688" r:id="rId11"/>
    <p:sldId id="1635" r:id="rId12"/>
    <p:sldId id="1674" r:id="rId13"/>
    <p:sldId id="1636" r:id="rId14"/>
    <p:sldId id="1637" r:id="rId15"/>
    <p:sldId id="1638" r:id="rId16"/>
    <p:sldId id="1639" r:id="rId17"/>
    <p:sldId id="1640" r:id="rId18"/>
    <p:sldId id="1641" r:id="rId19"/>
    <p:sldId id="1689" r:id="rId20"/>
    <p:sldId id="1364" r:id="rId21"/>
    <p:sldId id="1642" r:id="rId22"/>
    <p:sldId id="1643" r:id="rId23"/>
    <p:sldId id="1690" r:id="rId24"/>
    <p:sldId id="1290" r:id="rId25"/>
    <p:sldId id="1291" r:id="rId26"/>
    <p:sldId id="1691" r:id="rId27"/>
    <p:sldId id="1692" r:id="rId28"/>
    <p:sldId id="1294" r:id="rId29"/>
    <p:sldId id="1693" r:id="rId30"/>
    <p:sldId id="1295" r:id="rId31"/>
    <p:sldId id="1695" r:id="rId32"/>
    <p:sldId id="1694" r:id="rId33"/>
    <p:sldId id="1696" r:id="rId34"/>
    <p:sldId id="1646" r:id="rId35"/>
    <p:sldId id="1666" r:id="rId36"/>
    <p:sldId id="1578" r:id="rId37"/>
    <p:sldId id="1647" r:id="rId38"/>
    <p:sldId id="1442" r:id="rId39"/>
    <p:sldId id="1667" r:id="rId40"/>
    <p:sldId id="1697" r:id="rId41"/>
    <p:sldId id="1668" r:id="rId42"/>
    <p:sldId id="1649" r:id="rId43"/>
    <p:sldId id="1650" r:id="rId44"/>
    <p:sldId id="1458" r:id="rId45"/>
    <p:sldId id="1698" r:id="rId46"/>
    <p:sldId id="1465" r:id="rId47"/>
    <p:sldId id="1466" r:id="rId48"/>
    <p:sldId id="1652" r:id="rId49"/>
    <p:sldId id="1368" r:id="rId50"/>
    <p:sldId id="1351" r:id="rId51"/>
    <p:sldId id="1686" r:id="rId52"/>
    <p:sldId id="1699" r:id="rId53"/>
    <p:sldId id="1653" r:id="rId54"/>
    <p:sldId id="163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D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8BE31-1E8E-4CBF-9E67-0DA0E0A429B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CF3DB-B94F-4521-92AB-55AFF3782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0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F524-DB30-EB11-1C11-991131A1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9E256-6D8C-53EA-48C2-BF4C18391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1CF47-5B94-1CD5-8380-4DCE6E7DB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D9A01-6B32-5B09-66B2-3AF1F413B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362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369B-DE24-785E-2AD2-F3CCEF26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1A0B7-9A52-43A5-8665-484AA6480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111DB-C131-7604-60D6-B07EAC994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D6E50-B3E5-1D88-CAD2-1DEACC65F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779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3376-E55F-FFA7-7B43-3FBD1590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45F14-FB72-8DAA-5792-24AA99A99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FC103-0438-4647-08AE-B659A72D7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12344-3F40-F4DA-4F3C-5A722D89E6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27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D438C-C7E5-32E6-B0CC-533074364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71BCD-1980-0834-CA5A-9EF2BA718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4F847-7101-2C85-353A-246939544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18833-181D-A087-B991-50E204053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36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50EBB-3878-B18C-FD82-B463F0E23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E1393-5CB1-E309-4962-F05166FA5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FDB8F-D42A-E1CF-0061-104CE4D92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4B439-4BE1-4A23-BB1D-7628B0BA8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438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B0F9-70BE-8FFC-71BB-DD6C3EE9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274BE-EA23-2CAE-34B5-6F04AD48B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B8692-42B9-B7DB-6B18-8C156237B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BAF22-0F92-A4BB-51D3-C6C91E380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845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677CA-7155-1E4A-E3A0-F5937416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FD863-0D20-C3AC-DEFD-5AC721462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D1CAE-F953-8BD2-EB3C-5C53B1E60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22F56-AF70-408A-7519-4DA53B561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349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588FF-07E6-1245-7428-3E8F4AD00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98E6A3-275C-73FF-C5BA-1CBA04967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5AA97-5C05-EA22-4781-3536B5A2A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7AA0C-C44B-EB8B-151A-4F3DC7986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090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25B0-DA9F-5724-362B-FCB972EB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2585D-67CF-12E8-B0CA-8EF46141D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98815-CDD2-614C-9B45-64ABFBC29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937EE-8B18-0A23-8B23-404B273F8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718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B568-A73A-FD9E-043A-2644327A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48C5A-45C4-2260-B290-EAF73220F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950FC-44DC-CD3D-1881-4C7C8D937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5B375-8139-0EA3-C699-03FC8E1BC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881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A464-9E3F-F516-9DF6-44BB748F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EF5EA-B496-501B-B0A8-A4E693E71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B46B2-46E4-6917-85F0-8DAE49ABA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49D99-4591-9ACA-CA18-0702F9D7D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805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B9016-4D81-93E9-DB88-628D52C1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51E16-6A7D-51F3-717E-0D3C1EAC9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21C9E-B9D6-BB44-CDFB-4EF469288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050BC-FB2B-9615-BB8A-BECAB5777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81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CD2D-13D2-A949-F3A1-C3FC2AE6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D41F359C-3291-AD6E-6F87-17E54E5E94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FA9BA010-5A7B-F9CD-2CEE-BEB711DEA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604E345-9907-3792-F8BF-98424F531F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A2FEEE-E3D9-4F6D-89B2-FF8DF2925E2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482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418CA-2DB2-FB0F-70DC-DF4269CD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FBBC-D1ED-91F9-469E-BAA9A213D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0946E-8F23-912C-31EF-4437A80D3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6B778-EC82-3D2B-CE65-8366F7F05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890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0B148-5C88-F975-3B09-E7F8E0EDB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5F9C7-911A-B30A-496A-473C1A77F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67EE8-6E09-D76F-6D06-7CDC2314B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1C1C0-114F-6E1C-E7AD-F8D2F186C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592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48FF5-4BC0-D990-63C2-F292C15A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F28CBBBF-1952-7195-DE21-857B4FA5E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7E6E31B8-F7E0-27B1-3DDA-05F459596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5BC8599-3FE6-C83E-7BA6-E17C0418B0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861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B5C4-ACDD-85DC-2B24-0641FC6C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A66289CB-BAD3-4A37-2272-64BE229DA0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2C8D1B02-A1A3-B4DB-1F57-2F3CA5DC45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323DB044-5E20-DE0F-2831-77F91EF9FA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115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D0BF-E48C-ECE5-4C4F-5CB44779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936FD364-4599-3FE0-52A8-11FAFF26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50B22A77-3BF9-86D7-9AC8-5ADAE59DCC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6E175275-676D-9CE7-F1EA-FC5515CC76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704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C08D-0BB0-7D35-A7BD-199B0525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4061382B-8AB4-2C34-DF74-FC4F1B3F44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AF44A3E8-E279-8D78-808B-528BA6F24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B0E907F-7BDB-C8D6-DC9D-9E1F0C1345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345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A42B-5421-8647-B880-9980D29F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DF213E9F-0D2F-C793-44A5-9FD927AB6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70D7907E-6E28-D1F9-6F3C-750DA1405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5A92751C-901C-9C29-4005-E015B6F6BD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4438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D2CE-3832-A2BC-167E-D9828243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C3D4783D-9883-9FFA-2A31-7084B186C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538AF938-8CD2-E04A-D958-5C1A17D365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9C844309-A6CF-3775-FE5C-EA80B723CB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5169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16D2-143D-CCF4-4581-7501619C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4400DDC2-67A2-05B2-DEB3-E7A29815E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C61B0579-AB76-BC15-1124-3E0FF2E00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C6C8DBB7-4240-9A6B-F0E4-A2B0AE229F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633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F46AA-7AF7-4BE8-E95B-296EEDFF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5518AECF-A008-E536-DE76-E4BD5D53E1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E291EFB3-0F8C-CE3E-2479-A12D8585F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CAEAAA7E-9243-BFD9-559F-5451F2529F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276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E9601-2E47-EFBE-25A5-60DAFB67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6A66FF8D-DA2F-640F-FD65-2D4FB24910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3AD43EA1-32AF-CD5F-9171-D7C7D78AA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DD1F282C-3D8E-FF48-0DA2-38E8FB018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293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00D69-CD14-6373-0522-E182E2BD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ABE40EE6-5A35-2CDB-C692-BC026A3BA9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4708F66E-6A24-57C3-45BD-36BB79B81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55CF14DD-17D8-5804-3264-8EE814F5C2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6843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79E63-B728-5C2F-B09E-0F136086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C52E5-C48C-9C33-2B08-441626F19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40709-34FF-A1CD-968F-A0414F88A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93836-CF67-FD03-FAC4-41B5E6D0C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102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AAFD9-6A7A-F058-D9C3-E02CDF27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8C391-0381-90D7-0895-7EDC13621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8BE63-8ACC-97BB-4754-F67FE3BA4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4C0B9-2799-D292-2DBD-18C493095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3546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9915-6C00-7E78-3803-3D2AFA62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8C591-B8AC-951B-A305-3B5905C64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7E38B-B50A-1EF4-1427-88B5D2E25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55EC3-7EAD-1A89-3425-11DF482F5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0542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8EAD-145E-5540-49B9-6ACE14B2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25369-E88C-4B81-1230-F98C2E50C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C631B-132A-946E-BE22-03906E165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F5CF1-DB44-DFCF-26D0-96D14EA10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397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AB2F5-253B-B04D-BC32-32119A1E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F7830-5E6B-6D4F-322F-536DF30AA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D0379-E332-BC7B-202B-AD86F25C0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EB101-0DDA-DBA4-D0BC-98C38DD4F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5503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236AD-E30D-FC6C-AD96-E6F9B1D49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9873E-AF6E-ADB9-E623-3764B371F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335C3-121F-4C69-2A3A-D09EFC4BD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F4EB6-CCC4-5E88-9876-E18EE0E69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60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500FD-5171-5323-0960-166FD7A4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C7424-9544-C604-3407-940782AE1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230B5-A00C-E451-0F3C-C969C4370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07A71-081C-D830-2108-D6A414B55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3522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751F-4C5D-74BF-03E4-8CA366D3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5A90996D-228B-1721-FE48-3BE10ED07F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6356FDEC-2512-A0AC-0EA7-7037AA280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D8F304CA-7720-E788-D9E9-8138738D72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A2FEEE-E3D9-4F6D-89B2-FF8DF2925E2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91633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4419-4650-0068-135C-5D660709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240F0-080E-DC72-020B-080CA01D2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3F541-2BE6-9B93-CDA1-182F97F09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2ED72-DABD-C69E-D22D-DEC99D0C9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445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9E67-0D80-7B85-D112-B4FE4C45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915AD-4270-FA8A-E316-9EC844C9E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E563A-9FD4-DD34-6CAE-59E5197D8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B39C-AA7E-AB07-8AD9-E0A344895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17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5557-10E8-C3EA-E51C-7C06DEAF4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5F606-ACA9-EDD6-2B38-719E470A9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288E-D34B-CA10-494A-2CA575EB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9A691-136E-FE82-BDD9-BE2F1C2E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4233C-3A87-D417-1344-9E1B83B2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848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E00C-156D-267D-81FF-DFDE7C73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65AF-05FC-49F2-5E9C-C047F3A31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F1C18-2F0E-4B19-91EA-F46E100C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1450A-7F92-05B5-7AEB-AF31FB71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70D74-47CC-3830-EFD4-29A02B59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6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DCE4-F0CB-4041-F9AF-A285D5CD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3FB07-A309-D73F-E487-F7562B24D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D191D-1F2D-5C4C-F964-AB3EE795A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5739B-583F-4136-DF26-D5C58AE09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09ED0-CD6A-99B9-C91B-32008C28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03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B678-F532-5197-ADE3-4D527874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B3D0C-5030-98E1-0463-5AA6A5F80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E4A69-68D1-3A76-8D34-491147A28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07C63-7B8D-8F01-FE31-EA42D70D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D2941-8290-BA71-1CEC-4899B122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7DAC2-FF5D-061C-9A59-0D6F39E6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21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121F-D842-C173-683C-CD34962B0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51E2E-9E07-378C-588E-927381157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ECFD6-A43E-8861-3B21-0D4337A16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4F306-C7AA-B94B-9107-5F4296DD2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8CE5B-D0A9-9C8F-4372-5FED195E5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0D5C4-1C80-52C3-CB7B-0CE1F280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47363-4AB3-A92C-0CC7-36ED8A74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393D1-83C1-EECC-D954-DB5CFB83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75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A856-326A-24E5-409C-925B264E6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64206-9E75-A157-E9BE-A3507478D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2A2F9-52B1-E8FA-5968-BFC29305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EC22D-8C6B-65A6-2D28-106D30A4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62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76C3E-D1EA-2D66-D6F1-AE22BC38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AA7DB-3B03-D236-AF12-CFC543D6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AD2CE-7BCD-0B27-FF44-A221023A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55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33CF-E608-095A-37AB-EE8CE410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C7272-6421-43EE-09D7-B476D75D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C15F0-C11B-9993-81E0-448BCF888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12AE7-A8F7-B3D4-A707-18A9DCF4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5F2B-A550-234D-3354-C22254FB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F8A2E-F9B0-6A64-912C-4C22BEEA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97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C042-C16D-711A-3D47-6A47BE8A1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C3C4F7-524C-5954-C187-A4632A36B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04606-BF27-5130-59ED-81AA8B614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473D1-F706-3A6F-73EB-AC8D488D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F087F-59FC-0495-705B-470832CE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138EE-0744-03DC-6E23-F87D20AE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80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087F-367E-33EF-ABA5-DCF7F11D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81727-3BFF-90DC-02D2-EA2872C0A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B0320-1A74-7275-D3F8-4CEECB87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F031A-FBD3-4996-B3D1-A0D422F1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FB701-3D3D-56AF-0017-5FB4D970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7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163D9-7074-C10D-91D7-0B46A270E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7F8DA-8F08-F744-6828-F47A13BB0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1103A-A0F7-AA7A-44F1-7E2793E4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F56B-43B5-52BC-CB9F-FEFF4D95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D5D4E-E7BF-CCC2-609F-BC4AABDA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16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426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4" y="90988"/>
            <a:ext cx="10515598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5" y="1586367"/>
            <a:ext cx="1051559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507" lvl="0" indent="-231192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60"/>
              <a:buChar char="⚫"/>
              <a:defRPr/>
            </a:lvl1pPr>
            <a:lvl2pPr marL="685016" lvl="1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SzPts val="1800"/>
              <a:buChar char="◦"/>
              <a:defRPr/>
            </a:lvl2pPr>
            <a:lvl3pPr marL="1027522" lvl="2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SzPts val="1800"/>
              <a:buChar char="•"/>
              <a:defRPr/>
            </a:lvl3pPr>
            <a:lvl4pPr marL="1370029" lvl="3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SzPts val="1800"/>
              <a:buChar char="•"/>
              <a:defRPr/>
            </a:lvl4pPr>
            <a:lvl5pPr marL="1712540" lvl="4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SzPts val="1800"/>
              <a:buChar char="•"/>
              <a:defRPr/>
            </a:lvl5pPr>
            <a:lvl6pPr marL="2055045" lvl="5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397553" lvl="6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0062" lvl="7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2569" lvl="8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796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F450D-BCF8-60A0-3A3B-0A7C001D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095ED-32B4-AA18-61EB-83328CF4F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C1537-D807-3005-EE76-0277DBB43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9E624-C5E9-42FD-B003-AB563EEA893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648A9-D5BD-71F2-1AD6-A7945CEE7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1DF84-8BAA-69D9-515D-BC43E1A1C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029F9065-E3E1-A9B6-5C59-098508BB333D}"/>
              </a:ext>
            </a:extLst>
          </p:cNvPr>
          <p:cNvSpPr/>
          <p:nvPr userDrawn="1"/>
        </p:nvSpPr>
        <p:spPr>
          <a:xfrm>
            <a:off x="0" y="-1"/>
            <a:ext cx="12192000" cy="607273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08B2F65B-38D2-33E4-44EF-BD07B4470CFE}"/>
              </a:ext>
            </a:extLst>
          </p:cNvPr>
          <p:cNvSpPr/>
          <p:nvPr userDrawn="1"/>
        </p:nvSpPr>
        <p:spPr>
          <a:xfrm>
            <a:off x="0" y="6693966"/>
            <a:ext cx="12192000" cy="16403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Google Shape;118;p2">
            <a:extLst>
              <a:ext uri="{FF2B5EF4-FFF2-40B4-BE49-F238E27FC236}">
                <a16:creationId xmlns:a16="http://schemas.microsoft.com/office/drawing/2014/main" id="{AE330001-CCE5-5980-32B2-19FCDB88E766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11648660" y="70549"/>
            <a:ext cx="461341" cy="466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591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slide" Target="slide44.xml"/><Relationship Id="rId3" Type="http://schemas.openxmlformats.org/officeDocument/2006/relationships/slide" Target="slide3.xml"/><Relationship Id="rId7" Type="http://schemas.openxmlformats.org/officeDocument/2006/relationships/slide" Target="slide16.xml"/><Relationship Id="rId12" Type="http://schemas.openxmlformats.org/officeDocument/2006/relationships/slide" Target="slide4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29.xml"/><Relationship Id="rId5" Type="http://schemas.openxmlformats.org/officeDocument/2006/relationships/slide" Target="slide9.xml"/><Relationship Id="rId15" Type="http://schemas.openxmlformats.org/officeDocument/2006/relationships/slide" Target="slide49.xml"/><Relationship Id="rId10" Type="http://schemas.openxmlformats.org/officeDocument/2006/relationships/slide" Target="slide26.xml"/><Relationship Id="rId4" Type="http://schemas.openxmlformats.org/officeDocument/2006/relationships/slide" Target="slide5.xml"/><Relationship Id="rId9" Type="http://schemas.openxmlformats.org/officeDocument/2006/relationships/slide" Target="slide23.xml"/><Relationship Id="rId14" Type="http://schemas.openxmlformats.org/officeDocument/2006/relationships/slide" Target="slide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blog/all-our-n-gram-are-belong-to-you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hyperlink" Target="https://books.google.com/ngrams/info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stanford.edu/~jurafsky/slp3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09599" y="450312"/>
            <a:ext cx="5446136" cy="580657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39797" y="1897392"/>
            <a:ext cx="11526560" cy="38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000" b="1" dirty="0">
              <a:solidFill>
                <a:srgbClr val="1E276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599" y="1143874"/>
            <a:ext cx="1219200" cy="331139"/>
          </a:xfrm>
          <a:prstGeom prst="roundRect">
            <a:avLst>
              <a:gd name="adj" fmla="val 13158"/>
            </a:avLst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09599" y="1143874"/>
            <a:ext cx="1219200" cy="33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/>
              <a:t>Session 1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09600" y="4291584"/>
            <a:ext cx="6705600" cy="48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9600" y="4511040"/>
            <a:ext cx="8534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Dr. Ramji Srinivasan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9600" y="5023104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Adjunct Professor &amp; Senior Consultant, IIT Madras  |  Facilitator, IITM Pravartak &amp; Jaro Education</a:t>
            </a:r>
            <a:endParaRPr lang="en-US" sz="1333" dirty="0"/>
          </a:p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Director, Bit2Qubit Technologies Ltd  |  Scientific Advisor, ParvAI Labs &amp; Sonolight Imaging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10237557" y="629367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/>
              <a:t>19 July 2026</a:t>
            </a:r>
          </a:p>
        </p:txBody>
      </p:sp>
      <p:pic>
        <p:nvPicPr>
          <p:cNvPr id="3" name="Image 2" descr="/home/claude/build/logo_pravartak.png">
            <a:extLst>
              <a:ext uri="{FF2B5EF4-FFF2-40B4-BE49-F238E27FC236}">
                <a16:creationId xmlns:a16="http://schemas.microsoft.com/office/drawing/2014/main" id="{74E683EA-76DF-6DE7-D236-DCC2FB9F7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65528" y="4961400"/>
            <a:ext cx="1700830" cy="476233"/>
          </a:xfrm>
          <a:prstGeom prst="rect">
            <a:avLst/>
          </a:prstGeom>
          <a:ln>
            <a:noFill/>
          </a:ln>
        </p:spPr>
      </p:pic>
      <p:pic>
        <p:nvPicPr>
          <p:cNvPr id="10" name="Image 3" descr="/home/claude/build/logo_jaro.png">
            <a:extLst>
              <a:ext uri="{FF2B5EF4-FFF2-40B4-BE49-F238E27FC236}">
                <a16:creationId xmlns:a16="http://schemas.microsoft.com/office/drawing/2014/main" id="{0C94154B-1C8E-6722-2F74-7D4A041092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81079" y="5566579"/>
            <a:ext cx="1510822" cy="365760"/>
          </a:xfrm>
          <a:prstGeom prst="rect">
            <a:avLst/>
          </a:prstGeom>
          <a:ln>
            <a:noFill/>
          </a:ln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D62A21A3-27D7-C226-05EA-26AE97E97D8F}"/>
              </a:ext>
            </a:extLst>
          </p:cNvPr>
          <p:cNvSpPr/>
          <p:nvPr/>
        </p:nvSpPr>
        <p:spPr>
          <a:xfrm>
            <a:off x="609600" y="1767840"/>
            <a:ext cx="10363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5ED70C67-4185-3C4E-0A2A-BA5BBA007793}"/>
              </a:ext>
            </a:extLst>
          </p:cNvPr>
          <p:cNvSpPr/>
          <p:nvPr/>
        </p:nvSpPr>
        <p:spPr>
          <a:xfrm>
            <a:off x="609600" y="3048000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3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5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FF4F-8EEF-28AA-6ADE-942D36E25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F92E-18BB-52B0-BE43-9506B8D9C95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7ECCA-511B-916C-D28E-C30B622DE990}"/>
              </a:ext>
            </a:extLst>
          </p:cNvPr>
          <p:cNvSpPr txBox="1"/>
          <p:nvPr/>
        </p:nvSpPr>
        <p:spPr>
          <a:xfrm>
            <a:off x="125643" y="663116"/>
            <a:ext cx="852974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3" action="ppaction://hlinksldjump"/>
              </a:rPr>
              <a:t>Learning from Phase I</a:t>
            </a:r>
            <a:endParaRPr lang="en-IN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4" action="ppaction://hlinksldjump"/>
              </a:rPr>
              <a:t>Phase II- Modules &amp; Execution Plan</a:t>
            </a:r>
            <a:endParaRPr lang="en-IN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5" action="ppaction://hlinksldjump"/>
              </a:rPr>
              <a:t>Foundations of LLM</a:t>
            </a:r>
            <a:endParaRPr lang="en-IN" sz="28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6" action="ppaction://hlinksldjump"/>
              </a:rPr>
              <a:t>	Natural Language Processing</a:t>
            </a:r>
            <a:endParaRPr lang="en-IN" sz="28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7" action="ppaction://hlinksldjump"/>
              </a:rPr>
              <a:t>	Language Model</a:t>
            </a:r>
            <a:endParaRPr lang="en-IN" sz="2800" dirty="0"/>
          </a:p>
          <a:p>
            <a:pPr marL="1714500" lvl="3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8" action="ppaction://hlinksldjump"/>
              </a:rPr>
              <a:t>Rule based</a:t>
            </a:r>
            <a:endParaRPr lang="en-IN" sz="2800" dirty="0"/>
          </a:p>
          <a:p>
            <a:pPr marL="1714500" lvl="3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9" action="ppaction://hlinksldjump"/>
              </a:rPr>
              <a:t>Statistical </a:t>
            </a:r>
            <a:endParaRPr lang="en-IN" sz="2800" dirty="0"/>
          </a:p>
          <a:p>
            <a:pPr marL="1714500" lvl="3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10" action="ppaction://hlinksldjump"/>
              </a:rPr>
              <a:t>Neural</a:t>
            </a:r>
            <a:r>
              <a:rPr lang="en-IN" sz="2800" dirty="0"/>
              <a:t> </a:t>
            </a:r>
          </a:p>
          <a:p>
            <a:pPr marL="1714500" lvl="3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11" action="ppaction://hlinksldjump"/>
              </a:rPr>
              <a:t>Introduction to Large Language Models</a:t>
            </a:r>
            <a:endParaRPr lang="en-IN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12" action="ppaction://hlinksldjump"/>
              </a:rPr>
              <a:t>Broad Review of Applications of LLM</a:t>
            </a:r>
            <a:endParaRPr lang="en-IN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13" action="ppaction://hlinksldjump"/>
              </a:rPr>
              <a:t>Market Trends</a:t>
            </a:r>
            <a:endParaRPr lang="en-IN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14" action="ppaction://hlinksldjump"/>
              </a:rPr>
              <a:t>References / Useful Reads</a:t>
            </a:r>
            <a:endParaRPr lang="en-IN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800" dirty="0">
                <a:hlinkClick r:id="rId15" action="ppaction://hlinksldjump"/>
              </a:rPr>
              <a:t>Hands 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6699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97AD9-1E08-782D-838D-FDCFF847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>
            <a:extLst>
              <a:ext uri="{FF2B5EF4-FFF2-40B4-BE49-F238E27FC236}">
                <a16:creationId xmlns:a16="http://schemas.microsoft.com/office/drawing/2014/main" id="{B8D2CA42-F951-ED8B-3CB7-8CA1D95322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I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BAA47B-0259-8C6B-833F-5A0267571E71}"/>
              </a:ext>
            </a:extLst>
          </p:cNvPr>
          <p:cNvSpPr txBox="1"/>
          <p:nvPr/>
        </p:nvSpPr>
        <p:spPr>
          <a:xfrm>
            <a:off x="0" y="622564"/>
            <a:ext cx="7275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Topics covered in Phase I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E42458-C5CC-47A6-9DD0-729DD21CDA39}"/>
              </a:ext>
            </a:extLst>
          </p:cNvPr>
          <p:cNvSpPr txBox="1"/>
          <p:nvPr/>
        </p:nvSpPr>
        <p:spPr>
          <a:xfrm>
            <a:off x="344805" y="1116813"/>
            <a:ext cx="897647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Mathematical Foundations for AI &amp; ML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Probability &amp; Statistics for ML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Machine Learning Fundamentals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Classical ML Algorithms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Neural Networks &amp; Deep Learning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Computer Vision Techniques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Sequential &amp; Representation Learning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Advanced Learning Paradigm</a:t>
            </a:r>
          </a:p>
        </p:txBody>
      </p:sp>
    </p:spTree>
    <p:extLst>
      <p:ext uri="{BB962C8B-B14F-4D97-AF65-F5344CB8AC3E}">
        <p14:creationId xmlns:p14="http://schemas.microsoft.com/office/powerpoint/2010/main" val="702941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29FB76-B223-B7E3-0629-7F53E3DF10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- Capabilities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2FF258-3C04-4ACB-16EB-45FFD62C58DD}"/>
              </a:ext>
            </a:extLst>
          </p:cNvPr>
          <p:cNvGrpSpPr/>
          <p:nvPr/>
        </p:nvGrpSpPr>
        <p:grpSpPr>
          <a:xfrm>
            <a:off x="-9272" y="722437"/>
            <a:ext cx="8938376" cy="5958918"/>
            <a:chOff x="1783139" y="684055"/>
            <a:chExt cx="8938376" cy="595891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7ADB0F7-6DD8-4EA9-1F39-FC8C36467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3139" y="684055"/>
              <a:ext cx="8938376" cy="5958918"/>
            </a:xfrm>
            <a:prstGeom prst="rect">
              <a:avLst/>
            </a:prstGeom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9A387E0-3B3F-CC6A-9F31-BC11BBB83EF8}"/>
                </a:ext>
              </a:extLst>
            </p:cNvPr>
            <p:cNvSpPr/>
            <p:nvPr/>
          </p:nvSpPr>
          <p:spPr>
            <a:xfrm>
              <a:off x="1917290" y="3038168"/>
              <a:ext cx="2192594" cy="1396180"/>
            </a:xfrm>
            <a:prstGeom prst="roundRect">
              <a:avLst/>
            </a:prstGeom>
            <a:solidFill>
              <a:srgbClr val="000D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hape 38">
            <a:extLst>
              <a:ext uri="{FF2B5EF4-FFF2-40B4-BE49-F238E27FC236}">
                <a16:creationId xmlns:a16="http://schemas.microsoft.com/office/drawing/2014/main" id="{21899A6C-5B8D-6069-322B-34D43E60D55B}"/>
              </a:ext>
            </a:extLst>
          </p:cNvPr>
          <p:cNvSpPr/>
          <p:nvPr/>
        </p:nvSpPr>
        <p:spPr>
          <a:xfrm>
            <a:off x="8965088" y="661932"/>
            <a:ext cx="3226912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9EAF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9">
            <a:extLst>
              <a:ext uri="{FF2B5EF4-FFF2-40B4-BE49-F238E27FC236}">
                <a16:creationId xmlns:a16="http://schemas.microsoft.com/office/drawing/2014/main" id="{083D8B08-83E7-FD4D-D368-9D30910DCB01}"/>
              </a:ext>
            </a:extLst>
          </p:cNvPr>
          <p:cNvSpPr/>
          <p:nvPr/>
        </p:nvSpPr>
        <p:spPr>
          <a:xfrm>
            <a:off x="8938376" y="740123"/>
            <a:ext cx="3253624" cy="52812"/>
          </a:xfrm>
          <a:prstGeom prst="roundRect">
            <a:avLst/>
          </a:prstGeom>
          <a:solidFill>
            <a:srgbClr val="316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0">
            <a:extLst>
              <a:ext uri="{FF2B5EF4-FFF2-40B4-BE49-F238E27FC236}">
                <a16:creationId xmlns:a16="http://schemas.microsoft.com/office/drawing/2014/main" id="{DE8E7E56-8FF6-B7AC-E33D-415C76EA8E5B}"/>
              </a:ext>
            </a:extLst>
          </p:cNvPr>
          <p:cNvSpPr/>
          <p:nvPr/>
        </p:nvSpPr>
        <p:spPr>
          <a:xfrm>
            <a:off x="9112112" y="868139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9EAF2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EDAA479F-F8A4-6CF0-2F8E-DB37D67BB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474" y="1024501"/>
            <a:ext cx="345643" cy="345643"/>
          </a:xfrm>
          <a:prstGeom prst="rect">
            <a:avLst/>
          </a:prstGeom>
        </p:spPr>
      </p:pic>
      <p:sp>
        <p:nvSpPr>
          <p:cNvPr id="10" name="Text 41">
            <a:extLst>
              <a:ext uri="{FF2B5EF4-FFF2-40B4-BE49-F238E27FC236}">
                <a16:creationId xmlns:a16="http://schemas.microsoft.com/office/drawing/2014/main" id="{E8A66A6E-95F0-1F69-3A2C-DF45D0DC24A2}"/>
              </a:ext>
            </a:extLst>
          </p:cNvPr>
          <p:cNvSpPr/>
          <p:nvPr/>
        </p:nvSpPr>
        <p:spPr>
          <a:xfrm>
            <a:off x="9852775" y="996155"/>
            <a:ext cx="23218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B1D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42">
            <a:extLst>
              <a:ext uri="{FF2B5EF4-FFF2-40B4-BE49-F238E27FC236}">
                <a16:creationId xmlns:a16="http://schemas.microsoft.com/office/drawing/2014/main" id="{2F93AADF-AC57-E1A5-A834-080B6DBFC78E}"/>
              </a:ext>
            </a:extLst>
          </p:cNvPr>
          <p:cNvSpPr/>
          <p:nvPr/>
        </p:nvSpPr>
        <p:spPr>
          <a:xfrm>
            <a:off x="8982456" y="1656575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F8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Learns to predict classes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lvl="0" indent="-342900">
              <a:spcAft>
                <a:spcPts val="900"/>
              </a:spcAft>
              <a:buSzPct val="100000"/>
              <a:buFontTx/>
              <a:buChar char="✦"/>
              <a:defRPr/>
            </a:pPr>
            <a:r>
              <a:rPr lang="en-US" sz="1200" dirty="0">
                <a:solidFill>
                  <a:srgbClr val="6B6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Output: Features → Class/Value</a:t>
            </a:r>
          </a:p>
          <a:p>
            <a:pPr marL="342900" lvl="0" indent="-342900">
              <a:spcAft>
                <a:spcPts val="900"/>
              </a:spcAft>
              <a:buSzPct val="100000"/>
              <a:buFontTx/>
              <a:buChar char="✦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F8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Boundary: P(label | input) directly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F8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Classification, Regression</a:t>
            </a:r>
          </a:p>
          <a:p>
            <a:pPr marL="342900" lvl="0" indent="-342900">
              <a:spcAft>
                <a:spcPts val="900"/>
              </a:spcAft>
              <a:buSzPct val="100000"/>
              <a:buFontTx/>
              <a:buChar char="✦"/>
              <a:defRPr/>
            </a:pPr>
            <a:r>
              <a:rPr lang="en-US" sz="1200" i="1" dirty="0"/>
              <a:t>"</a:t>
            </a:r>
            <a:r>
              <a:rPr lang="en-US" sz="1200" dirty="0">
                <a:solidFill>
                  <a:srgbClr val="6B6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email, is it spam or not?"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43">
            <a:extLst>
              <a:ext uri="{FF2B5EF4-FFF2-40B4-BE49-F238E27FC236}">
                <a16:creationId xmlns:a16="http://schemas.microsoft.com/office/drawing/2014/main" id="{1BA92B2B-A7A2-FA43-6F9B-53699C3C690F}"/>
              </a:ext>
            </a:extLst>
          </p:cNvPr>
          <p:cNvSpPr/>
          <p:nvPr/>
        </p:nvSpPr>
        <p:spPr>
          <a:xfrm>
            <a:off x="8965088" y="3708936"/>
            <a:ext cx="3209544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9EAF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44">
            <a:extLst>
              <a:ext uri="{FF2B5EF4-FFF2-40B4-BE49-F238E27FC236}">
                <a16:creationId xmlns:a16="http://schemas.microsoft.com/office/drawing/2014/main" id="{14A2697C-FFB3-A73E-3752-451FB4D62013}"/>
              </a:ext>
            </a:extLst>
          </p:cNvPr>
          <p:cNvSpPr/>
          <p:nvPr/>
        </p:nvSpPr>
        <p:spPr>
          <a:xfrm>
            <a:off x="8965088" y="3708936"/>
            <a:ext cx="3209544" cy="45719"/>
          </a:xfrm>
          <a:prstGeom prst="roundRect">
            <a:avLst/>
          </a:prstGeom>
          <a:solidFill>
            <a:srgbClr val="E049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45">
            <a:extLst>
              <a:ext uri="{FF2B5EF4-FFF2-40B4-BE49-F238E27FC236}">
                <a16:creationId xmlns:a16="http://schemas.microsoft.com/office/drawing/2014/main" id="{B2DC44D0-88A1-2731-0922-7EF3A88E346F}"/>
              </a:ext>
            </a:extLst>
          </p:cNvPr>
          <p:cNvSpPr/>
          <p:nvPr/>
        </p:nvSpPr>
        <p:spPr>
          <a:xfrm>
            <a:off x="9138824" y="383695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9EAF2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>
            <a:extLst>
              <a:ext uri="{FF2B5EF4-FFF2-40B4-BE49-F238E27FC236}">
                <a16:creationId xmlns:a16="http://schemas.microsoft.com/office/drawing/2014/main" id="{3280907C-199F-E8B8-2437-A2E8086DC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186" y="3993314"/>
            <a:ext cx="345643" cy="345643"/>
          </a:xfrm>
          <a:prstGeom prst="rect">
            <a:avLst/>
          </a:prstGeom>
        </p:spPr>
      </p:pic>
      <p:sp>
        <p:nvSpPr>
          <p:cNvPr id="18" name="Text 46">
            <a:extLst>
              <a:ext uri="{FF2B5EF4-FFF2-40B4-BE49-F238E27FC236}">
                <a16:creationId xmlns:a16="http://schemas.microsoft.com/office/drawing/2014/main" id="{4D3DE8BD-2002-C327-A03C-D26D19E9F035}"/>
              </a:ext>
            </a:extLst>
          </p:cNvPr>
          <p:cNvSpPr/>
          <p:nvPr/>
        </p:nvSpPr>
        <p:spPr>
          <a:xfrm>
            <a:off x="9879487" y="3964968"/>
            <a:ext cx="22951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B1D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47">
            <a:extLst>
              <a:ext uri="{FF2B5EF4-FFF2-40B4-BE49-F238E27FC236}">
                <a16:creationId xmlns:a16="http://schemas.microsoft.com/office/drawing/2014/main" id="{195E2BCF-7B90-4B0D-AFDF-FCDBB3739CCD}"/>
              </a:ext>
            </a:extLst>
          </p:cNvPr>
          <p:cNvSpPr/>
          <p:nvPr/>
        </p:nvSpPr>
        <p:spPr>
          <a:xfrm>
            <a:off x="9001072" y="4627908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F8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Learns to generate data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lvl="0" indent="-342900">
              <a:spcAft>
                <a:spcPts val="900"/>
              </a:spcAft>
              <a:buSzPct val="100000"/>
              <a:buFontTx/>
              <a:buChar char="✦"/>
              <a:defRPr/>
            </a:pPr>
            <a:r>
              <a:rPr lang="en-US" sz="1200" dirty="0">
                <a:solidFill>
                  <a:srgbClr val="6B6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Output: Input → New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F8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Boundary: P(input, label) or P(input)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F8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 GANs, VAEs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lvl="0" indent="-342900">
              <a:spcAft>
                <a:spcPts val="900"/>
              </a:spcAft>
              <a:buSzPct val="100000"/>
              <a:buFontTx/>
              <a:buChar char="✦"/>
              <a:defRPr/>
            </a:pPr>
            <a:r>
              <a:rPr lang="en-US" sz="1200" dirty="0">
                <a:solidFill>
                  <a:srgbClr val="6B6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new email that looks like a real email."</a:t>
            </a:r>
          </a:p>
        </p:txBody>
      </p:sp>
      <p:sp>
        <p:nvSpPr>
          <p:cNvPr id="20" name="Shape 49">
            <a:extLst>
              <a:ext uri="{FF2B5EF4-FFF2-40B4-BE49-F238E27FC236}">
                <a16:creationId xmlns:a16="http://schemas.microsoft.com/office/drawing/2014/main" id="{1D06FD1C-C832-71D1-6BE9-0DADDA79905E}"/>
              </a:ext>
            </a:extLst>
          </p:cNvPr>
          <p:cNvSpPr/>
          <p:nvPr/>
        </p:nvSpPr>
        <p:spPr>
          <a:xfrm>
            <a:off x="8827928" y="5149116"/>
            <a:ext cx="137160" cy="0"/>
          </a:xfrm>
          <a:prstGeom prst="line">
            <a:avLst/>
          </a:prstGeom>
          <a:noFill/>
          <a:ln w="19050">
            <a:solidFill>
              <a:srgbClr val="C7CAD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41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F950-4592-C9CF-D463-8C412F32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4E1E05-C8C4-7497-F7C4-9BD87F4610C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- Capabilities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EB4AA0-FE9F-4A27-804E-1AA962E9F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2" y="722437"/>
            <a:ext cx="8938376" cy="5958918"/>
          </a:xfrm>
          <a:prstGeom prst="rect">
            <a:avLst/>
          </a:prstGeom>
        </p:spPr>
      </p:pic>
      <p:sp>
        <p:nvSpPr>
          <p:cNvPr id="5" name="Left Bracket 4">
            <a:extLst>
              <a:ext uri="{FF2B5EF4-FFF2-40B4-BE49-F238E27FC236}">
                <a16:creationId xmlns:a16="http://schemas.microsoft.com/office/drawing/2014/main" id="{88327872-F0E7-9E21-AC4E-8A581539EAA5}"/>
              </a:ext>
            </a:extLst>
          </p:cNvPr>
          <p:cNvSpPr/>
          <p:nvPr/>
        </p:nvSpPr>
        <p:spPr>
          <a:xfrm>
            <a:off x="91933" y="3028335"/>
            <a:ext cx="45719" cy="1396181"/>
          </a:xfrm>
          <a:prstGeom prst="leftBracket">
            <a:avLst/>
          </a:prstGeom>
          <a:ln w="28575"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DB242BBE-B6D0-BE2F-38CF-31D632A0D223}"/>
              </a:ext>
            </a:extLst>
          </p:cNvPr>
          <p:cNvSpPr/>
          <p:nvPr/>
        </p:nvSpPr>
        <p:spPr>
          <a:xfrm flipH="1">
            <a:off x="2010697" y="3028335"/>
            <a:ext cx="45719" cy="1396181"/>
          </a:xfrm>
          <a:prstGeom prst="leftBracket">
            <a:avLst/>
          </a:prstGeom>
          <a:ln w="28575"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5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E1F97-30AF-C743-BB86-ED4B845B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363D9C8-EC3D-0042-5856-D70E2AF7EB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II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088D97-5482-720E-0AF5-D1E0503CEAB7}"/>
              </a:ext>
            </a:extLst>
          </p:cNvPr>
          <p:cNvSpPr txBox="1"/>
          <p:nvPr/>
        </p:nvSpPr>
        <p:spPr>
          <a:xfrm>
            <a:off x="216385" y="1236590"/>
            <a:ext cx="864248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Foundations of Large Language Models (LLM)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Training and Scaling LLM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Prompt Engineering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Fine-Tuning and Model Adaptation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Retrieval-Augmented Generation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AI Agents and Agentic Systems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Multimodal LLM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Productionizing AI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6B08A-9610-33C1-BACB-4C03CD8E0D71}"/>
              </a:ext>
            </a:extLst>
          </p:cNvPr>
          <p:cNvSpPr txBox="1"/>
          <p:nvPr/>
        </p:nvSpPr>
        <p:spPr>
          <a:xfrm>
            <a:off x="0" y="622564"/>
            <a:ext cx="7275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Modules to be covered in Phase II</a:t>
            </a:r>
          </a:p>
        </p:txBody>
      </p:sp>
    </p:spTree>
    <p:extLst>
      <p:ext uri="{BB962C8B-B14F-4D97-AF65-F5344CB8AC3E}">
        <p14:creationId xmlns:p14="http://schemas.microsoft.com/office/powerpoint/2010/main" val="1649945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7DBF-CCC1-FE36-0D40-39694CDCD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833D1C5-A8C8-72C3-BF87-179EBA9D072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886D19-D7C8-22F8-0214-994BD0DD104C}"/>
              </a:ext>
            </a:extLst>
          </p:cNvPr>
          <p:cNvSpPr txBox="1"/>
          <p:nvPr/>
        </p:nvSpPr>
        <p:spPr>
          <a:xfrm>
            <a:off x="216384" y="825994"/>
            <a:ext cx="11489331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Module 1: Foundations of Large Language Models (LLM)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Section 1 (19/07/26): Evolution of Language Models 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• </a:t>
            </a:r>
            <a:r>
              <a:rPr lang="en-US" sz="2400" dirty="0"/>
              <a:t>AI Taxonomy </a:t>
            </a:r>
            <a:r>
              <a:rPr lang="en-IN" sz="2400" dirty="0"/>
              <a:t>• </a:t>
            </a:r>
            <a:r>
              <a:rPr lang="en-US" sz="2400" dirty="0"/>
              <a:t>Evolution of Language Models </a:t>
            </a:r>
            <a:r>
              <a:rPr lang="en-IN" sz="2400" dirty="0"/>
              <a:t>• </a:t>
            </a:r>
            <a:r>
              <a:rPr lang="en-US" sz="2400" dirty="0"/>
              <a:t>Statistical Language Models      </a:t>
            </a:r>
            <a:r>
              <a:rPr lang="en-IN" sz="2400" dirty="0"/>
              <a:t>• </a:t>
            </a:r>
            <a:r>
              <a:rPr lang="en-US" sz="2400" dirty="0"/>
              <a:t>Neural Language Models </a:t>
            </a:r>
            <a:r>
              <a:rPr lang="en-IN" sz="2400" dirty="0"/>
              <a:t>• </a:t>
            </a:r>
            <a:r>
              <a:rPr lang="en-US" sz="2400" dirty="0"/>
              <a:t>Large Language Models </a:t>
            </a:r>
            <a:r>
              <a:rPr lang="en-IN" sz="2400" dirty="0"/>
              <a:t>• </a:t>
            </a:r>
            <a:r>
              <a:rPr lang="en-US" sz="2400" dirty="0"/>
              <a:t>Market Trends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Section 2 (16/08/26): Transformers and Foundation Models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• Attention Mechanism • Transformer Architecture Overview • Tokenization • Embeddings • Positional Encoding • Self-Attention • Encoder vs Decoder Architectures • Foundation Models • Modern LLM Landscape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294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22669-5BEF-F3C8-4F4B-A0634165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F86E439-0CD8-68AE-9327-37EBFC3FF1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Plan for Module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630365-A3B6-F4D5-D52F-F891426BC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390769"/>
              </p:ext>
            </p:extLst>
          </p:nvPr>
        </p:nvGraphicFramePr>
        <p:xfrm>
          <a:off x="560302" y="1251880"/>
          <a:ext cx="11071395" cy="412851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89278">
                  <a:extLst>
                    <a:ext uri="{9D8B030D-6E8A-4147-A177-3AD203B41FA5}">
                      <a16:colId xmlns:a16="http://schemas.microsoft.com/office/drawing/2014/main" val="1053805739"/>
                    </a:ext>
                  </a:extLst>
                </a:gridCol>
                <a:gridCol w="8082117">
                  <a:extLst>
                    <a:ext uri="{9D8B030D-6E8A-4147-A177-3AD203B41FA5}">
                      <a16:colId xmlns:a16="http://schemas.microsoft.com/office/drawing/2014/main" val="1129184188"/>
                    </a:ext>
                  </a:extLst>
                </a:gridCol>
              </a:tblGrid>
              <a:tr h="3239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IN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sz="2000" b="1" u="none" strike="noStrike" kern="0" cap="none" spc="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PLAN</a:t>
                      </a:r>
                      <a:endParaRPr lang="en-IN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82134"/>
                  </a:ext>
                </a:extLst>
              </a:tr>
              <a:tr h="452907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19-07-2026</a:t>
                      </a:r>
                    </a:p>
                    <a:p>
                      <a:r>
                        <a:rPr lang="en-IN" sz="2000" dirty="0">
                          <a:solidFill>
                            <a:schemeClr val="tx1"/>
                          </a:solidFill>
                          <a:latin typeface="+mn-lt"/>
                        </a:rPr>
                        <a:t>(Sun)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Theory: Evolution of Language Models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Practical: Installation &amp; Setup complete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697967"/>
                  </a:ext>
                </a:extLst>
              </a:tr>
              <a:tr h="528218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16-08-2026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latin typeface="+mn-lt"/>
                        </a:rPr>
                        <a:t>(Sun)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Theory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Transformers and Foundation Models</a:t>
                      </a:r>
                      <a:endParaRPr kumimoji="0" lang="en-US" sz="20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Practical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Installation &amp; Setup complete,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NLP, Evolution of LLM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551530"/>
                  </a:ext>
                </a:extLst>
              </a:tr>
              <a:tr h="649823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22-08-2026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latin typeface="+mn-lt"/>
                        </a:rPr>
                        <a:t>(Sat)</a:t>
                      </a:r>
                    </a:p>
                    <a:p>
                      <a:endParaRPr lang="en-IN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Practical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: Explore Hugging Face Hub, Analyze Model Cards, Compare GPT-2/FLAN-T5/Llama Outputs, Experiment with Temperature/Top-K/Top-P, Prompt-Response Analysis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Practical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: Tokenization Experiments, BPE Token Visualization, Embedding Visualization, Attention Visualization, Comparing Encoder vs Decoder Models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65617"/>
                  </a:ext>
                </a:extLst>
              </a:tr>
              <a:tr h="960397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23-08-2026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latin typeface="+mn-lt"/>
                        </a:rPr>
                        <a:t>(Sun)</a:t>
                      </a:r>
                    </a:p>
                    <a:p>
                      <a:endParaRPr lang="en-IN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556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50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7101-3F06-961E-D85E-061521B7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F2CF6E88-2A73-9420-2504-71670238A0F7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BCAF66-163D-8BE2-2EF0-77565F8B9CC6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9F1ACAD-C35A-A5F3-2F24-9B6435D678DE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219993-B4DE-E86E-0237-2542159F0467}"/>
              </a:ext>
            </a:extLst>
          </p:cNvPr>
          <p:cNvSpPr/>
          <p:nvPr/>
        </p:nvSpPr>
        <p:spPr>
          <a:xfrm>
            <a:off x="609600" y="3048000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0C49581-809F-DB56-6971-FDD52C4702EC}"/>
              </a:ext>
            </a:extLst>
          </p:cNvPr>
          <p:cNvSpPr txBox="1"/>
          <p:nvPr/>
        </p:nvSpPr>
        <p:spPr>
          <a:xfrm>
            <a:off x="-1" y="3429000"/>
            <a:ext cx="12192000" cy="649857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/>
              <a:t>ection 1: Evolution of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24869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2BA24-50F4-994B-7FF4-C172B0B8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334F38A0-E80F-7BE7-0306-3DBEA64317E7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AC9ECC-100D-CDAB-0052-0814728B08DF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3828E04-EAC4-34B1-1E2E-AC5E68203F0A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64BA82E-4EA0-FFCC-5D99-1F4D7FDD112A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A0C71CB-9A87-1837-9395-2BA4D8A1DBF9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/>
              <a:t>ection 1: Evolution of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Part 1: Introduction to Language Model</a:t>
            </a:r>
          </a:p>
        </p:txBody>
      </p:sp>
    </p:spTree>
    <p:extLst>
      <p:ext uri="{BB962C8B-B14F-4D97-AF65-F5344CB8AC3E}">
        <p14:creationId xmlns:p14="http://schemas.microsoft.com/office/powerpoint/2010/main" val="3288832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8418-2CB9-549B-8159-FA903A54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451A-C181-AA28-839B-4BE2E80837B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Up the Stage for Language Models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28002-4E08-AE0E-1A53-A4C01E77AD9A}"/>
              </a:ext>
            </a:extLst>
          </p:cNvPr>
          <p:cNvSpPr txBox="1"/>
          <p:nvPr/>
        </p:nvSpPr>
        <p:spPr>
          <a:xfrm>
            <a:off x="0" y="593313"/>
            <a:ext cx="12192000" cy="6221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/>
              <a:t>What is Natural Language Processing (NLP)?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Branch of AI that enables computers to understand, analyze, generate, and process language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Works with both text and speech</a:t>
            </a:r>
          </a:p>
          <a:p>
            <a:pPr>
              <a:lnSpc>
                <a:spcPct val="150000"/>
              </a:lnSpc>
              <a:buNone/>
            </a:pPr>
            <a:endParaRPr lang="en-IN" sz="2400" dirty="0"/>
          </a:p>
          <a:p>
            <a:pPr>
              <a:lnSpc>
                <a:spcPct val="150000"/>
              </a:lnSpc>
              <a:buNone/>
            </a:pPr>
            <a:r>
              <a:rPr lang="en-IN" sz="2400" dirty="0"/>
              <a:t>Human languages are:</a:t>
            </a:r>
          </a:p>
          <a:p>
            <a:pPr lvl="2">
              <a:lnSpc>
                <a:spcPct val="150000"/>
              </a:lnSpc>
            </a:pPr>
            <a:r>
              <a:rPr lang="en-IN" sz="2400" dirty="0"/>
              <a:t>•  Ambiguous Context-dependent • Grammatically complex • Continuously evolving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goal of NLP: Bridge the gap between human communication and machine understanding</a:t>
            </a:r>
          </a:p>
          <a:p>
            <a:pPr>
              <a:lnSpc>
                <a:spcPct val="150000"/>
              </a:lnSpc>
              <a:buNone/>
            </a:pPr>
            <a:endParaRPr lang="en-IN" sz="2400" dirty="0"/>
          </a:p>
          <a:p>
            <a:pPr>
              <a:lnSpc>
                <a:spcPct val="150000"/>
              </a:lnSpc>
              <a:buNone/>
            </a:pPr>
            <a:r>
              <a:rPr lang="en-IN" sz="2400" dirty="0"/>
              <a:t>Eg: Google Translate,  Siri, Alexa, ChatGPT, Email spam detection, Grammar correction, Sentiment analysis, Search engines</a:t>
            </a:r>
          </a:p>
        </p:txBody>
      </p:sp>
    </p:spTree>
    <p:extLst>
      <p:ext uri="{BB962C8B-B14F-4D97-AF65-F5344CB8AC3E}">
        <p14:creationId xmlns:p14="http://schemas.microsoft.com/office/powerpoint/2010/main" val="2297955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Venn Diagram showing relationship between AI, ML, DL, NLP, Computer vision">
            <a:extLst>
              <a:ext uri="{FF2B5EF4-FFF2-40B4-BE49-F238E27FC236}">
                <a16:creationId xmlns:a16="http://schemas.microsoft.com/office/drawing/2014/main" id="{311B81CA-6305-FF27-F94B-BE09A962B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972" y="704123"/>
            <a:ext cx="7078689" cy="573879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EB5041E-3D7F-BD61-67BA-7F6E3125BD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Language Processing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775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451C-CCBA-A7DF-4113-787382B0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91DC-3695-4F60-96A3-2BFD6E2637B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of NLP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82CC6-8FD1-F350-15F1-FD542BF8499F}"/>
              </a:ext>
            </a:extLst>
          </p:cNvPr>
          <p:cNvSpPr txBox="1"/>
          <p:nvPr/>
        </p:nvSpPr>
        <p:spPr>
          <a:xfrm>
            <a:off x="0" y="593313"/>
            <a:ext cx="1193373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It consists of two major components: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Natural Language Understanding (NLU):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enabling a computer to </a:t>
            </a:r>
            <a:r>
              <a:rPr lang="en-IN" sz="2400" b="1" dirty="0"/>
              <a:t>interpret, </a:t>
            </a:r>
            <a:r>
              <a:rPr lang="en-IN" sz="2400" dirty="0"/>
              <a:t>comprehend, and extract meaning from language.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Natural Language Generation (NLG)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enabling a computer to </a:t>
            </a:r>
            <a:r>
              <a:rPr lang="en-IN" sz="2400" b="1" dirty="0"/>
              <a:t>produce </a:t>
            </a:r>
            <a:r>
              <a:rPr lang="en-IN" sz="2400" dirty="0"/>
              <a:t>meaningful, and appropriate human language.</a:t>
            </a:r>
          </a:p>
          <a:p>
            <a:pPr algn="just"/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E98998-A64C-8E07-81DF-9897155A2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02" y="3327896"/>
            <a:ext cx="68580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6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ED32-4828-D7D8-0C17-A6AD37C7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2535-42EB-9D3D-31B6-028EA0749D5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Language Understanding</a:t>
            </a:r>
          </a:p>
          <a:p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F77950-6E23-3E74-8ECD-FD92C9758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476430"/>
              </p:ext>
            </p:extLst>
          </p:nvPr>
        </p:nvGraphicFramePr>
        <p:xfrm>
          <a:off x="7138370" y="1084664"/>
          <a:ext cx="5053630" cy="5212080"/>
        </p:xfrm>
        <a:graphic>
          <a:graphicData uri="http://schemas.openxmlformats.org/drawingml/2006/table">
            <a:tbl>
              <a:tblPr/>
              <a:tblGrid>
                <a:gridCol w="1924761">
                  <a:extLst>
                    <a:ext uri="{9D8B030D-6E8A-4147-A177-3AD203B41FA5}">
                      <a16:colId xmlns:a16="http://schemas.microsoft.com/office/drawing/2014/main" val="27776227"/>
                    </a:ext>
                  </a:extLst>
                </a:gridCol>
                <a:gridCol w="3128869">
                  <a:extLst>
                    <a:ext uri="{9D8B030D-6E8A-4147-A177-3AD203B41FA5}">
                      <a16:colId xmlns:a16="http://schemas.microsoft.com/office/drawing/2014/main" val="4048750740"/>
                    </a:ext>
                  </a:extLst>
                </a:gridCol>
              </a:tblGrid>
              <a:tr h="353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922968"/>
                  </a:ext>
                </a:extLst>
              </a:tr>
              <a:tr h="353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Part-of-Speech Tagging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Identify nouns, verbs, adjectives,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82719"/>
                  </a:ext>
                </a:extLst>
              </a:tr>
              <a:tr h="619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Named Entity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 people, locations, organizations, 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792007"/>
                  </a:ext>
                </a:extLst>
              </a:tr>
              <a:tr h="353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Intent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the user's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909769"/>
                  </a:ext>
                </a:extLst>
              </a:tr>
              <a:tr h="353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Sentiment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Positive, negative, or neutral sentiment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85114"/>
                  </a:ext>
                </a:extLst>
              </a:tr>
              <a:tr h="353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Topic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Categorize text into predefined topics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798771"/>
                  </a:ext>
                </a:extLst>
              </a:tr>
              <a:tr h="619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Semantic Parsing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Convert language into structured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582308"/>
                  </a:ext>
                </a:extLst>
              </a:tr>
              <a:tr h="619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Question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Interpret questions accurately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227660"/>
                  </a:ext>
                </a:extLst>
              </a:tr>
              <a:tr h="353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Identify relationships between entities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0173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57B64E-F648-9EBF-1EB3-74128DC0BF1D}"/>
              </a:ext>
            </a:extLst>
          </p:cNvPr>
          <p:cNvSpPr txBox="1"/>
          <p:nvPr/>
        </p:nvSpPr>
        <p:spPr>
          <a:xfrm>
            <a:off x="0" y="495592"/>
            <a:ext cx="7024361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dirty="0"/>
              <a:t>NLU enables a machine to extract information such as: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Intent</a:t>
            </a:r>
            <a:r>
              <a:rPr lang="en-IN" sz="2400" dirty="0"/>
              <a:t> – What does the user want?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Entities</a:t>
            </a:r>
            <a:r>
              <a:rPr lang="en-IN" sz="2400" dirty="0"/>
              <a:t> – Who, what, where, and when?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Context</a:t>
            </a:r>
            <a:r>
              <a:rPr lang="en-IN" sz="2400" dirty="0"/>
              <a:t> – What is the conversation about?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Sentiment</a:t>
            </a:r>
            <a:r>
              <a:rPr lang="en-IN" sz="2400" dirty="0"/>
              <a:t> – Is the text positive/negative/neutral?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Relationships</a:t>
            </a:r>
            <a:r>
              <a:rPr lang="en-IN" sz="2400" dirty="0"/>
              <a:t> – How are words connected?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41712-B07E-8DD3-D9C3-1980F39E398C}"/>
              </a:ext>
            </a:extLst>
          </p:cNvPr>
          <p:cNvSpPr txBox="1"/>
          <p:nvPr/>
        </p:nvSpPr>
        <p:spPr>
          <a:xfrm>
            <a:off x="7080202" y="610014"/>
            <a:ext cx="1868354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Common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DEBAF-5E0D-7552-FEFC-D7028554D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11" r="3198" b="9333"/>
          <a:stretch>
            <a:fillRect/>
          </a:stretch>
        </p:blipFill>
        <p:spPr>
          <a:xfrm>
            <a:off x="1045161" y="3854653"/>
            <a:ext cx="4557382" cy="25973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42878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FCB44-DB36-9C21-2304-B4CC371F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0D33-7EC2-7943-F25C-AD3082A788D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Language Generation</a:t>
            </a:r>
          </a:p>
          <a:p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662E42-0775-FCA0-958F-02B6A86B2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097949"/>
              </p:ext>
            </p:extLst>
          </p:nvPr>
        </p:nvGraphicFramePr>
        <p:xfrm>
          <a:off x="7144186" y="963262"/>
          <a:ext cx="4927989" cy="5703918"/>
        </p:xfrm>
        <a:graphic>
          <a:graphicData uri="http://schemas.openxmlformats.org/drawingml/2006/table">
            <a:tbl>
              <a:tblPr/>
              <a:tblGrid>
                <a:gridCol w="1932393">
                  <a:extLst>
                    <a:ext uri="{9D8B030D-6E8A-4147-A177-3AD203B41FA5}">
                      <a16:colId xmlns:a16="http://schemas.microsoft.com/office/drawing/2014/main" val="103017403"/>
                    </a:ext>
                  </a:extLst>
                </a:gridCol>
                <a:gridCol w="2995596">
                  <a:extLst>
                    <a:ext uri="{9D8B030D-6E8A-4147-A177-3AD203B41FA5}">
                      <a16:colId xmlns:a16="http://schemas.microsoft.com/office/drawing/2014/main" val="2766029852"/>
                    </a:ext>
                  </a:extLst>
                </a:gridCol>
              </a:tblGrid>
              <a:tr h="297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45701"/>
                  </a:ext>
                </a:extLst>
              </a:tr>
              <a:tr h="49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Produce sentences or paragraphs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574140"/>
                  </a:ext>
                </a:extLst>
              </a:tr>
              <a:tr h="49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Translation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Translate between languages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67154"/>
                  </a:ext>
                </a:extLst>
              </a:tr>
              <a:tr h="49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 concise summaries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296043"/>
                  </a:ext>
                </a:extLst>
              </a:tr>
              <a:tr h="49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Question Answering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answers to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485171"/>
                  </a:ext>
                </a:extLst>
              </a:tr>
              <a:tr h="49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Dialogue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Produce conversational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4029"/>
                  </a:ext>
                </a:extLst>
              </a:tr>
              <a:tr h="49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Story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Write stories or narratives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67919"/>
                  </a:ext>
                </a:extLst>
              </a:tr>
              <a:tr h="52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Report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 structured data into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812304"/>
                  </a:ext>
                </a:extLst>
              </a:tr>
              <a:tr h="49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Generate programming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79719"/>
                  </a:ext>
                </a:extLst>
              </a:tr>
              <a:tr h="499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 Drafting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Compose professional emails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291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3661FE-E51C-612C-947F-D621BF0CBDD6}"/>
              </a:ext>
            </a:extLst>
          </p:cNvPr>
          <p:cNvSpPr txBox="1"/>
          <p:nvPr/>
        </p:nvSpPr>
        <p:spPr>
          <a:xfrm>
            <a:off x="7080202" y="495592"/>
            <a:ext cx="1868354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Common Tasks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73668-4335-9734-99F0-B2753B2909D2}"/>
              </a:ext>
            </a:extLst>
          </p:cNvPr>
          <p:cNvSpPr txBox="1"/>
          <p:nvPr/>
        </p:nvSpPr>
        <p:spPr>
          <a:xfrm>
            <a:off x="0" y="393992"/>
            <a:ext cx="7024361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NLG enables a machine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Generate</a:t>
            </a:r>
            <a:r>
              <a:rPr lang="en-IN" sz="2400" dirty="0"/>
              <a:t> natural, human-like text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Answer</a:t>
            </a:r>
            <a:r>
              <a:rPr lang="en-IN" sz="2400" dirty="0"/>
              <a:t> user questions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Summarize</a:t>
            </a:r>
            <a:r>
              <a:rPr lang="en-IN" sz="2400" dirty="0"/>
              <a:t> long documents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Translate</a:t>
            </a:r>
            <a:r>
              <a:rPr lang="en-IN" sz="2400" dirty="0"/>
              <a:t> between languages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1550A-BECB-EBD7-85C9-D54CC24B62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57" b="6912"/>
          <a:stretch>
            <a:fillRect/>
          </a:stretch>
        </p:blipFill>
        <p:spPr>
          <a:xfrm>
            <a:off x="289296" y="3304170"/>
            <a:ext cx="6121336" cy="31598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0433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94DF-2E29-CDC7-9896-A463FD8E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8B69-DB16-8C43-06D4-E538B8FE051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Models in NLP?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8895A-D80B-6BE3-94DE-8446E16D9FC7}"/>
              </a:ext>
            </a:extLst>
          </p:cNvPr>
          <p:cNvSpPr txBox="1"/>
          <p:nvPr/>
        </p:nvSpPr>
        <p:spPr>
          <a:xfrm>
            <a:off x="0" y="465667"/>
            <a:ext cx="12192000" cy="727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Can we develop models for language understanding and generation?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9B9B25C5-AB45-23B6-C777-D0A5C8860FA9}"/>
              </a:ext>
            </a:extLst>
          </p:cNvPr>
          <p:cNvSpPr/>
          <p:nvPr/>
        </p:nvSpPr>
        <p:spPr>
          <a:xfrm>
            <a:off x="3555343" y="1904711"/>
            <a:ext cx="4434840" cy="2880360"/>
          </a:xfrm>
          <a:prstGeom prst="roundRect">
            <a:avLst>
              <a:gd name="adj" fmla="val 5714"/>
            </a:avLst>
          </a:prstGeom>
          <a:solidFill>
            <a:srgbClr val="3169E0">
              <a:alpha val="6000"/>
            </a:srgbClr>
          </a:solidFill>
          <a:ln w="19050">
            <a:solidFill>
              <a:srgbClr val="316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01A08D7-0C6E-2DC8-AC29-83EEDA9CC734}"/>
              </a:ext>
            </a:extLst>
          </p:cNvPr>
          <p:cNvSpPr/>
          <p:nvPr/>
        </p:nvSpPr>
        <p:spPr>
          <a:xfrm>
            <a:off x="3739057" y="2005295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3169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9EE03E0-5220-E69A-5526-9E911D65B0B9}"/>
              </a:ext>
            </a:extLst>
          </p:cNvPr>
          <p:cNvSpPr/>
          <p:nvPr/>
        </p:nvSpPr>
        <p:spPr>
          <a:xfrm>
            <a:off x="3852523" y="2247611"/>
            <a:ext cx="2468880" cy="2468880"/>
          </a:xfrm>
          <a:prstGeom prst="ellipse">
            <a:avLst/>
          </a:prstGeom>
          <a:solidFill>
            <a:srgbClr val="17A9D6">
              <a:alpha val="22000"/>
            </a:srgbClr>
          </a:solidFill>
          <a:ln w="19050">
            <a:solidFill>
              <a:srgbClr val="17A9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E747525-2282-2BA3-4688-857872203788}"/>
              </a:ext>
            </a:extLst>
          </p:cNvPr>
          <p:cNvSpPr/>
          <p:nvPr/>
        </p:nvSpPr>
        <p:spPr>
          <a:xfrm>
            <a:off x="5224123" y="2247611"/>
            <a:ext cx="2468880" cy="2468880"/>
          </a:xfrm>
          <a:prstGeom prst="ellipse">
            <a:avLst/>
          </a:prstGeom>
          <a:solidFill>
            <a:srgbClr val="E0498A">
              <a:alpha val="22000"/>
            </a:srgbClr>
          </a:solidFill>
          <a:ln w="19050">
            <a:solidFill>
              <a:srgbClr val="E04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64164E0-55DA-96C1-5FB1-FD49E01D59DA}"/>
              </a:ext>
            </a:extLst>
          </p:cNvPr>
          <p:cNvSpPr/>
          <p:nvPr/>
        </p:nvSpPr>
        <p:spPr>
          <a:xfrm>
            <a:off x="3739057" y="2549363"/>
            <a:ext cx="14196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A9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NLU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67DA90D-A5AF-C31D-E8F8-BBE093839FAF}"/>
              </a:ext>
            </a:extLst>
          </p:cNvPr>
          <p:cNvSpPr/>
          <p:nvPr/>
        </p:nvSpPr>
        <p:spPr>
          <a:xfrm>
            <a:off x="3739057" y="2860259"/>
            <a:ext cx="1419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1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0CDFF61-B7AF-55A6-D1F2-31648530EFC4}"/>
              </a:ext>
            </a:extLst>
          </p:cNvPr>
          <p:cNvSpPr/>
          <p:nvPr/>
        </p:nvSpPr>
        <p:spPr>
          <a:xfrm>
            <a:off x="6406819" y="2549363"/>
            <a:ext cx="14196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04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NLG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2026AC7-442C-8E90-35A9-68146B6864CE}"/>
              </a:ext>
            </a:extLst>
          </p:cNvPr>
          <p:cNvSpPr/>
          <p:nvPr/>
        </p:nvSpPr>
        <p:spPr>
          <a:xfrm>
            <a:off x="6406819" y="2860259"/>
            <a:ext cx="1419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1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B5738D29-8741-E4E1-4552-40631A517B06}"/>
              </a:ext>
            </a:extLst>
          </p:cNvPr>
          <p:cNvSpPr/>
          <p:nvPr/>
        </p:nvSpPr>
        <p:spPr>
          <a:xfrm>
            <a:off x="5269843" y="2979131"/>
            <a:ext cx="1005840" cy="1005840"/>
          </a:xfrm>
          <a:prstGeom prst="ellipse">
            <a:avLst/>
          </a:prstGeom>
          <a:solidFill>
            <a:srgbClr val="8B4FD9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30B6EA49-EAEF-3C6F-8FBC-19A8C840CC8A}"/>
              </a:ext>
            </a:extLst>
          </p:cNvPr>
          <p:cNvSpPr/>
          <p:nvPr/>
        </p:nvSpPr>
        <p:spPr>
          <a:xfrm>
            <a:off x="5269843" y="3326603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8804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F9D3-3661-AD69-9583-301E204E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5C31-2E11-F9C0-09AC-3DA7C06B7F5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Language Model?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9B55F-43AC-0C37-8AE6-5EA31E233776}"/>
              </a:ext>
            </a:extLst>
          </p:cNvPr>
          <p:cNvSpPr txBox="1"/>
          <p:nvPr/>
        </p:nvSpPr>
        <p:spPr>
          <a:xfrm>
            <a:off x="0" y="465667"/>
            <a:ext cx="12192000" cy="589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A </a:t>
            </a:r>
            <a:r>
              <a:rPr lang="en-IN" sz="2400" b="1" dirty="0"/>
              <a:t>Language Model (LM)</a:t>
            </a:r>
            <a:r>
              <a:rPr lang="en-IN" sz="2400" dirty="0"/>
              <a:t>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Model that learns the </a:t>
            </a:r>
            <a:r>
              <a:rPr lang="en-IN" sz="2400" b="1" dirty="0"/>
              <a:t>patterns, structure, and relationships</a:t>
            </a:r>
            <a:r>
              <a:rPr lang="en-IN" sz="2400" dirty="0"/>
              <a:t> of human language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Model that can help </a:t>
            </a:r>
            <a:r>
              <a:rPr lang="en-IN" sz="2400" b="1" dirty="0"/>
              <a:t>predict, understand, and generate natural language</a:t>
            </a:r>
            <a:r>
              <a:rPr lang="en-IN" sz="2400" dirty="0"/>
              <a:t>.</a:t>
            </a:r>
          </a:p>
          <a:p>
            <a:pPr>
              <a:lnSpc>
                <a:spcPct val="200000"/>
              </a:lnSpc>
            </a:pPr>
            <a:r>
              <a:rPr lang="en-IN" sz="2400" b="1" dirty="0"/>
              <a:t>Key Characteristics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Learns from large text corpora.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Captures grammar, context, and meaning.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Estimates the likelihood of the next word or piece of text.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30777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0606-7892-302C-E067-1A2D8410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05CD-344F-92C1-F1C8-EB49792B35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Capabilities of Language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D0754-55FA-F978-8B6C-E250C57B3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37" y="815876"/>
            <a:ext cx="11833126" cy="556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9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271B-BC7B-EBBE-4BBF-858058EA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B5C7DED5-4F2B-40E3-F86F-D792FAFCCD92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CA1C0A4-D22B-2782-CF48-86A122302D09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CCBF2F-A534-4E8F-4AC9-57226F2F70E1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E2D9371-6739-1E66-DC20-A7028F547CBD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CDC1319-523E-A212-03EC-6A2F69429590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/>
              <a:t>ection 1: Evolution of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Part 2: Evolution of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461279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A2C6-32BC-43C6-545F-50E52806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5E9CEB5-D99E-5FCE-BEB7-159CED2F9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7" y="789489"/>
            <a:ext cx="12132826" cy="560284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19F89F7-BE80-1740-0629-B9EC604D83C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- Timelines</a:t>
            </a:r>
          </a:p>
        </p:txBody>
      </p:sp>
    </p:spTree>
    <p:extLst>
      <p:ext uri="{BB962C8B-B14F-4D97-AF65-F5344CB8AC3E}">
        <p14:creationId xmlns:p14="http://schemas.microsoft.com/office/powerpoint/2010/main" val="3470662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F30EA-F63E-DD7A-F9CD-B65CFE8F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4546-34CA-B2B4-00A2-6F1443C2E88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of Language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94271-7EB8-57E3-76ED-07ED4B7E7346}"/>
              </a:ext>
            </a:extLst>
          </p:cNvPr>
          <p:cNvSpPr txBox="1"/>
          <p:nvPr/>
        </p:nvSpPr>
        <p:spPr>
          <a:xfrm>
            <a:off x="0" y="491714"/>
            <a:ext cx="12192000" cy="520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/>
              <a:t>Rule-Based Language Models</a:t>
            </a:r>
            <a:r>
              <a:rPr lang="en-IN" sz="2400" dirty="0"/>
              <a:t> 							</a:t>
            </a:r>
            <a:r>
              <a:rPr lang="en-IN" sz="2400" dirty="0">
                <a:solidFill>
                  <a:srgbClr val="FF0000"/>
                </a:solidFill>
              </a:rPr>
              <a:t>(1950s–1980s)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Handcrafted grammar rules, Dictionaries and linguistic knowledge </a:t>
            </a:r>
          </a:p>
          <a:p>
            <a:pPr>
              <a:lnSpc>
                <a:spcPct val="200000"/>
              </a:lnSpc>
            </a:pPr>
            <a:r>
              <a:rPr lang="en-IN" sz="2400" b="1" dirty="0"/>
              <a:t>Statistical Language Models</a:t>
            </a:r>
            <a:r>
              <a:rPr lang="en-IN" sz="2400" dirty="0"/>
              <a:t> 								</a:t>
            </a:r>
            <a:r>
              <a:rPr lang="en-IN" sz="2400" dirty="0">
                <a:solidFill>
                  <a:srgbClr val="FF0000"/>
                </a:solidFill>
              </a:rPr>
              <a:t>(1990s–2010)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N-grams, Hidden Markov Models (HMMs), Probabilistic approaches </a:t>
            </a:r>
          </a:p>
          <a:p>
            <a:pPr>
              <a:lnSpc>
                <a:spcPct val="200000"/>
              </a:lnSpc>
            </a:pPr>
            <a:r>
              <a:rPr lang="en-IN" sz="2400" b="1" dirty="0"/>
              <a:t>Neural Language Models</a:t>
            </a:r>
            <a:r>
              <a:rPr lang="en-IN" sz="2400" dirty="0"/>
              <a:t> 							               </a:t>
            </a:r>
            <a:r>
              <a:rPr lang="en-IN" sz="2400" dirty="0">
                <a:solidFill>
                  <a:srgbClr val="FF0000"/>
                </a:solidFill>
              </a:rPr>
              <a:t>(2010–2016) 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Feedforward Neural Networks, RNN, LSTM / GRU, Sequence-to-Sequence Models </a:t>
            </a:r>
          </a:p>
          <a:p>
            <a:pPr>
              <a:lnSpc>
                <a:spcPct val="20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Large Language Models </a:t>
            </a:r>
            <a:r>
              <a:rPr lang="en-IN" sz="2400" dirty="0"/>
              <a:t>						                          </a:t>
            </a:r>
            <a:r>
              <a:rPr lang="en-IN" sz="2400" dirty="0">
                <a:solidFill>
                  <a:srgbClr val="FF0000"/>
                </a:solidFill>
              </a:rPr>
              <a:t>(2017–Present)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GPT, Llama, Gemini, Claude, Qwen, DeepSeek, etc.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4809B2-3166-8AF8-24CF-D8B8799C9F1F}"/>
              </a:ext>
            </a:extLst>
          </p:cNvPr>
          <p:cNvCxnSpPr>
            <a:cxnSpLocks/>
          </p:cNvCxnSpPr>
          <p:nvPr/>
        </p:nvCxnSpPr>
        <p:spPr>
          <a:xfrm>
            <a:off x="11032067" y="1261533"/>
            <a:ext cx="0" cy="635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9B0978-1634-2030-F1B1-69DED33078EF}"/>
              </a:ext>
            </a:extLst>
          </p:cNvPr>
          <p:cNvCxnSpPr>
            <a:cxnSpLocks/>
          </p:cNvCxnSpPr>
          <p:nvPr/>
        </p:nvCxnSpPr>
        <p:spPr>
          <a:xfrm>
            <a:off x="11032067" y="2565400"/>
            <a:ext cx="0" cy="5672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E8606C-F15F-B80D-7FE2-3395F543B8FE}"/>
              </a:ext>
            </a:extLst>
          </p:cNvPr>
          <p:cNvCxnSpPr>
            <a:cxnSpLocks/>
          </p:cNvCxnSpPr>
          <p:nvPr/>
        </p:nvCxnSpPr>
        <p:spPr>
          <a:xfrm>
            <a:off x="11032067" y="3843866"/>
            <a:ext cx="0" cy="6434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E81A3D-B4D9-000A-07F0-3C6528A5DF48}"/>
              </a:ext>
            </a:extLst>
          </p:cNvPr>
          <p:cNvSpPr txBox="1"/>
          <p:nvPr/>
        </p:nvSpPr>
        <p:spPr>
          <a:xfrm>
            <a:off x="0" y="6484833"/>
            <a:ext cx="113707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RNN – Recurrent Neural Networks, LSTM  - Long Short Term Memory, GRU – Gated Recurrent unit, GPT- Generative Pretrained Transformer</a:t>
            </a:r>
          </a:p>
        </p:txBody>
      </p:sp>
    </p:spTree>
    <p:extLst>
      <p:ext uri="{BB962C8B-B14F-4D97-AF65-F5344CB8AC3E}">
        <p14:creationId xmlns:p14="http://schemas.microsoft.com/office/powerpoint/2010/main" val="2866431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B1FC-C7E2-83E4-FF0A-504EA02B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2557-200D-D174-07D3-B5B032A9DD4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Rule-Based Language Models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90454-6E82-8408-1472-8FB21A8D7C6F}"/>
              </a:ext>
            </a:extLst>
          </p:cNvPr>
          <p:cNvSpPr txBox="1"/>
          <p:nvPr/>
        </p:nvSpPr>
        <p:spPr>
          <a:xfrm>
            <a:off x="0" y="491714"/>
            <a:ext cx="12192000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Relied on </a:t>
            </a:r>
            <a:r>
              <a:rPr lang="en-IN" sz="2400" b="1" dirty="0"/>
              <a:t>explicitly defined linguistic rules</a:t>
            </a:r>
            <a:r>
              <a:rPr lang="en-IN" sz="2400" dirty="0"/>
              <a:t> and </a:t>
            </a:r>
            <a:r>
              <a:rPr lang="en-IN" sz="2400" b="1" dirty="0"/>
              <a:t>symbolic knowledge representations</a:t>
            </a:r>
            <a:r>
              <a:rPr lang="en-IN" sz="2400" dirty="0"/>
              <a:t> to process and understand human language</a:t>
            </a:r>
            <a:endParaRPr lang="en-IN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ED45F-1FBA-A689-5944-7AB7A976E88D}"/>
              </a:ext>
            </a:extLst>
          </p:cNvPr>
          <p:cNvSpPr txBox="1"/>
          <p:nvPr/>
        </p:nvSpPr>
        <p:spPr>
          <a:xfrm>
            <a:off x="67733" y="5063066"/>
            <a:ext cx="9152467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ELIZA (1966)</a:t>
            </a:r>
            <a:r>
              <a:rPr lang="en-IN" sz="2000" dirty="0"/>
              <a:t> – Pattern-matching conversational system.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SHRDLU (1970)</a:t>
            </a:r>
            <a:r>
              <a:rPr lang="en-IN" sz="2000" dirty="0"/>
              <a:t> – Natural language understanding in a constrained "blocks world."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C6E5E8-3C68-AFDE-4DBB-3DD26D31D51F}"/>
              </a:ext>
            </a:extLst>
          </p:cNvPr>
          <p:cNvSpPr txBox="1"/>
          <p:nvPr/>
        </p:nvSpPr>
        <p:spPr>
          <a:xfrm>
            <a:off x="0" y="1606366"/>
            <a:ext cx="789940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Key Characteristics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Grammar and syntax encoded using </a:t>
            </a:r>
            <a:r>
              <a:rPr lang="en-IN" sz="2400" b="1" dirty="0"/>
              <a:t>if–then rules</a:t>
            </a:r>
            <a:r>
              <a:rPr lang="en-IN" sz="2400" dirty="0"/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Relied on </a:t>
            </a:r>
            <a:r>
              <a:rPr lang="en-IN" sz="2400" b="1" dirty="0"/>
              <a:t>lexicons (dictionaries)</a:t>
            </a:r>
            <a:r>
              <a:rPr lang="en-IN" sz="2400" dirty="0"/>
              <a:t> containing words and their linguistic properties.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Deterministic behaviour—identical input always produced identical output.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473AA7-C702-9749-15DB-B290AD3CB3AC}"/>
              </a:ext>
            </a:extLst>
          </p:cNvPr>
          <p:cNvSpPr txBox="1"/>
          <p:nvPr/>
        </p:nvSpPr>
        <p:spPr>
          <a:xfrm>
            <a:off x="8036983" y="2284443"/>
            <a:ext cx="4017434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ELIZA Example </a:t>
            </a:r>
          </a:p>
          <a:p>
            <a:pPr>
              <a:buNone/>
            </a:pPr>
            <a:r>
              <a:rPr lang="en-IN" b="1" dirty="0"/>
              <a:t>User:</a:t>
            </a:r>
            <a:endParaRPr lang="en-IN" dirty="0"/>
          </a:p>
          <a:p>
            <a:pPr>
              <a:buNone/>
            </a:pPr>
            <a:r>
              <a:rPr lang="en-IN" dirty="0"/>
              <a:t>I feel sad.</a:t>
            </a:r>
          </a:p>
          <a:p>
            <a:pPr>
              <a:buNone/>
            </a:pPr>
            <a:r>
              <a:rPr lang="en-IN" b="1" dirty="0"/>
              <a:t>Rule:</a:t>
            </a:r>
            <a:endParaRPr lang="en-IN" dirty="0"/>
          </a:p>
          <a:p>
            <a:pPr rtl="0">
              <a:buNone/>
            </a:pP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IF</a:t>
            </a:r>
            <a:r>
              <a:rPr lang="en-IN" dirty="0">
                <a:latin typeface="Courier New" panose="02070309020205020404" pitchFamily="49" charset="0"/>
              </a:rPr>
              <a:t> input contains "I feel X"</a:t>
            </a:r>
          </a:p>
          <a:p>
            <a:pPr rtl="0">
              <a:buNone/>
            </a:pPr>
            <a:r>
              <a:rPr lang="en-IN" dirty="0">
                <a:solidFill>
                  <a:srgbClr val="FF0000"/>
                </a:solidFill>
                <a:latin typeface="Courier New" panose="02070309020205020404" pitchFamily="49" charset="0"/>
              </a:rPr>
              <a:t>THEN</a:t>
            </a:r>
            <a:r>
              <a:rPr lang="en-IN" dirty="0">
                <a:latin typeface="Courier New" panose="02070309020205020404" pitchFamily="49" charset="0"/>
              </a:rPr>
              <a:t> respond: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"Why do you feel X?"</a:t>
            </a:r>
          </a:p>
          <a:p>
            <a:pPr>
              <a:buNone/>
            </a:pPr>
            <a:r>
              <a:rPr lang="en-IN" b="1" dirty="0"/>
              <a:t>Output:</a:t>
            </a:r>
            <a:endParaRPr lang="en-IN" dirty="0"/>
          </a:p>
          <a:p>
            <a:pPr>
              <a:buNone/>
            </a:pPr>
            <a:r>
              <a:rPr lang="en-IN" dirty="0"/>
              <a:t>Why do you feel sad?</a:t>
            </a:r>
          </a:p>
        </p:txBody>
      </p:sp>
    </p:spTree>
    <p:extLst>
      <p:ext uri="{BB962C8B-B14F-4D97-AF65-F5344CB8AC3E}">
        <p14:creationId xmlns:p14="http://schemas.microsoft.com/office/powerpoint/2010/main" val="2339579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E4E0-B004-48D6-CCC9-A2881184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9D71DE-8238-A79E-E3E5-3126CAE0E47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Language Models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32CA06-7143-81E7-FF6D-5EB18DCBA664}"/>
              </a:ext>
            </a:extLst>
          </p:cNvPr>
          <p:cNvSpPr txBox="1"/>
          <p:nvPr/>
        </p:nvSpPr>
        <p:spPr>
          <a:xfrm>
            <a:off x="137651" y="839437"/>
            <a:ext cx="12054349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3200" dirty="0">
                <a:sym typeface="Nunito Sans"/>
              </a:rPr>
              <a:t>A language model estimates the probability of any sequence of words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Ø"/>
              <a:defRPr/>
            </a:pPr>
            <a:endParaRPr lang="en-US" sz="3200" dirty="0">
              <a:sym typeface="Nunito Sans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3200" dirty="0">
                <a:sym typeface="Nunito Sans"/>
              </a:rPr>
              <a:t> Assign probabilities to sequence of words</a:t>
            </a:r>
          </a:p>
          <a:p>
            <a:pPr lvl="1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3200" dirty="0">
                <a:sym typeface="Nunito Sans"/>
              </a:rPr>
              <a:t> count word sequences in a corpus and turns counts to probabilities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3200" dirty="0">
                <a:sym typeface="Nunito Sans"/>
              </a:rPr>
              <a:t> trained on counts computed from lots of text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3200" dirty="0">
                <a:sym typeface="Nunito Sans"/>
              </a:rPr>
              <a:t> generate text by sampling possible next words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Ø"/>
              <a:defRPr/>
            </a:pPr>
            <a:endParaRPr lang="en-US" sz="2400" dirty="0"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3549006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14B6-90C7-1456-78CC-54F4A964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182E1EB9-3F09-00B7-6851-80409934D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94" y="1901132"/>
            <a:ext cx="12000706" cy="114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Condition each word on its immediate ‘n’ predecessor (look at ‘n’ previous words or window size of 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941BA-7A9F-4321-23CA-DB6E8C41E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61" y="3672986"/>
            <a:ext cx="6998815" cy="1213209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866F5BFD-8AC0-2F34-03E5-8E193CC60AA3}"/>
              </a:ext>
            </a:extLst>
          </p:cNvPr>
          <p:cNvSpPr/>
          <p:nvPr/>
        </p:nvSpPr>
        <p:spPr>
          <a:xfrm rot="16200000">
            <a:off x="6089128" y="3836157"/>
            <a:ext cx="508000" cy="1767413"/>
          </a:xfrm>
          <a:prstGeom prst="leftBrace">
            <a:avLst>
              <a:gd name="adj1" fmla="val 0"/>
              <a:gd name="adj2" fmla="val 48576"/>
            </a:avLst>
          </a:prstGeom>
          <a:ln w="50800" cap="flat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61BAE0-57A5-C6D5-4EDD-6AA23BE2C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272" y="4988832"/>
            <a:ext cx="6998815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likelihood of any event occurring hinges upon all prior events occurring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CBF4C70-3174-D4BC-2CFE-630776AEA3DA}"/>
              </a:ext>
            </a:extLst>
          </p:cNvPr>
          <p:cNvSpPr/>
          <p:nvPr/>
        </p:nvSpPr>
        <p:spPr>
          <a:xfrm rot="16200000" flipH="1">
            <a:off x="5417344" y="1893175"/>
            <a:ext cx="579437" cy="3263900"/>
          </a:xfrm>
          <a:prstGeom prst="leftBrace">
            <a:avLst>
              <a:gd name="adj1" fmla="val 8333"/>
              <a:gd name="adj2" fmla="val 48576"/>
            </a:avLst>
          </a:prstGeom>
          <a:ln w="50800" cap="flat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14FEF54-300B-929A-B6AA-EC2AF8104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835" y="2722343"/>
            <a:ext cx="6484938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compounds for all subsequent events, too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BB754A-0403-EE71-F3F2-CE463D65C14B}"/>
              </a:ext>
            </a:extLst>
          </p:cNvPr>
          <p:cNvGrpSpPr>
            <a:grpSpLocks/>
          </p:cNvGrpSpPr>
          <p:nvPr/>
        </p:nvGrpSpPr>
        <p:grpSpPr bwMode="auto">
          <a:xfrm>
            <a:off x="451721" y="750991"/>
            <a:ext cx="7788275" cy="1200150"/>
            <a:chOff x="373063" y="737419"/>
            <a:chExt cx="7787711" cy="119953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EF059DC-C665-0D40-8A6C-F9CA4BF68DF7}"/>
                </a:ext>
              </a:extLst>
            </p:cNvPr>
            <p:cNvSpPr/>
            <p:nvPr/>
          </p:nvSpPr>
          <p:spPr>
            <a:xfrm>
              <a:off x="373063" y="737419"/>
              <a:ext cx="7787711" cy="119953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Google Shape;701;p14">
              <a:extLst>
                <a:ext uri="{FF2B5EF4-FFF2-40B4-BE49-F238E27FC236}">
                  <a16:creationId xmlns:a16="http://schemas.microsoft.com/office/drawing/2014/main" id="{72A79658-6479-F28F-F33C-0FAF09652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64" y="1175811"/>
              <a:ext cx="765006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W = &lt;s&gt;     I       want      Indian      food      &lt;/s&gt;; </a:t>
              </a:r>
            </a:p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Times New Roman" panose="02020603050405020304" pitchFamily="18" charset="0"/>
                </a:rPr>
                <a:t>	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Nunito Sans" pitchFamily="2" charset="0"/>
              </a:endParaRPr>
            </a:p>
          </p:txBody>
        </p:sp>
        <p:grpSp>
          <p:nvGrpSpPr>
            <p:cNvPr id="13" name="Group 6">
              <a:extLst>
                <a:ext uri="{FF2B5EF4-FFF2-40B4-BE49-F238E27FC236}">
                  <a16:creationId xmlns:a16="http://schemas.microsoft.com/office/drawing/2014/main" id="{5F7D717C-A853-BCAE-182F-84D0A2C211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1448" y="1248940"/>
              <a:ext cx="4521471" cy="577089"/>
              <a:chOff x="1716815" y="1435753"/>
              <a:chExt cx="4521471" cy="577089"/>
            </a:xfrm>
          </p:grpSpPr>
          <p:sp>
            <p:nvSpPr>
              <p:cNvPr id="14" name="TextBox 1">
                <a:extLst>
                  <a:ext uri="{FF2B5EF4-FFF2-40B4-BE49-F238E27FC236}">
                    <a16:creationId xmlns:a16="http://schemas.microsoft.com/office/drawing/2014/main" id="{5970B5A9-D6E8-6309-571E-0C96FD453C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6815" y="1489622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5" name="TextBox 3">
                <a:extLst>
                  <a:ext uri="{FF2B5EF4-FFF2-40B4-BE49-F238E27FC236}">
                    <a16:creationId xmlns:a16="http://schemas.microsoft.com/office/drawing/2014/main" id="{E115595F-77F8-AD23-5D2F-8C91D30F67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2274" y="1477436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6" name="TextBox 4">
                <a:extLst>
                  <a:ext uri="{FF2B5EF4-FFF2-40B4-BE49-F238E27FC236}">
                    <a16:creationId xmlns:a16="http://schemas.microsoft.com/office/drawing/2014/main" id="{1DEEA80C-148D-3046-960A-92F35498F0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5801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7" name="TextBox 5">
                <a:extLst>
                  <a:ext uri="{FF2B5EF4-FFF2-40B4-BE49-F238E27FC236}">
                    <a16:creationId xmlns:a16="http://schemas.microsoft.com/office/drawing/2014/main" id="{03869C2C-E62A-248E-1A99-F158F1B9CE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3602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E6DA697-C27D-1D10-D8C8-E20E5FAC95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Language Models – N-gram </a:t>
            </a:r>
          </a:p>
        </p:txBody>
      </p:sp>
    </p:spTree>
    <p:extLst>
      <p:ext uri="{BB962C8B-B14F-4D97-AF65-F5344CB8AC3E}">
        <p14:creationId xmlns:p14="http://schemas.microsoft.com/office/powerpoint/2010/main" val="161322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6F1A-2CA2-A45B-942B-546E6684D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1;p14">
            <a:extLst>
              <a:ext uri="{FF2B5EF4-FFF2-40B4-BE49-F238E27FC236}">
                <a16:creationId xmlns:a16="http://schemas.microsoft.com/office/drawing/2014/main" id="{611969C4-3A20-A759-102E-C2F858CF4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63" y="400357"/>
            <a:ext cx="6708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3"/>
              </a:rPr>
              <a:t>Google N-Gram Release, August 2006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C21F9B-7D83-13A3-59D4-F676C607C742}"/>
              </a:ext>
            </a:extLst>
          </p:cNvPr>
          <p:cNvSpPr/>
          <p:nvPr/>
        </p:nvSpPr>
        <p:spPr>
          <a:xfrm>
            <a:off x="495863" y="1016307"/>
            <a:ext cx="11504612" cy="1811338"/>
          </a:xfrm>
          <a:prstGeom prst="roundRect">
            <a:avLst>
              <a:gd name="adj" fmla="val 4140"/>
            </a:avLst>
          </a:prstGeom>
          <a:solidFill>
            <a:schemeClr val="bg1"/>
          </a:solidFill>
          <a:ln>
            <a:noFill/>
          </a:ln>
          <a:effectLst>
            <a:outerShdw blurRad="304849" dist="38100" dir="2700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3429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Nunito Sans" pitchFamily="2" charset="0"/>
              </a:rPr>
              <a:t>Google research has been using word n-gram models for R&amp;D</a:t>
            </a:r>
          </a:p>
          <a:p>
            <a:pPr marL="457200" marR="0" lvl="1" indent="-3429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Nunito Sans" pitchFamily="2" charset="0"/>
              </a:rPr>
              <a:t>Google processes 1,024,908,267,229 words of running text and are publishing the counts for all 1,176,470,663 ‘five-word’ sequences that appear at least 40 times. There are 13, 588,663 unique words after discarding words that appear less than 200 times</a:t>
            </a:r>
          </a:p>
        </p:txBody>
      </p:sp>
      <p:sp>
        <p:nvSpPr>
          <p:cNvPr id="11" name="Google Shape;701;p14">
            <a:extLst>
              <a:ext uri="{FF2B5EF4-FFF2-40B4-BE49-F238E27FC236}">
                <a16:creationId xmlns:a16="http://schemas.microsoft.com/office/drawing/2014/main" id="{F2B3C093-0582-C182-B574-CBC63142D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00" y="2662545"/>
            <a:ext cx="67087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/>
              </a:rPr>
              <a:t>Google N-Gram Viewer, July 2024 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0C73E3-81C9-129B-3274-3F590A7CE391}"/>
              </a:ext>
            </a:extLst>
          </p:cNvPr>
          <p:cNvSpPr/>
          <p:nvPr/>
        </p:nvSpPr>
        <p:spPr>
          <a:xfrm>
            <a:off x="495863" y="3222932"/>
            <a:ext cx="11504612" cy="974725"/>
          </a:xfrm>
          <a:prstGeom prst="roundRect">
            <a:avLst>
              <a:gd name="adj" fmla="val 4140"/>
            </a:avLst>
          </a:prstGeom>
          <a:solidFill>
            <a:schemeClr val="bg1"/>
          </a:solidFill>
          <a:ln>
            <a:noFill/>
          </a:ln>
          <a:effectLst>
            <a:outerShdw blurRad="304849" dist="38100" dir="2700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Nunito Sans" pitchFamily="2" charset="0"/>
              </a:rPr>
              <a:t>When you enter a phrase, the viewer shows how the phrase occurred in a corpus of books</a:t>
            </a:r>
          </a:p>
          <a:p>
            <a:pPr marL="457200" marR="0" lvl="1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Nunito Sans" pitchFamily="2" charset="0"/>
              </a:rPr>
              <a:t>You can now include up to 7-words in your N-gram viewer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DF539C-603C-606E-93A4-1A9A0CD17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63" y="4353232"/>
            <a:ext cx="7493000" cy="20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30D881B-5932-5195-7DA2-6143771690C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Language Models – Challenges </a:t>
            </a:r>
          </a:p>
        </p:txBody>
      </p:sp>
    </p:spTree>
    <p:extLst>
      <p:ext uri="{BB962C8B-B14F-4D97-AF65-F5344CB8AC3E}">
        <p14:creationId xmlns:p14="http://schemas.microsoft.com/office/powerpoint/2010/main" val="161014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BDC4-A896-698A-0EED-E1F10C4C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AA0614-D6F9-EDB8-2B9E-8E73160715D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Language Models - Limitations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69E329-C8CF-C234-4389-032B90456010}"/>
              </a:ext>
            </a:extLst>
          </p:cNvPr>
          <p:cNvSpPr txBox="1"/>
          <p:nvPr/>
        </p:nvSpPr>
        <p:spPr>
          <a:xfrm>
            <a:off x="137651" y="839437"/>
            <a:ext cx="12054349" cy="575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800" dirty="0">
                <a:sym typeface="Nunito Sans" pitchFamily="2" charset="0"/>
              </a:rPr>
              <a:t>Limited contextual understanding</a:t>
            </a:r>
          </a:p>
          <a:p>
            <a:pPr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800" dirty="0">
                <a:sym typeface="Nunito Sans" pitchFamily="2" charset="0"/>
              </a:rPr>
              <a:t>Smaller context windows </a:t>
            </a:r>
          </a:p>
          <a:p>
            <a:pPr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2800" dirty="0"/>
              <a:t>Unsustainable approach to handling increasingly larger contexts</a:t>
            </a:r>
          </a:p>
          <a:p>
            <a:pPr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ym typeface="Nunito Sans"/>
              </a:rPr>
              <a:t> </a:t>
            </a:r>
            <a:r>
              <a:rPr lang="en-US" altLang="en-US" sz="2800" dirty="0">
                <a:sym typeface="Nunito Sans" pitchFamily="2" charset="0"/>
              </a:rPr>
              <a:t>Struggles with complex language structures</a:t>
            </a:r>
          </a:p>
          <a:p>
            <a:pPr lvl="2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800" dirty="0">
                <a:sym typeface="Nunito Sans" pitchFamily="2" charset="0"/>
              </a:rPr>
              <a:t>No semantic information conveyed by counts (e.g., vehicle vs car)</a:t>
            </a:r>
          </a:p>
          <a:p>
            <a:pPr lvl="2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800" dirty="0">
                <a:sym typeface="Nunito Sans" pitchFamily="2" charset="0"/>
              </a:rPr>
              <a:t>Cannot leverage non-consecutive patterns (Dr. S. Ravi Vs Dr. Sam Ravi)</a:t>
            </a:r>
          </a:p>
          <a:p>
            <a:pPr lvl="1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en-US" sz="2800" dirty="0">
                <a:solidFill>
                  <a:srgbClr val="000000"/>
                </a:solidFill>
                <a:latin typeface="Nunito Sans" pitchFamily="2" charset="0"/>
                <a:sym typeface="Nunito Sans" pitchFamily="2" charset="0"/>
              </a:rPr>
              <a:t>Poor scalability due to high storage and compute requirements</a:t>
            </a:r>
          </a:p>
          <a:p>
            <a:pPr lvl="2" indent="-342900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  <a:defRPr/>
            </a:pPr>
            <a:endParaRPr lang="en-US" altLang="en-US" sz="2800" dirty="0">
              <a:sym typeface="Nunito Sans" pitchFamily="2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Ø"/>
              <a:defRPr/>
            </a:pPr>
            <a:endParaRPr lang="en-US" sz="2400" dirty="0">
              <a:sym typeface="Nunito Sans"/>
            </a:endParaRPr>
          </a:p>
        </p:txBody>
      </p:sp>
      <p:sp>
        <p:nvSpPr>
          <p:cNvPr id="3" name="Shape 45">
            <a:extLst>
              <a:ext uri="{FF2B5EF4-FFF2-40B4-BE49-F238E27FC236}">
                <a16:creationId xmlns:a16="http://schemas.microsoft.com/office/drawing/2014/main" id="{AFB04448-23F4-5C94-DBE6-1C20705069A6}"/>
              </a:ext>
            </a:extLst>
          </p:cNvPr>
          <p:cNvSpPr/>
          <p:nvPr/>
        </p:nvSpPr>
        <p:spPr>
          <a:xfrm>
            <a:off x="8945585" y="6525655"/>
            <a:ext cx="32004" cy="32004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6">
            <a:extLst>
              <a:ext uri="{FF2B5EF4-FFF2-40B4-BE49-F238E27FC236}">
                <a16:creationId xmlns:a16="http://schemas.microsoft.com/office/drawing/2014/main" id="{4E4CC175-B248-44AE-ABB6-E4E5896B5E1D}"/>
              </a:ext>
            </a:extLst>
          </p:cNvPr>
          <p:cNvSpPr/>
          <p:nvPr/>
        </p:nvSpPr>
        <p:spPr>
          <a:xfrm>
            <a:off x="8845001" y="6525655"/>
            <a:ext cx="32004" cy="32004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7">
            <a:extLst>
              <a:ext uri="{FF2B5EF4-FFF2-40B4-BE49-F238E27FC236}">
                <a16:creationId xmlns:a16="http://schemas.microsoft.com/office/drawing/2014/main" id="{CD5A8851-3E16-4B71-3E23-59068CA04357}"/>
              </a:ext>
            </a:extLst>
          </p:cNvPr>
          <p:cNvSpPr/>
          <p:nvPr/>
        </p:nvSpPr>
        <p:spPr>
          <a:xfrm>
            <a:off x="8744417" y="6525655"/>
            <a:ext cx="32004" cy="32004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48">
            <a:extLst>
              <a:ext uri="{FF2B5EF4-FFF2-40B4-BE49-F238E27FC236}">
                <a16:creationId xmlns:a16="http://schemas.microsoft.com/office/drawing/2014/main" id="{8F73DE5B-93C1-A675-6476-D1D29D6F3D85}"/>
              </a:ext>
            </a:extLst>
          </p:cNvPr>
          <p:cNvSpPr/>
          <p:nvPr/>
        </p:nvSpPr>
        <p:spPr>
          <a:xfrm>
            <a:off x="8643833" y="6525655"/>
            <a:ext cx="32004" cy="32004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49">
            <a:extLst>
              <a:ext uri="{FF2B5EF4-FFF2-40B4-BE49-F238E27FC236}">
                <a16:creationId xmlns:a16="http://schemas.microsoft.com/office/drawing/2014/main" id="{C5C0EDA7-E00E-397C-BA4C-0FCFF174A642}"/>
              </a:ext>
            </a:extLst>
          </p:cNvPr>
          <p:cNvSpPr/>
          <p:nvPr/>
        </p:nvSpPr>
        <p:spPr>
          <a:xfrm>
            <a:off x="8543249" y="6525655"/>
            <a:ext cx="32004" cy="32004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57">
            <a:extLst>
              <a:ext uri="{FF2B5EF4-FFF2-40B4-BE49-F238E27FC236}">
                <a16:creationId xmlns:a16="http://schemas.microsoft.com/office/drawing/2014/main" id="{B4A26769-F85F-8A6B-7109-7814D8090D85}"/>
              </a:ext>
            </a:extLst>
          </p:cNvPr>
          <p:cNvSpPr/>
          <p:nvPr/>
        </p:nvSpPr>
        <p:spPr>
          <a:xfrm>
            <a:off x="587969" y="5661547"/>
            <a:ext cx="8046720" cy="681228"/>
          </a:xfrm>
          <a:prstGeom prst="roundRect">
            <a:avLst>
              <a:gd name="adj" fmla="val 9677"/>
            </a:avLst>
          </a:prstGeom>
          <a:solidFill>
            <a:srgbClr val="8E5FD1">
              <a:alpha val="12000"/>
            </a:srgbClr>
          </a:solidFill>
          <a:ln w="12700">
            <a:solidFill>
              <a:srgbClr val="8E5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58">
            <a:extLst>
              <a:ext uri="{FF2B5EF4-FFF2-40B4-BE49-F238E27FC236}">
                <a16:creationId xmlns:a16="http://schemas.microsoft.com/office/drawing/2014/main" id="{C99C8371-5B70-FC1E-21D3-0EF9DB3A34DB}"/>
              </a:ext>
            </a:extLst>
          </p:cNvPr>
          <p:cNvSpPr/>
          <p:nvPr/>
        </p:nvSpPr>
        <p:spPr>
          <a:xfrm>
            <a:off x="587969" y="5679835"/>
            <a:ext cx="54864" cy="662940"/>
          </a:xfrm>
          <a:prstGeom prst="rect">
            <a:avLst/>
          </a:prstGeom>
          <a:solidFill>
            <a:srgbClr val="8E5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59">
            <a:extLst>
              <a:ext uri="{FF2B5EF4-FFF2-40B4-BE49-F238E27FC236}">
                <a16:creationId xmlns:a16="http://schemas.microsoft.com/office/drawing/2014/main" id="{0670C544-FDEE-D4F6-D600-0E240BA1ED0E}"/>
              </a:ext>
            </a:extLst>
          </p:cNvPr>
          <p:cNvSpPr/>
          <p:nvPr/>
        </p:nvSpPr>
        <p:spPr>
          <a:xfrm>
            <a:off x="770849" y="5734699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8E5F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60">
            <a:extLst>
              <a:ext uri="{FF2B5EF4-FFF2-40B4-BE49-F238E27FC236}">
                <a16:creationId xmlns:a16="http://schemas.microsoft.com/office/drawing/2014/main" id="{35311151-6E1D-166F-F558-56EAEE0B633E}"/>
              </a:ext>
            </a:extLst>
          </p:cNvPr>
          <p:cNvSpPr/>
          <p:nvPr/>
        </p:nvSpPr>
        <p:spPr>
          <a:xfrm>
            <a:off x="770849" y="6018563"/>
            <a:ext cx="7726680" cy="32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Led to the development of neural language models.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098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BF72-4F8C-BDCC-0F38-7590A79F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49A70F-28E3-76A7-AB2B-037F956B40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Language Models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FD0F1-0CA4-7F49-C2DB-B61B02CD7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5885"/>
            <a:ext cx="11110913" cy="114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Words represented as feature vectors</a:t>
            </a:r>
          </a:p>
          <a:p>
            <a:pPr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Eg Convert each unique word in a dictionary to an index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Nunito Sans" pitchFamily="2" charset="0"/>
            </a:endParaRPr>
          </a:p>
        </p:txBody>
      </p:sp>
      <p:grpSp>
        <p:nvGrpSpPr>
          <p:cNvPr id="6" name="Group 157">
            <a:extLst>
              <a:ext uri="{FF2B5EF4-FFF2-40B4-BE49-F238E27FC236}">
                <a16:creationId xmlns:a16="http://schemas.microsoft.com/office/drawing/2014/main" id="{3E34A276-A404-F471-CF5E-98C9F58636EC}"/>
              </a:ext>
            </a:extLst>
          </p:cNvPr>
          <p:cNvGrpSpPr>
            <a:grpSpLocks/>
          </p:cNvGrpSpPr>
          <p:nvPr/>
        </p:nvGrpSpPr>
        <p:grpSpPr bwMode="auto">
          <a:xfrm>
            <a:off x="2107535" y="2082903"/>
            <a:ext cx="7786687" cy="1200150"/>
            <a:chOff x="373063" y="737419"/>
            <a:chExt cx="7787711" cy="119953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F3D9D0D-DC16-603D-DD88-432E32254723}"/>
                </a:ext>
              </a:extLst>
            </p:cNvPr>
            <p:cNvSpPr/>
            <p:nvPr/>
          </p:nvSpPr>
          <p:spPr>
            <a:xfrm>
              <a:off x="373063" y="737419"/>
              <a:ext cx="7787711" cy="119953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Google Shape;701;p14">
              <a:extLst>
                <a:ext uri="{FF2B5EF4-FFF2-40B4-BE49-F238E27FC236}">
                  <a16:creationId xmlns:a16="http://schemas.microsoft.com/office/drawing/2014/main" id="{094979CB-EE6E-D46A-517A-8D3ADF1C3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64" y="1175811"/>
              <a:ext cx="765006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en-US" sz="2800" dirty="0">
                  <a:solidFill>
                    <a:srgbClr val="000000"/>
                  </a:solidFill>
                </a:rPr>
                <a:t>W</a:t>
              </a:r>
              <a:r>
                <a:rPr lang="en-US" altLang="en-US" sz="2800" dirty="0">
                  <a:solidFill>
                    <a:srgbClr val="000000"/>
                  </a:solidFill>
                  <a:latin typeface="Nunito Sans" pitchFamily="2" charset="0"/>
                </a:rPr>
                <a:t> = &lt;s&gt;     I       want      Indian      food      &lt;/s&gt;; </a:t>
              </a: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 sz="2800" dirty="0">
                <a:solidFill>
                  <a:srgbClr val="000000"/>
                </a:solidFill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endParaRPr lang="en-US" altLang="en-US" sz="2000" dirty="0">
                <a:solidFill>
                  <a:srgbClr val="000000"/>
                </a:solidFill>
                <a:latin typeface="Nunito Sans" pitchFamily="2" charset="0"/>
                <a:sym typeface="Nunito Sans" pitchFamily="2" charset="0"/>
              </a:endParaRPr>
            </a:p>
          </p:txBody>
        </p:sp>
        <p:grpSp>
          <p:nvGrpSpPr>
            <p:cNvPr id="9" name="Group 160">
              <a:extLst>
                <a:ext uri="{FF2B5EF4-FFF2-40B4-BE49-F238E27FC236}">
                  <a16:creationId xmlns:a16="http://schemas.microsoft.com/office/drawing/2014/main" id="{8EFE287C-53B4-AB45-595A-E73A25C36C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1448" y="1248940"/>
              <a:ext cx="4521471" cy="577089"/>
              <a:chOff x="1716815" y="1435753"/>
              <a:chExt cx="4521471" cy="577089"/>
            </a:xfrm>
          </p:grpSpPr>
          <p:sp>
            <p:nvSpPr>
              <p:cNvPr id="10" name="TextBox 161">
                <a:extLst>
                  <a:ext uri="{FF2B5EF4-FFF2-40B4-BE49-F238E27FC236}">
                    <a16:creationId xmlns:a16="http://schemas.microsoft.com/office/drawing/2014/main" id="{2B70A83C-1960-D64F-4CCB-4201D7A71D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6815" y="1489622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000000"/>
                    </a:solidFill>
                  </a:rPr>
                  <a:t>w</a:t>
                </a:r>
                <a:r>
                  <a:rPr lang="en-US" altLang="en-US" sz="2800" baseline="-2500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11" name="TextBox 162">
                <a:extLst>
                  <a:ext uri="{FF2B5EF4-FFF2-40B4-BE49-F238E27FC236}">
                    <a16:creationId xmlns:a16="http://schemas.microsoft.com/office/drawing/2014/main" id="{01322002-D718-52F5-8F00-AEB485D092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2274" y="1477436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000000"/>
                    </a:solidFill>
                  </a:rPr>
                  <a:t>w</a:t>
                </a:r>
                <a:r>
                  <a:rPr lang="en-US" altLang="en-US" sz="2800" baseline="-2500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12" name="TextBox 163">
                <a:extLst>
                  <a:ext uri="{FF2B5EF4-FFF2-40B4-BE49-F238E27FC236}">
                    <a16:creationId xmlns:a16="http://schemas.microsoft.com/office/drawing/2014/main" id="{BFD40C1A-5742-62D9-5160-7343A448E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5801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000000"/>
                    </a:solidFill>
                  </a:rPr>
                  <a:t>w</a:t>
                </a:r>
                <a:r>
                  <a:rPr lang="en-US" altLang="en-US" sz="2800" baseline="-2500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13" name="TextBox 164">
                <a:extLst>
                  <a:ext uri="{FF2B5EF4-FFF2-40B4-BE49-F238E27FC236}">
                    <a16:creationId xmlns:a16="http://schemas.microsoft.com/office/drawing/2014/main" id="{AAF12718-04E8-C9AD-1361-C0FE3CE082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3602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000000"/>
                    </a:solidFill>
                  </a:rPr>
                  <a:t>w</a:t>
                </a:r>
                <a:r>
                  <a:rPr lang="en-US" altLang="en-US" sz="2800" baseline="-25000">
                    <a:solidFill>
                      <a:srgbClr val="000000"/>
                    </a:solidFill>
                  </a:rPr>
                  <a:t>4</a:t>
                </a:r>
              </a:p>
            </p:txBody>
          </p:sp>
        </p:grpSp>
      </p:grpSp>
      <p:grpSp>
        <p:nvGrpSpPr>
          <p:cNvPr id="14" name="Group 165">
            <a:extLst>
              <a:ext uri="{FF2B5EF4-FFF2-40B4-BE49-F238E27FC236}">
                <a16:creationId xmlns:a16="http://schemas.microsoft.com/office/drawing/2014/main" id="{272601B3-4EE7-C787-E005-F8559A35B31B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3375153" y="4180785"/>
            <a:ext cx="1363663" cy="311150"/>
            <a:chOff x="2297660" y="4140835"/>
            <a:chExt cx="1364224" cy="311369"/>
          </a:xfrm>
        </p:grpSpPr>
        <p:sp>
          <p:nvSpPr>
            <p:cNvPr id="15" name="Rounded Rectangle 13">
              <a:extLst>
                <a:ext uri="{FF2B5EF4-FFF2-40B4-BE49-F238E27FC236}">
                  <a16:creationId xmlns:a16="http://schemas.microsoft.com/office/drawing/2014/main" id="{7D0A7DDA-92FB-F17A-BC16-FD32DA9E1921}"/>
                </a:ext>
              </a:extLst>
            </p:cNvPr>
            <p:cNvSpPr/>
            <p:nvPr/>
          </p:nvSpPr>
          <p:spPr>
            <a:xfrm>
              <a:off x="2297660" y="4140835"/>
              <a:ext cx="1364224" cy="311369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D947ABE-9543-EB00-3DCA-272912F3DDC3}"/>
                </a:ext>
              </a:extLst>
            </p:cNvPr>
            <p:cNvSpPr/>
            <p:nvPr/>
          </p:nvSpPr>
          <p:spPr>
            <a:xfrm>
              <a:off x="2378657" y="4194848"/>
              <a:ext cx="203284" cy="20175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2FCDACC-A6B2-3E20-C264-D6BAC20F7C03}"/>
                </a:ext>
              </a:extLst>
            </p:cNvPr>
            <p:cNvSpPr/>
            <p:nvPr/>
          </p:nvSpPr>
          <p:spPr>
            <a:xfrm>
              <a:off x="2624820" y="4194848"/>
              <a:ext cx="203284" cy="20175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79F08D7-3C9A-D55F-27EE-0CA8FA0333E7}"/>
                </a:ext>
              </a:extLst>
            </p:cNvPr>
            <p:cNvSpPr/>
            <p:nvPr/>
          </p:nvSpPr>
          <p:spPr>
            <a:xfrm>
              <a:off x="2870984" y="4194848"/>
              <a:ext cx="203284" cy="20175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D30B288-3063-2188-2FE2-BBE8678ECCFC}"/>
                </a:ext>
              </a:extLst>
            </p:cNvPr>
            <p:cNvSpPr/>
            <p:nvPr/>
          </p:nvSpPr>
          <p:spPr>
            <a:xfrm>
              <a:off x="3123500" y="4194848"/>
              <a:ext cx="203284" cy="20175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79AAF5B-99FF-0813-1533-4D8DAEE8E48C}"/>
                </a:ext>
              </a:extLst>
            </p:cNvPr>
            <p:cNvSpPr/>
            <p:nvPr/>
          </p:nvSpPr>
          <p:spPr>
            <a:xfrm>
              <a:off x="3380781" y="4196437"/>
              <a:ext cx="203284" cy="203343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1" name="Group 172">
            <a:extLst>
              <a:ext uri="{FF2B5EF4-FFF2-40B4-BE49-F238E27FC236}">
                <a16:creationId xmlns:a16="http://schemas.microsoft.com/office/drawing/2014/main" id="{76AC4EDD-FCED-D172-4BD4-875A98A53433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4521328" y="4180785"/>
            <a:ext cx="1363663" cy="311150"/>
            <a:chOff x="2297660" y="4140835"/>
            <a:chExt cx="1364224" cy="311369"/>
          </a:xfrm>
        </p:grpSpPr>
        <p:sp>
          <p:nvSpPr>
            <p:cNvPr id="22" name="Rounded Rectangle 20">
              <a:extLst>
                <a:ext uri="{FF2B5EF4-FFF2-40B4-BE49-F238E27FC236}">
                  <a16:creationId xmlns:a16="http://schemas.microsoft.com/office/drawing/2014/main" id="{21487C44-77D0-D116-2F19-D12676251968}"/>
                </a:ext>
              </a:extLst>
            </p:cNvPr>
            <p:cNvSpPr/>
            <p:nvPr/>
          </p:nvSpPr>
          <p:spPr>
            <a:xfrm>
              <a:off x="2297660" y="4140835"/>
              <a:ext cx="1364224" cy="311369"/>
            </a:xfrm>
            <a:prstGeom prst="round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76FD83C-4185-AD3D-FAA4-0DE0B0340542}"/>
                </a:ext>
              </a:extLst>
            </p:cNvPr>
            <p:cNvSpPr/>
            <p:nvPr/>
          </p:nvSpPr>
          <p:spPr>
            <a:xfrm>
              <a:off x="2378657" y="4194848"/>
              <a:ext cx="203284" cy="201754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3960FC5-4F7B-4C4D-3497-EB939C0C90CE}"/>
                </a:ext>
              </a:extLst>
            </p:cNvPr>
            <p:cNvSpPr/>
            <p:nvPr/>
          </p:nvSpPr>
          <p:spPr>
            <a:xfrm>
              <a:off x="2624820" y="4194848"/>
              <a:ext cx="203284" cy="201754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CEA2B7-E99D-A5DD-F686-27C27C3E97E6}"/>
                </a:ext>
              </a:extLst>
            </p:cNvPr>
            <p:cNvSpPr/>
            <p:nvPr/>
          </p:nvSpPr>
          <p:spPr>
            <a:xfrm>
              <a:off x="2870984" y="4194848"/>
              <a:ext cx="203284" cy="201754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1A8209B-2240-482F-A32C-59F0D3E2636B}"/>
                </a:ext>
              </a:extLst>
            </p:cNvPr>
            <p:cNvSpPr/>
            <p:nvPr/>
          </p:nvSpPr>
          <p:spPr>
            <a:xfrm>
              <a:off x="3123500" y="4194848"/>
              <a:ext cx="203284" cy="201754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57FBCAD-6392-DB74-131D-0CE5F73623C4}"/>
                </a:ext>
              </a:extLst>
            </p:cNvPr>
            <p:cNvSpPr/>
            <p:nvPr/>
          </p:nvSpPr>
          <p:spPr>
            <a:xfrm>
              <a:off x="3380781" y="4196437"/>
              <a:ext cx="203284" cy="203343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8" name="Group 179">
            <a:extLst>
              <a:ext uri="{FF2B5EF4-FFF2-40B4-BE49-F238E27FC236}">
                <a16:creationId xmlns:a16="http://schemas.microsoft.com/office/drawing/2014/main" id="{A9DD04B4-B888-11B1-ADCA-1F730D871C0C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5803235" y="4167291"/>
            <a:ext cx="1365250" cy="311150"/>
            <a:chOff x="2297660" y="4140835"/>
            <a:chExt cx="1364224" cy="311369"/>
          </a:xfrm>
        </p:grpSpPr>
        <p:sp>
          <p:nvSpPr>
            <p:cNvPr id="29" name="Rounded Rectangle 20">
              <a:extLst>
                <a:ext uri="{FF2B5EF4-FFF2-40B4-BE49-F238E27FC236}">
                  <a16:creationId xmlns:a16="http://schemas.microsoft.com/office/drawing/2014/main" id="{2290F727-7831-6659-D53F-2FAB2B57A78A}"/>
                </a:ext>
              </a:extLst>
            </p:cNvPr>
            <p:cNvSpPr/>
            <p:nvPr/>
          </p:nvSpPr>
          <p:spPr>
            <a:xfrm>
              <a:off x="2297660" y="4140835"/>
              <a:ext cx="1364224" cy="311369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23776D-941E-E21D-5AF2-A0D1B2FEC138}"/>
                </a:ext>
              </a:extLst>
            </p:cNvPr>
            <p:cNvSpPr/>
            <p:nvPr/>
          </p:nvSpPr>
          <p:spPr>
            <a:xfrm>
              <a:off x="2381735" y="4194848"/>
              <a:ext cx="203047" cy="201754"/>
            </a:xfrm>
            <a:prstGeom prst="ellipse">
              <a:avLst/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8147175-8F89-8A9B-DDAD-A1ACF71EE833}"/>
                </a:ext>
              </a:extLst>
            </p:cNvPr>
            <p:cNvSpPr/>
            <p:nvPr/>
          </p:nvSpPr>
          <p:spPr>
            <a:xfrm>
              <a:off x="2629199" y="4194848"/>
              <a:ext cx="203047" cy="201754"/>
            </a:xfrm>
            <a:prstGeom prst="ellipse">
              <a:avLst/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9AB5C6E-499C-FD4E-69D2-0E2AACD38A9D}"/>
                </a:ext>
              </a:extLst>
            </p:cNvPr>
            <p:cNvSpPr/>
            <p:nvPr/>
          </p:nvSpPr>
          <p:spPr>
            <a:xfrm>
              <a:off x="2875076" y="4194848"/>
              <a:ext cx="203047" cy="201754"/>
            </a:xfrm>
            <a:prstGeom prst="ellipse">
              <a:avLst/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920DF58-24CB-8689-686A-63F42D655F47}"/>
                </a:ext>
              </a:extLst>
            </p:cNvPr>
            <p:cNvSpPr/>
            <p:nvPr/>
          </p:nvSpPr>
          <p:spPr>
            <a:xfrm>
              <a:off x="3127299" y="4194848"/>
              <a:ext cx="203047" cy="201754"/>
            </a:xfrm>
            <a:prstGeom prst="ellipse">
              <a:avLst/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DB929AF-E3CA-D895-A8EE-E21E90E41772}"/>
                </a:ext>
              </a:extLst>
            </p:cNvPr>
            <p:cNvSpPr/>
            <p:nvPr/>
          </p:nvSpPr>
          <p:spPr>
            <a:xfrm>
              <a:off x="3384281" y="4196436"/>
              <a:ext cx="203047" cy="203343"/>
            </a:xfrm>
            <a:prstGeom prst="ellipse">
              <a:avLst/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5" name="Group 186">
            <a:extLst>
              <a:ext uri="{FF2B5EF4-FFF2-40B4-BE49-F238E27FC236}">
                <a16:creationId xmlns:a16="http://schemas.microsoft.com/office/drawing/2014/main" id="{EE44DE89-5B92-E4D6-578C-D9B22723EA30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7259765" y="4101410"/>
            <a:ext cx="1363663" cy="311150"/>
            <a:chOff x="2297660" y="4140835"/>
            <a:chExt cx="1364224" cy="311369"/>
          </a:xfrm>
        </p:grpSpPr>
        <p:sp>
          <p:nvSpPr>
            <p:cNvPr id="36" name="Rounded Rectangle 47">
              <a:extLst>
                <a:ext uri="{FF2B5EF4-FFF2-40B4-BE49-F238E27FC236}">
                  <a16:creationId xmlns:a16="http://schemas.microsoft.com/office/drawing/2014/main" id="{DAC21751-66D6-2D96-FC74-C7FC55676957}"/>
                </a:ext>
              </a:extLst>
            </p:cNvPr>
            <p:cNvSpPr/>
            <p:nvPr/>
          </p:nvSpPr>
          <p:spPr>
            <a:xfrm>
              <a:off x="2297660" y="4140835"/>
              <a:ext cx="1364224" cy="311369"/>
            </a:xfrm>
            <a:prstGeom prst="round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AF883C6-5CB4-4EC8-6C4F-FEF99AD5A81B}"/>
                </a:ext>
              </a:extLst>
            </p:cNvPr>
            <p:cNvSpPr/>
            <p:nvPr/>
          </p:nvSpPr>
          <p:spPr>
            <a:xfrm>
              <a:off x="2378657" y="4191672"/>
              <a:ext cx="203284" cy="20175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C8FAD3E-C710-BEDB-40A5-ED3CE5D0C96F}"/>
                </a:ext>
              </a:extLst>
            </p:cNvPr>
            <p:cNvSpPr/>
            <p:nvPr/>
          </p:nvSpPr>
          <p:spPr>
            <a:xfrm>
              <a:off x="2624821" y="4194849"/>
              <a:ext cx="203284" cy="20175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ED66E08-E42E-5EA6-EA63-95E919A87828}"/>
                </a:ext>
              </a:extLst>
            </p:cNvPr>
            <p:cNvSpPr/>
            <p:nvPr/>
          </p:nvSpPr>
          <p:spPr>
            <a:xfrm>
              <a:off x="2870985" y="4194849"/>
              <a:ext cx="203284" cy="20175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185C7B-75F8-ECCA-0702-EA51D2B14BCB}"/>
                </a:ext>
              </a:extLst>
            </p:cNvPr>
            <p:cNvSpPr/>
            <p:nvPr/>
          </p:nvSpPr>
          <p:spPr>
            <a:xfrm>
              <a:off x="3123501" y="4194849"/>
              <a:ext cx="203284" cy="20175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4B60D3F-D062-CD43-AD74-E61F69953BAF}"/>
                </a:ext>
              </a:extLst>
            </p:cNvPr>
            <p:cNvSpPr/>
            <p:nvPr/>
          </p:nvSpPr>
          <p:spPr>
            <a:xfrm>
              <a:off x="3380781" y="4196438"/>
              <a:ext cx="203284" cy="20334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7554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7449E-DE2E-BBB4-E2C3-953E0C6F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213198C9-C21C-394A-BFCF-CDEF6685E203}"/>
              </a:ext>
            </a:extLst>
          </p:cNvPr>
          <p:cNvSpPr/>
          <p:nvPr/>
        </p:nvSpPr>
        <p:spPr>
          <a:xfrm>
            <a:off x="5431810" y="5448557"/>
            <a:ext cx="1196975" cy="3302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011A05E-F649-D080-C69A-8BF43CAB76D6}"/>
              </a:ext>
            </a:extLst>
          </p:cNvPr>
          <p:cNvSpPr/>
          <p:nvPr/>
        </p:nvSpPr>
        <p:spPr>
          <a:xfrm>
            <a:off x="5536585" y="5504119"/>
            <a:ext cx="203200" cy="2032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FD30268-D4F5-736A-7EFD-BADB52DC1DAB}"/>
              </a:ext>
            </a:extLst>
          </p:cNvPr>
          <p:cNvSpPr/>
          <p:nvPr/>
        </p:nvSpPr>
        <p:spPr>
          <a:xfrm>
            <a:off x="5782648" y="5504119"/>
            <a:ext cx="203200" cy="2032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D8976AD-50FE-AD55-E34C-87A42BAFEB9D}"/>
              </a:ext>
            </a:extLst>
          </p:cNvPr>
          <p:cNvSpPr/>
          <p:nvPr/>
        </p:nvSpPr>
        <p:spPr>
          <a:xfrm>
            <a:off x="6028710" y="5504119"/>
            <a:ext cx="203200" cy="2032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B8BE41-3DD8-D3F8-47EF-0304039802D1}"/>
              </a:ext>
            </a:extLst>
          </p:cNvPr>
          <p:cNvSpPr/>
          <p:nvPr/>
        </p:nvSpPr>
        <p:spPr>
          <a:xfrm>
            <a:off x="6281123" y="5504119"/>
            <a:ext cx="203200" cy="2032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446EA67-8A5B-05A5-89A8-814B1E31C432}"/>
              </a:ext>
            </a:extLst>
          </p:cNvPr>
          <p:cNvSpPr/>
          <p:nvPr/>
        </p:nvSpPr>
        <p:spPr>
          <a:xfrm>
            <a:off x="5536585" y="3197482"/>
            <a:ext cx="203200" cy="2032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E35A6AA-07D0-EBC5-AFCD-E56F1E2EB451}"/>
              </a:ext>
            </a:extLst>
          </p:cNvPr>
          <p:cNvSpPr/>
          <p:nvPr/>
        </p:nvSpPr>
        <p:spPr>
          <a:xfrm>
            <a:off x="5782648" y="3197482"/>
            <a:ext cx="203200" cy="2032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39ECACB-6122-0618-AB1C-55A2404C73F9}"/>
              </a:ext>
            </a:extLst>
          </p:cNvPr>
          <p:cNvSpPr/>
          <p:nvPr/>
        </p:nvSpPr>
        <p:spPr>
          <a:xfrm>
            <a:off x="6028710" y="3197482"/>
            <a:ext cx="203200" cy="2032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71F737C-2F64-766B-F240-11AA6BA313A5}"/>
              </a:ext>
            </a:extLst>
          </p:cNvPr>
          <p:cNvSpPr/>
          <p:nvPr/>
        </p:nvSpPr>
        <p:spPr>
          <a:xfrm>
            <a:off x="6281123" y="3197482"/>
            <a:ext cx="203200" cy="2032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8B3F1A4D-FC3F-1A8B-8CBB-108225CC0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248" y="5812094"/>
            <a:ext cx="423862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ight"/>
                <a:ea typeface="+mn-ea"/>
                <a:cs typeface="+mn-cs"/>
              </a:rPr>
              <a:t>I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18D0D9C1-805B-30A1-B964-14E3CA0B3D1A}"/>
              </a:ext>
            </a:extLst>
          </p:cNvPr>
          <p:cNvSpPr txBox="1">
            <a:spLocks/>
          </p:cNvSpPr>
          <p:nvPr/>
        </p:nvSpPr>
        <p:spPr>
          <a:xfrm>
            <a:off x="1409085" y="5378707"/>
            <a:ext cx="2865438" cy="4714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Example input word</a:t>
            </a:r>
          </a:p>
        </p:txBody>
      </p:sp>
      <p:sp>
        <p:nvSpPr>
          <p:cNvPr id="52" name="Rounded Rectangle 31">
            <a:extLst>
              <a:ext uri="{FF2B5EF4-FFF2-40B4-BE49-F238E27FC236}">
                <a16:creationId xmlns:a16="http://schemas.microsoft.com/office/drawing/2014/main" id="{B22EF4EB-744B-E607-94D7-AC1A2BA80A8D}"/>
              </a:ext>
            </a:extLst>
          </p:cNvPr>
          <p:cNvSpPr/>
          <p:nvPr/>
        </p:nvSpPr>
        <p:spPr>
          <a:xfrm>
            <a:off x="4733310" y="4300794"/>
            <a:ext cx="2630488" cy="311150"/>
          </a:xfrm>
          <a:prstGeom prst="round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78B0B99-6297-2814-1028-E1CFB154FBA3}"/>
              </a:ext>
            </a:extLst>
          </p:cNvPr>
          <p:cNvSpPr/>
          <p:nvPr/>
        </p:nvSpPr>
        <p:spPr>
          <a:xfrm>
            <a:off x="4817448" y="4340482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8852EC7-4E77-4490-EF1A-BEEF063A8C0B}"/>
              </a:ext>
            </a:extLst>
          </p:cNvPr>
          <p:cNvSpPr/>
          <p:nvPr/>
        </p:nvSpPr>
        <p:spPr>
          <a:xfrm>
            <a:off x="5063510" y="4340482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6A4D24F-AA9A-EA67-95C2-B962CE23E315}"/>
              </a:ext>
            </a:extLst>
          </p:cNvPr>
          <p:cNvSpPr/>
          <p:nvPr/>
        </p:nvSpPr>
        <p:spPr>
          <a:xfrm>
            <a:off x="5309573" y="4340482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9BE37A0-CDA6-3D8A-FBA1-127D7585D03F}"/>
              </a:ext>
            </a:extLst>
          </p:cNvPr>
          <p:cNvSpPr/>
          <p:nvPr/>
        </p:nvSpPr>
        <p:spPr>
          <a:xfrm>
            <a:off x="5561985" y="4340482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11EBEEB-72CC-49AF-F2C0-3C921C14C04D}"/>
              </a:ext>
            </a:extLst>
          </p:cNvPr>
          <p:cNvSpPr/>
          <p:nvPr/>
        </p:nvSpPr>
        <p:spPr>
          <a:xfrm>
            <a:off x="5819160" y="4343657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B0BF505-EDBF-D5C7-80FF-5966AEF365EB}"/>
              </a:ext>
            </a:extLst>
          </p:cNvPr>
          <p:cNvSpPr/>
          <p:nvPr/>
        </p:nvSpPr>
        <p:spPr>
          <a:xfrm>
            <a:off x="6065223" y="4343657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F8A80C1-E783-DC7F-313F-9F8BE16E491E}"/>
              </a:ext>
            </a:extLst>
          </p:cNvPr>
          <p:cNvSpPr/>
          <p:nvPr/>
        </p:nvSpPr>
        <p:spPr>
          <a:xfrm>
            <a:off x="6311285" y="4343657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ED9E943-4E05-5AD2-6A50-06CFF8DADAAD}"/>
              </a:ext>
            </a:extLst>
          </p:cNvPr>
          <p:cNvSpPr/>
          <p:nvPr/>
        </p:nvSpPr>
        <p:spPr>
          <a:xfrm>
            <a:off x="6563698" y="4343657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C26952D-C7C6-266A-8A5D-570E1712B2A9}"/>
              </a:ext>
            </a:extLst>
          </p:cNvPr>
          <p:cNvSpPr/>
          <p:nvPr/>
        </p:nvSpPr>
        <p:spPr>
          <a:xfrm>
            <a:off x="6817698" y="4338894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D322A8C-3B53-7205-047E-7DD6A734C932}"/>
              </a:ext>
            </a:extLst>
          </p:cNvPr>
          <p:cNvSpPr/>
          <p:nvPr/>
        </p:nvSpPr>
        <p:spPr>
          <a:xfrm>
            <a:off x="7068523" y="4338894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ounded Rectangle 42">
            <a:extLst>
              <a:ext uri="{FF2B5EF4-FFF2-40B4-BE49-F238E27FC236}">
                <a16:creationId xmlns:a16="http://schemas.microsoft.com/office/drawing/2014/main" id="{6ADA5875-6F52-03FF-47F5-B4A179965F2B}"/>
              </a:ext>
            </a:extLst>
          </p:cNvPr>
          <p:cNvSpPr/>
          <p:nvPr/>
        </p:nvSpPr>
        <p:spPr>
          <a:xfrm>
            <a:off x="5450860" y="3151444"/>
            <a:ext cx="1128713" cy="311150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ight Arrow 44">
            <a:extLst>
              <a:ext uri="{FF2B5EF4-FFF2-40B4-BE49-F238E27FC236}">
                <a16:creationId xmlns:a16="http://schemas.microsoft.com/office/drawing/2014/main" id="{DDC9CE71-AD17-808A-779D-08915B734972}"/>
              </a:ext>
            </a:extLst>
          </p:cNvPr>
          <p:cNvSpPr/>
          <p:nvPr/>
        </p:nvSpPr>
        <p:spPr>
          <a:xfrm rot="16200000">
            <a:off x="5757248" y="3668969"/>
            <a:ext cx="566737" cy="328613"/>
          </a:xfrm>
          <a:prstGeom prst="rightArrow">
            <a:avLst>
              <a:gd name="adj1" fmla="val 27574"/>
              <a:gd name="adj2" fmla="val 6962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ight Arrow 46">
            <a:extLst>
              <a:ext uri="{FF2B5EF4-FFF2-40B4-BE49-F238E27FC236}">
                <a16:creationId xmlns:a16="http://schemas.microsoft.com/office/drawing/2014/main" id="{6E1ABE64-635A-8147-8299-A606C0AD9F89}"/>
              </a:ext>
            </a:extLst>
          </p:cNvPr>
          <p:cNvSpPr/>
          <p:nvPr/>
        </p:nvSpPr>
        <p:spPr>
          <a:xfrm rot="16200000">
            <a:off x="5778679" y="4836576"/>
            <a:ext cx="566737" cy="330200"/>
          </a:xfrm>
          <a:prstGeom prst="rightArrow">
            <a:avLst>
              <a:gd name="adj1" fmla="val 27574"/>
              <a:gd name="adj2" fmla="val 6962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0941B844-3444-458A-FBE2-67D6CFEF8FF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67881" y="4735798"/>
            <a:ext cx="701328" cy="50358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DA977051-73CB-1E11-4088-A461223BE0D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75190" y="3556857"/>
            <a:ext cx="701328" cy="50358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49E660D8-77FD-6A4C-3396-A33177B08F52}"/>
              </a:ext>
            </a:extLst>
          </p:cNvPr>
          <p:cNvSpPr txBox="1">
            <a:spLocks/>
          </p:cNvSpPr>
          <p:nvPr/>
        </p:nvSpPr>
        <p:spPr>
          <a:xfrm>
            <a:off x="2480648" y="4246819"/>
            <a:ext cx="1738312" cy="4714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Hidden layer</a:t>
            </a: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DE44ABF6-D2B1-6AEC-6487-58056AB8E827}"/>
              </a:ext>
            </a:extLst>
          </p:cNvPr>
          <p:cNvSpPr txBox="1">
            <a:spLocks/>
          </p:cNvSpPr>
          <p:nvPr/>
        </p:nvSpPr>
        <p:spPr>
          <a:xfrm>
            <a:off x="2539385" y="3086357"/>
            <a:ext cx="1722438" cy="4714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Output layer</a:t>
            </a:r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AF4C2D87-4ADF-BB25-DA52-D5DA9D3D152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30440" y="5249774"/>
            <a:ext cx="2799163" cy="50358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6C57C53C-5E79-E71A-F66F-83F322201E9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84450" y="4080351"/>
            <a:ext cx="2799163" cy="50358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D9958A14-1E02-C076-3FDE-C9E7ABCC1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4960" y="2629157"/>
            <a:ext cx="157638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ight"/>
                <a:ea typeface="+mn-ea"/>
                <a:cs typeface="+mn-cs"/>
              </a:rPr>
              <a:t>want</a:t>
            </a:r>
          </a:p>
        </p:txBody>
      </p:sp>
      <p:grpSp>
        <p:nvGrpSpPr>
          <p:cNvPr id="73" name="Group 205">
            <a:extLst>
              <a:ext uri="{FF2B5EF4-FFF2-40B4-BE49-F238E27FC236}">
                <a16:creationId xmlns:a16="http://schemas.microsoft.com/office/drawing/2014/main" id="{C756D25D-62C7-B365-9A91-F541C1BE37F8}"/>
              </a:ext>
            </a:extLst>
          </p:cNvPr>
          <p:cNvGrpSpPr>
            <a:grpSpLocks/>
          </p:cNvGrpSpPr>
          <p:nvPr/>
        </p:nvGrpSpPr>
        <p:grpSpPr bwMode="auto">
          <a:xfrm>
            <a:off x="2168703" y="1263906"/>
            <a:ext cx="7786687" cy="1198563"/>
            <a:chOff x="373063" y="737419"/>
            <a:chExt cx="7787711" cy="1199536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DFC22A27-6AE2-842F-3609-6D81839ED29A}"/>
                </a:ext>
              </a:extLst>
            </p:cNvPr>
            <p:cNvSpPr/>
            <p:nvPr/>
          </p:nvSpPr>
          <p:spPr>
            <a:xfrm>
              <a:off x="373063" y="737419"/>
              <a:ext cx="7787711" cy="119953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Google Shape;701;p14">
              <a:extLst>
                <a:ext uri="{FF2B5EF4-FFF2-40B4-BE49-F238E27FC236}">
                  <a16:creationId xmlns:a16="http://schemas.microsoft.com/office/drawing/2014/main" id="{DCAC1084-DA00-FB18-582D-0A801AD6F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64" y="1175811"/>
              <a:ext cx="765006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W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unito Sans" pitchFamily="2" charset="0"/>
                  <a:ea typeface="+mn-ea"/>
                  <a:cs typeface="+mn-cs"/>
                </a:rPr>
                <a:t> = &lt;s&gt;     I       want      Indian      food      &lt;/s&gt;; </a:t>
              </a:r>
            </a:p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	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 pitchFamily="2" charset="0"/>
                <a:ea typeface="+mn-ea"/>
                <a:cs typeface="+mn-cs"/>
                <a:sym typeface="Nunito Sans" pitchFamily="2" charset="0"/>
              </a:endParaRPr>
            </a:p>
          </p:txBody>
        </p:sp>
        <p:grpSp>
          <p:nvGrpSpPr>
            <p:cNvPr id="76" name="Group 208">
              <a:extLst>
                <a:ext uri="{FF2B5EF4-FFF2-40B4-BE49-F238E27FC236}">
                  <a16:creationId xmlns:a16="http://schemas.microsoft.com/office/drawing/2014/main" id="{D94CA90D-9FC8-C059-4279-8B604AEA97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1448" y="1248940"/>
              <a:ext cx="4521471" cy="577089"/>
              <a:chOff x="1716815" y="1435753"/>
              <a:chExt cx="4521471" cy="577089"/>
            </a:xfrm>
          </p:grpSpPr>
          <p:sp>
            <p:nvSpPr>
              <p:cNvPr id="77" name="TextBox 209">
                <a:extLst>
                  <a:ext uri="{FF2B5EF4-FFF2-40B4-BE49-F238E27FC236}">
                    <a16:creationId xmlns:a16="http://schemas.microsoft.com/office/drawing/2014/main" id="{53184FEB-6BF6-3E12-59EE-2F80F2CEDE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6815" y="1489622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78" name="TextBox 210">
                <a:extLst>
                  <a:ext uri="{FF2B5EF4-FFF2-40B4-BE49-F238E27FC236}">
                    <a16:creationId xmlns:a16="http://schemas.microsoft.com/office/drawing/2014/main" id="{425594D8-AD24-F494-DFB1-51F5BC151D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2274" y="1477436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79" name="TextBox 211">
                <a:extLst>
                  <a:ext uri="{FF2B5EF4-FFF2-40B4-BE49-F238E27FC236}">
                    <a16:creationId xmlns:a16="http://schemas.microsoft.com/office/drawing/2014/main" id="{6C048DDE-62EA-503C-1F65-C3E48ABA50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5801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80" name="TextBox 212">
                <a:extLst>
                  <a:ext uri="{FF2B5EF4-FFF2-40B4-BE49-F238E27FC236}">
                    <a16:creationId xmlns:a16="http://schemas.microsoft.com/office/drawing/2014/main" id="{8A33B913-C675-C8B1-B13C-D97CC89B58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3602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sp>
        <p:nvSpPr>
          <p:cNvPr id="81" name="TextBox 213">
            <a:extLst>
              <a:ext uri="{FF2B5EF4-FFF2-40B4-BE49-F238E27FC236}">
                <a16:creationId xmlns:a16="http://schemas.microsoft.com/office/drawing/2014/main" id="{18DB263D-AAF5-1143-D432-F637DDA57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85" y="2568832"/>
            <a:ext cx="3965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Feed forward neural network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B9BC62-F0F0-6116-1B6B-66796592674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Language Models </a:t>
            </a:r>
          </a:p>
        </p:txBody>
      </p:sp>
    </p:spTree>
    <p:extLst>
      <p:ext uri="{BB962C8B-B14F-4D97-AF65-F5344CB8AC3E}">
        <p14:creationId xmlns:p14="http://schemas.microsoft.com/office/powerpoint/2010/main" val="4095350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0895-6B2D-B51F-632E-42DA965E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B4A79E-95D7-B211-57EB-29B0B9AD7EB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Language Models - RNN </a:t>
            </a:r>
          </a:p>
        </p:txBody>
      </p:sp>
      <p:grpSp>
        <p:nvGrpSpPr>
          <p:cNvPr id="3" name="Group 205">
            <a:extLst>
              <a:ext uri="{FF2B5EF4-FFF2-40B4-BE49-F238E27FC236}">
                <a16:creationId xmlns:a16="http://schemas.microsoft.com/office/drawing/2014/main" id="{11F41254-6426-8B9F-61D3-2AC540D72CF5}"/>
              </a:ext>
            </a:extLst>
          </p:cNvPr>
          <p:cNvGrpSpPr>
            <a:grpSpLocks/>
          </p:cNvGrpSpPr>
          <p:nvPr/>
        </p:nvGrpSpPr>
        <p:grpSpPr bwMode="auto">
          <a:xfrm>
            <a:off x="566431" y="1150526"/>
            <a:ext cx="7786687" cy="1198562"/>
            <a:chOff x="373063" y="737419"/>
            <a:chExt cx="7787711" cy="119953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F451DA5-59AD-A5E0-C58F-ED1C4D3947AC}"/>
                </a:ext>
              </a:extLst>
            </p:cNvPr>
            <p:cNvSpPr/>
            <p:nvPr/>
          </p:nvSpPr>
          <p:spPr>
            <a:xfrm>
              <a:off x="373063" y="737419"/>
              <a:ext cx="7787711" cy="119953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" name="Google Shape;701;p14">
              <a:extLst>
                <a:ext uri="{FF2B5EF4-FFF2-40B4-BE49-F238E27FC236}">
                  <a16:creationId xmlns:a16="http://schemas.microsoft.com/office/drawing/2014/main" id="{8E2F1FE2-1EA8-AC19-61A9-685042E2E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64" y="1175811"/>
              <a:ext cx="765006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en-US" sz="2800">
                  <a:solidFill>
                    <a:srgbClr val="000000"/>
                  </a:solidFill>
                </a:rPr>
                <a:t>W</a:t>
              </a:r>
              <a:r>
                <a:rPr lang="en-US" altLang="en-US" sz="2800">
                  <a:solidFill>
                    <a:srgbClr val="000000"/>
                  </a:solidFill>
                  <a:latin typeface="Nunito Sans" pitchFamily="2" charset="0"/>
                </a:rPr>
                <a:t> = &lt;s&gt;     I       want      Indian      food      &lt;/s&gt;; </a:t>
              </a: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 sz="2800">
                <a:solidFill>
                  <a:srgbClr val="000000"/>
                </a:solidFill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endParaRPr lang="en-US" altLang="en-US" sz="2000">
                <a:solidFill>
                  <a:srgbClr val="000000"/>
                </a:solidFill>
                <a:latin typeface="Nunito Sans" pitchFamily="2" charset="0"/>
                <a:sym typeface="Nunito Sans" pitchFamily="2" charset="0"/>
              </a:endParaRPr>
            </a:p>
          </p:txBody>
        </p:sp>
        <p:grpSp>
          <p:nvGrpSpPr>
            <p:cNvPr id="43" name="Group 208">
              <a:extLst>
                <a:ext uri="{FF2B5EF4-FFF2-40B4-BE49-F238E27FC236}">
                  <a16:creationId xmlns:a16="http://schemas.microsoft.com/office/drawing/2014/main" id="{F0662FA2-2FE2-FAEF-B11D-F930636E96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1448" y="1248940"/>
              <a:ext cx="4521471" cy="577089"/>
              <a:chOff x="1716815" y="1435753"/>
              <a:chExt cx="4521471" cy="577089"/>
            </a:xfrm>
          </p:grpSpPr>
          <p:sp>
            <p:nvSpPr>
              <p:cNvPr id="45" name="TextBox 209">
                <a:extLst>
                  <a:ext uri="{FF2B5EF4-FFF2-40B4-BE49-F238E27FC236}">
                    <a16:creationId xmlns:a16="http://schemas.microsoft.com/office/drawing/2014/main" id="{978586CC-51F7-E753-DC1A-0F7842BD94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6815" y="1489622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000000"/>
                    </a:solidFill>
                  </a:rPr>
                  <a:t>w</a:t>
                </a:r>
                <a:r>
                  <a:rPr lang="en-US" altLang="en-US" sz="2800" baseline="-2500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46" name="TextBox 210">
                <a:extLst>
                  <a:ext uri="{FF2B5EF4-FFF2-40B4-BE49-F238E27FC236}">
                    <a16:creationId xmlns:a16="http://schemas.microsoft.com/office/drawing/2014/main" id="{EA76B45A-364F-001B-F271-68D0A3ED7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2274" y="1477436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000000"/>
                    </a:solidFill>
                  </a:rPr>
                  <a:t>w</a:t>
                </a:r>
                <a:r>
                  <a:rPr lang="en-US" altLang="en-US" sz="2800" baseline="-25000">
                    <a:solidFill>
                      <a:srgbClr val="000000"/>
                    </a:solidFill>
                  </a:rPr>
                  <a:t>2</a:t>
                </a:r>
              </a:p>
            </p:txBody>
          </p:sp>
          <p:sp>
            <p:nvSpPr>
              <p:cNvPr id="47" name="TextBox 211">
                <a:extLst>
                  <a:ext uri="{FF2B5EF4-FFF2-40B4-BE49-F238E27FC236}">
                    <a16:creationId xmlns:a16="http://schemas.microsoft.com/office/drawing/2014/main" id="{F86E8C83-4D00-1DBA-CCA2-68B808812A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5801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000000"/>
                    </a:solidFill>
                  </a:rPr>
                  <a:t>w</a:t>
                </a:r>
                <a:r>
                  <a:rPr lang="en-US" altLang="en-US" sz="2800" baseline="-25000">
                    <a:solidFill>
                      <a:srgbClr val="000000"/>
                    </a:solidFill>
                  </a:rPr>
                  <a:t>3</a:t>
                </a:r>
              </a:p>
            </p:txBody>
          </p:sp>
          <p:sp>
            <p:nvSpPr>
              <p:cNvPr id="48" name="TextBox 212">
                <a:extLst>
                  <a:ext uri="{FF2B5EF4-FFF2-40B4-BE49-F238E27FC236}">
                    <a16:creationId xmlns:a16="http://schemas.microsoft.com/office/drawing/2014/main" id="{793E3F9B-A8BA-F33C-DC42-37BDF8753F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3602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000000"/>
                    </a:solidFill>
                  </a:rPr>
                  <a:t>w</a:t>
                </a:r>
                <a:r>
                  <a:rPr lang="en-US" altLang="en-US" sz="2800" baseline="-25000">
                    <a:solidFill>
                      <a:srgbClr val="000000"/>
                    </a:solidFill>
                  </a:rPr>
                  <a:t>4</a:t>
                </a:r>
              </a:p>
            </p:txBody>
          </p:sp>
        </p:grpSp>
      </p:grpSp>
      <p:sp>
        <p:nvSpPr>
          <p:cNvPr id="49" name="TextBox 213">
            <a:extLst>
              <a:ext uri="{FF2B5EF4-FFF2-40B4-BE49-F238E27FC236}">
                <a16:creationId xmlns:a16="http://schemas.microsoft.com/office/drawing/2014/main" id="{8C794BC2-0FD5-8DB0-500D-08588D129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593" y="4065176"/>
            <a:ext cx="1008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rgbClr val="4F81BD"/>
                </a:solidFill>
              </a:rPr>
              <a:t>RNN</a:t>
            </a:r>
          </a:p>
        </p:txBody>
      </p:sp>
      <p:grpSp>
        <p:nvGrpSpPr>
          <p:cNvPr id="50" name="Group 196">
            <a:extLst>
              <a:ext uri="{FF2B5EF4-FFF2-40B4-BE49-F238E27FC236}">
                <a16:creationId xmlns:a16="http://schemas.microsoft.com/office/drawing/2014/main" id="{D030662E-7E19-D1D0-3AE4-2A37BD218C71}"/>
              </a:ext>
            </a:extLst>
          </p:cNvPr>
          <p:cNvGrpSpPr>
            <a:grpSpLocks/>
          </p:cNvGrpSpPr>
          <p:nvPr/>
        </p:nvGrpSpPr>
        <p:grpSpPr bwMode="auto">
          <a:xfrm>
            <a:off x="966481" y="2463388"/>
            <a:ext cx="10566400" cy="3871913"/>
            <a:chOff x="976400" y="2158506"/>
            <a:chExt cx="10566122" cy="3872131"/>
          </a:xfrm>
        </p:grpSpPr>
        <p:sp>
          <p:nvSpPr>
            <p:cNvPr id="51" name="Content Placeholder 2">
              <a:extLst>
                <a:ext uri="{FF2B5EF4-FFF2-40B4-BE49-F238E27FC236}">
                  <a16:creationId xmlns:a16="http://schemas.microsoft.com/office/drawing/2014/main" id="{FFAA676A-4138-584A-CEC4-6E4DBA899480}"/>
                </a:ext>
              </a:extLst>
            </p:cNvPr>
            <p:cNvSpPr txBox="1">
              <a:spLocks/>
            </p:cNvSpPr>
            <p:nvPr/>
          </p:nvSpPr>
          <p:spPr>
            <a:xfrm>
              <a:off x="998624" y="5046332"/>
              <a:ext cx="1530310" cy="471514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en-US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Light" panose="020B0402020203020204" pitchFamily="34" charset="77"/>
                </a:rPr>
                <a:t>Input layer</a:t>
              </a:r>
            </a:p>
          </p:txBody>
        </p:sp>
        <p:sp>
          <p:nvSpPr>
            <p:cNvPr id="52" name="Content Placeholder 2">
              <a:extLst>
                <a:ext uri="{FF2B5EF4-FFF2-40B4-BE49-F238E27FC236}">
                  <a16:creationId xmlns:a16="http://schemas.microsoft.com/office/drawing/2014/main" id="{F0A65E56-019F-B157-04FB-9EB4C2A603BC}"/>
                </a:ext>
              </a:extLst>
            </p:cNvPr>
            <p:cNvSpPr txBox="1">
              <a:spLocks/>
            </p:cNvSpPr>
            <p:nvPr/>
          </p:nvSpPr>
          <p:spPr>
            <a:xfrm>
              <a:off x="976400" y="2747502"/>
              <a:ext cx="1720805" cy="471514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venir" panose="02000503020000020003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en-US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Light" panose="020B0402020203020204" pitchFamily="34" charset="77"/>
                </a:rPr>
                <a:t>Output layer</a:t>
              </a:r>
            </a:p>
          </p:txBody>
        </p:sp>
        <p:sp>
          <p:nvSpPr>
            <p:cNvPr id="53" name="Rounded Rectangle 69">
              <a:extLst>
                <a:ext uri="{FF2B5EF4-FFF2-40B4-BE49-F238E27FC236}">
                  <a16:creationId xmlns:a16="http://schemas.microsoft.com/office/drawing/2014/main" id="{FDC94BA0-90C2-16C4-5D85-D8389AFF3B76}"/>
                </a:ext>
              </a:extLst>
            </p:cNvPr>
            <p:cNvSpPr/>
            <p:nvPr/>
          </p:nvSpPr>
          <p:spPr>
            <a:xfrm>
              <a:off x="3295676" y="5082846"/>
              <a:ext cx="1196944" cy="330219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0D24434-6689-7821-FE11-0192C5F011CB}"/>
                </a:ext>
              </a:extLst>
            </p:cNvPr>
            <p:cNvSpPr/>
            <p:nvPr/>
          </p:nvSpPr>
          <p:spPr>
            <a:xfrm>
              <a:off x="3400448" y="5136824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961C85B-784C-925D-9A72-C05E678AF3AC}"/>
                </a:ext>
              </a:extLst>
            </p:cNvPr>
            <p:cNvSpPr/>
            <p:nvPr/>
          </p:nvSpPr>
          <p:spPr>
            <a:xfrm>
              <a:off x="3646505" y="5136824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06F8D64-660A-9E83-B436-B5A3632EF2F5}"/>
                </a:ext>
              </a:extLst>
            </p:cNvPr>
            <p:cNvSpPr/>
            <p:nvPr/>
          </p:nvSpPr>
          <p:spPr>
            <a:xfrm>
              <a:off x="3892560" y="5136824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417BF53-0530-C3BD-EEE0-CE93492F5270}"/>
                </a:ext>
              </a:extLst>
            </p:cNvPr>
            <p:cNvSpPr/>
            <p:nvPr/>
          </p:nvSpPr>
          <p:spPr>
            <a:xfrm>
              <a:off x="4144967" y="5136824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94757B1-DF8C-02F9-A527-81B9D2370E60}"/>
                </a:ext>
              </a:extLst>
            </p:cNvPr>
            <p:cNvSpPr/>
            <p:nvPr/>
          </p:nvSpPr>
          <p:spPr>
            <a:xfrm>
              <a:off x="3400448" y="2830057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11613EF-A78E-DC40-2890-0B61877C2371}"/>
                </a:ext>
              </a:extLst>
            </p:cNvPr>
            <p:cNvSpPr/>
            <p:nvPr/>
          </p:nvSpPr>
          <p:spPr>
            <a:xfrm>
              <a:off x="3646505" y="2830057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9A2180E-2433-301C-2BB3-27725519B473}"/>
                </a:ext>
              </a:extLst>
            </p:cNvPr>
            <p:cNvSpPr/>
            <p:nvPr/>
          </p:nvSpPr>
          <p:spPr>
            <a:xfrm>
              <a:off x="3892560" y="2830057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8F9F45E-45F3-630D-5F26-73F866ED5667}"/>
                </a:ext>
              </a:extLst>
            </p:cNvPr>
            <p:cNvSpPr/>
            <p:nvPr/>
          </p:nvSpPr>
          <p:spPr>
            <a:xfrm>
              <a:off x="4144967" y="2830057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2" name="Rounded Rectangle 81">
              <a:extLst>
                <a:ext uri="{FF2B5EF4-FFF2-40B4-BE49-F238E27FC236}">
                  <a16:creationId xmlns:a16="http://schemas.microsoft.com/office/drawing/2014/main" id="{BCDC1629-A785-A900-6202-2AC33C44EA02}"/>
                </a:ext>
              </a:extLst>
            </p:cNvPr>
            <p:cNvSpPr/>
            <p:nvPr/>
          </p:nvSpPr>
          <p:spPr>
            <a:xfrm>
              <a:off x="3179792" y="3923905"/>
              <a:ext cx="1363626" cy="311168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7DF7294-CFCD-9B70-5B4B-FF40DE286916}"/>
                </a:ext>
              </a:extLst>
            </p:cNvPr>
            <p:cNvSpPr/>
            <p:nvPr/>
          </p:nvSpPr>
          <p:spPr>
            <a:xfrm>
              <a:off x="3263927" y="397629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2AE3FAE-80A9-DDD3-0AE0-1B6D9AF8310C}"/>
                </a:ext>
              </a:extLst>
            </p:cNvPr>
            <p:cNvSpPr/>
            <p:nvPr/>
          </p:nvSpPr>
          <p:spPr>
            <a:xfrm>
              <a:off x="3509983" y="397629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4A58EE2-4E49-1E90-9927-8A5523F1DD23}"/>
                </a:ext>
              </a:extLst>
            </p:cNvPr>
            <p:cNvSpPr/>
            <p:nvPr/>
          </p:nvSpPr>
          <p:spPr>
            <a:xfrm>
              <a:off x="3756039" y="397629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6BF5068-DDAC-6F81-8284-03FB7C21CAB1}"/>
                </a:ext>
              </a:extLst>
            </p:cNvPr>
            <p:cNvSpPr/>
            <p:nvPr/>
          </p:nvSpPr>
          <p:spPr>
            <a:xfrm>
              <a:off x="4008445" y="397629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9D7C4C1-FD1F-AF4C-9330-C57D8EE94CD8}"/>
                </a:ext>
              </a:extLst>
            </p:cNvPr>
            <p:cNvSpPr/>
            <p:nvPr/>
          </p:nvSpPr>
          <p:spPr>
            <a:xfrm>
              <a:off x="4267200" y="3979472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8" name="Rounded Rectangle 92">
              <a:extLst>
                <a:ext uri="{FF2B5EF4-FFF2-40B4-BE49-F238E27FC236}">
                  <a16:creationId xmlns:a16="http://schemas.microsoft.com/office/drawing/2014/main" id="{1F1DC4E0-B13F-A8BA-CF74-6926B3CCB2CD}"/>
                </a:ext>
              </a:extLst>
            </p:cNvPr>
            <p:cNvSpPr/>
            <p:nvPr/>
          </p:nvSpPr>
          <p:spPr>
            <a:xfrm>
              <a:off x="3314725" y="2784016"/>
              <a:ext cx="1128683" cy="311168"/>
            </a:xfrm>
            <a:prstGeom prst="roundRect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69" name="Right Arrow 93">
              <a:extLst>
                <a:ext uri="{FF2B5EF4-FFF2-40B4-BE49-F238E27FC236}">
                  <a16:creationId xmlns:a16="http://schemas.microsoft.com/office/drawing/2014/main" id="{74FC8DC3-83F4-0D9B-F038-105A76C98C82}"/>
                </a:ext>
              </a:extLst>
            </p:cNvPr>
            <p:cNvSpPr/>
            <p:nvPr/>
          </p:nvSpPr>
          <p:spPr>
            <a:xfrm rot="16200000">
              <a:off x="3621082" y="3301584"/>
              <a:ext cx="566769" cy="328604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70" name="Right Arrow 94">
              <a:extLst>
                <a:ext uri="{FF2B5EF4-FFF2-40B4-BE49-F238E27FC236}">
                  <a16:creationId xmlns:a16="http://schemas.microsoft.com/office/drawing/2014/main" id="{D630C1A2-42AA-4A71-2CBD-FCCEF6E6DA5E}"/>
                </a:ext>
              </a:extLst>
            </p:cNvPr>
            <p:cNvSpPr/>
            <p:nvPr/>
          </p:nvSpPr>
          <p:spPr>
            <a:xfrm rot="16200000">
              <a:off x="3641718" y="4470051"/>
              <a:ext cx="568357" cy="330191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71" name="Content Placeholder 2">
              <a:extLst>
                <a:ext uri="{FF2B5EF4-FFF2-40B4-BE49-F238E27FC236}">
                  <a16:creationId xmlns:a16="http://schemas.microsoft.com/office/drawing/2014/main" id="{49D42ECD-61F9-EA0E-9C3D-193C8FB4CAA0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111835" y="4427706"/>
              <a:ext cx="701328" cy="503588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72" name="Content Placeholder 2">
              <a:extLst>
                <a:ext uri="{FF2B5EF4-FFF2-40B4-BE49-F238E27FC236}">
                  <a16:creationId xmlns:a16="http://schemas.microsoft.com/office/drawing/2014/main" id="{1070C806-876C-5160-7BD4-844FBD7A5B38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119144" y="3248765"/>
              <a:ext cx="701328" cy="50358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73" name="Content Placeholder 2">
              <a:extLst>
                <a:ext uri="{FF2B5EF4-FFF2-40B4-BE49-F238E27FC236}">
                  <a16:creationId xmlns:a16="http://schemas.microsoft.com/office/drawing/2014/main" id="{698ECA47-6923-4B91-7FE6-8DAEB77D9BEB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171501" y="2158506"/>
              <a:ext cx="1576747" cy="50358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74" name="Rounded Rectangle 98">
              <a:extLst>
                <a:ext uri="{FF2B5EF4-FFF2-40B4-BE49-F238E27FC236}">
                  <a16:creationId xmlns:a16="http://schemas.microsoft.com/office/drawing/2014/main" id="{97B496EB-2B56-4D47-90CD-7F780A5306D8}"/>
                </a:ext>
              </a:extLst>
            </p:cNvPr>
            <p:cNvSpPr/>
            <p:nvPr/>
          </p:nvSpPr>
          <p:spPr>
            <a:xfrm>
              <a:off x="5478432" y="5109835"/>
              <a:ext cx="1196944" cy="330219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E34A42D-8256-C9C9-A3AD-059C150AE029}"/>
                </a:ext>
              </a:extLst>
            </p:cNvPr>
            <p:cNvSpPr/>
            <p:nvPr/>
          </p:nvSpPr>
          <p:spPr>
            <a:xfrm>
              <a:off x="5583204" y="5165400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4BFAB6D-8EFE-17CF-FB1C-A501725BFA54}"/>
                </a:ext>
              </a:extLst>
            </p:cNvPr>
            <p:cNvSpPr/>
            <p:nvPr/>
          </p:nvSpPr>
          <p:spPr>
            <a:xfrm>
              <a:off x="5829259" y="5165400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7A455A7-E5E0-B44A-61C9-5F40C373B708}"/>
                </a:ext>
              </a:extLst>
            </p:cNvPr>
            <p:cNvSpPr/>
            <p:nvPr/>
          </p:nvSpPr>
          <p:spPr>
            <a:xfrm>
              <a:off x="6075316" y="5165400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BD4C29F-9494-2037-0869-830DEEE8CAC7}"/>
                </a:ext>
              </a:extLst>
            </p:cNvPr>
            <p:cNvSpPr/>
            <p:nvPr/>
          </p:nvSpPr>
          <p:spPr>
            <a:xfrm>
              <a:off x="6327721" y="5165400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774B864-C869-6B2A-0D05-554DEDD43DC1}"/>
                </a:ext>
              </a:extLst>
            </p:cNvPr>
            <p:cNvSpPr/>
            <p:nvPr/>
          </p:nvSpPr>
          <p:spPr>
            <a:xfrm>
              <a:off x="5583204" y="2858633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8255633E-2EA9-9498-2BC2-EEF21AF2AE7F}"/>
                </a:ext>
              </a:extLst>
            </p:cNvPr>
            <p:cNvSpPr/>
            <p:nvPr/>
          </p:nvSpPr>
          <p:spPr>
            <a:xfrm>
              <a:off x="5829259" y="2858633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B9DE549-58A5-6B73-E457-1BF503C351E8}"/>
                </a:ext>
              </a:extLst>
            </p:cNvPr>
            <p:cNvSpPr/>
            <p:nvPr/>
          </p:nvSpPr>
          <p:spPr>
            <a:xfrm>
              <a:off x="6075316" y="2858633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85CF84B-FDED-A70C-05E2-51EE625706CA}"/>
                </a:ext>
              </a:extLst>
            </p:cNvPr>
            <p:cNvSpPr/>
            <p:nvPr/>
          </p:nvSpPr>
          <p:spPr>
            <a:xfrm>
              <a:off x="6327721" y="2858633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3" name="Rounded Rectangle 108">
              <a:extLst>
                <a:ext uri="{FF2B5EF4-FFF2-40B4-BE49-F238E27FC236}">
                  <a16:creationId xmlns:a16="http://schemas.microsoft.com/office/drawing/2014/main" id="{7A5903E2-220A-76C9-C732-0132EA530056}"/>
                </a:ext>
              </a:extLst>
            </p:cNvPr>
            <p:cNvSpPr/>
            <p:nvPr/>
          </p:nvSpPr>
          <p:spPr>
            <a:xfrm>
              <a:off x="5362547" y="3950895"/>
              <a:ext cx="1363627" cy="311168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F2A5A45-6AF2-9F5E-5EAB-7D392210EC37}"/>
                </a:ext>
              </a:extLst>
            </p:cNvPr>
            <p:cNvSpPr/>
            <p:nvPr/>
          </p:nvSpPr>
          <p:spPr>
            <a:xfrm>
              <a:off x="5446682" y="4003285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733D9BB-BCE7-02A6-4D72-B5F0E0D81BBE}"/>
                </a:ext>
              </a:extLst>
            </p:cNvPr>
            <p:cNvSpPr/>
            <p:nvPr/>
          </p:nvSpPr>
          <p:spPr>
            <a:xfrm>
              <a:off x="5692738" y="4003285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D803634-A68C-A231-73D7-3E060A86D5DB}"/>
                </a:ext>
              </a:extLst>
            </p:cNvPr>
            <p:cNvSpPr/>
            <p:nvPr/>
          </p:nvSpPr>
          <p:spPr>
            <a:xfrm>
              <a:off x="5940381" y="4003285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58DB054-B6D2-3B9E-383E-49F10A6002D7}"/>
                </a:ext>
              </a:extLst>
            </p:cNvPr>
            <p:cNvSpPr/>
            <p:nvPr/>
          </p:nvSpPr>
          <p:spPr>
            <a:xfrm>
              <a:off x="6191200" y="4003285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8618E18-55AA-2423-A69C-44FF260356EA}"/>
                </a:ext>
              </a:extLst>
            </p:cNvPr>
            <p:cNvSpPr/>
            <p:nvPr/>
          </p:nvSpPr>
          <p:spPr>
            <a:xfrm>
              <a:off x="6449956" y="4006460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9" name="Rounded Rectangle 114">
              <a:extLst>
                <a:ext uri="{FF2B5EF4-FFF2-40B4-BE49-F238E27FC236}">
                  <a16:creationId xmlns:a16="http://schemas.microsoft.com/office/drawing/2014/main" id="{F261F7C9-F903-A41E-8A7A-BC23444A2312}"/>
                </a:ext>
              </a:extLst>
            </p:cNvPr>
            <p:cNvSpPr/>
            <p:nvPr/>
          </p:nvSpPr>
          <p:spPr>
            <a:xfrm>
              <a:off x="5497481" y="2811006"/>
              <a:ext cx="1128682" cy="311168"/>
            </a:xfrm>
            <a:prstGeom prst="roundRect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0" name="Right Arrow 115">
              <a:extLst>
                <a:ext uri="{FF2B5EF4-FFF2-40B4-BE49-F238E27FC236}">
                  <a16:creationId xmlns:a16="http://schemas.microsoft.com/office/drawing/2014/main" id="{E6B8BF69-D72B-6C68-40B9-D841D4FAF2F7}"/>
                </a:ext>
              </a:extLst>
            </p:cNvPr>
            <p:cNvSpPr/>
            <p:nvPr/>
          </p:nvSpPr>
          <p:spPr>
            <a:xfrm rot="16200000">
              <a:off x="5803837" y="3328573"/>
              <a:ext cx="566770" cy="328603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1" name="Right Arrow 116">
              <a:extLst>
                <a:ext uri="{FF2B5EF4-FFF2-40B4-BE49-F238E27FC236}">
                  <a16:creationId xmlns:a16="http://schemas.microsoft.com/office/drawing/2014/main" id="{C61FC44D-5463-3391-3C6A-2EA57980392F}"/>
                </a:ext>
              </a:extLst>
            </p:cNvPr>
            <p:cNvSpPr/>
            <p:nvPr/>
          </p:nvSpPr>
          <p:spPr>
            <a:xfrm rot="16200000">
              <a:off x="5824473" y="4497039"/>
              <a:ext cx="568357" cy="330191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2" name="Content Placeholder 2">
              <a:extLst>
                <a:ext uri="{FF2B5EF4-FFF2-40B4-BE49-F238E27FC236}">
                  <a16:creationId xmlns:a16="http://schemas.microsoft.com/office/drawing/2014/main" id="{32D09249-DF9B-B68D-2695-F98D0FC6730B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294753" y="4454924"/>
              <a:ext cx="701328" cy="503588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93" name="Content Placeholder 2">
              <a:extLst>
                <a:ext uri="{FF2B5EF4-FFF2-40B4-BE49-F238E27FC236}">
                  <a16:creationId xmlns:a16="http://schemas.microsoft.com/office/drawing/2014/main" id="{3572FCCC-CC30-7501-9388-4CC5F5F7F984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302062" y="3275983"/>
              <a:ext cx="701328" cy="503588"/>
            </a:xfrm>
            <a:prstGeom prst="rect">
              <a:avLst/>
            </a:pr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94" name="Rounded Rectangle 142">
              <a:extLst>
                <a:ext uri="{FF2B5EF4-FFF2-40B4-BE49-F238E27FC236}">
                  <a16:creationId xmlns:a16="http://schemas.microsoft.com/office/drawing/2014/main" id="{47EB3686-3D3E-EC2E-2CE7-32AA961FDF92}"/>
                </a:ext>
              </a:extLst>
            </p:cNvPr>
            <p:cNvSpPr/>
            <p:nvPr/>
          </p:nvSpPr>
          <p:spPr>
            <a:xfrm>
              <a:off x="7754847" y="5125711"/>
              <a:ext cx="1195356" cy="330219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D6B9E68-9BBC-54E8-F57B-F3D8F4D2CCAC}"/>
                </a:ext>
              </a:extLst>
            </p:cNvPr>
            <p:cNvSpPr/>
            <p:nvPr/>
          </p:nvSpPr>
          <p:spPr>
            <a:xfrm>
              <a:off x="7859619" y="5181276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ED4FD42-5897-A5F3-15AD-2D6389CDE806}"/>
                </a:ext>
              </a:extLst>
            </p:cNvPr>
            <p:cNvSpPr/>
            <p:nvPr/>
          </p:nvSpPr>
          <p:spPr>
            <a:xfrm>
              <a:off x="8105674" y="5181276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922848A-BF98-B347-C2B3-5BA01711ACD6}"/>
                </a:ext>
              </a:extLst>
            </p:cNvPr>
            <p:cNvSpPr/>
            <p:nvPr/>
          </p:nvSpPr>
          <p:spPr>
            <a:xfrm>
              <a:off x="8351731" y="5181276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B1CFE4D-7F0E-E28D-E135-036F35323319}"/>
                </a:ext>
              </a:extLst>
            </p:cNvPr>
            <p:cNvSpPr/>
            <p:nvPr/>
          </p:nvSpPr>
          <p:spPr>
            <a:xfrm>
              <a:off x="8604136" y="5181276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8807294-A950-D0D1-3349-D0DA68963FA1}"/>
                </a:ext>
              </a:extLst>
            </p:cNvPr>
            <p:cNvSpPr/>
            <p:nvPr/>
          </p:nvSpPr>
          <p:spPr>
            <a:xfrm>
              <a:off x="7859619" y="2874509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9A7CFAE5-0BAB-747F-EE19-673CF3526386}"/>
                </a:ext>
              </a:extLst>
            </p:cNvPr>
            <p:cNvSpPr/>
            <p:nvPr/>
          </p:nvSpPr>
          <p:spPr>
            <a:xfrm>
              <a:off x="8105674" y="2874509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1268622-EBE7-5988-A0B3-F5D06CA9057B}"/>
                </a:ext>
              </a:extLst>
            </p:cNvPr>
            <p:cNvSpPr/>
            <p:nvPr/>
          </p:nvSpPr>
          <p:spPr>
            <a:xfrm>
              <a:off x="8351731" y="2874509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E745B2A-5AAD-AB45-4E06-AA03F5F3FA76}"/>
                </a:ext>
              </a:extLst>
            </p:cNvPr>
            <p:cNvSpPr/>
            <p:nvPr/>
          </p:nvSpPr>
          <p:spPr>
            <a:xfrm>
              <a:off x="8604136" y="2874509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3" name="Rounded Rectangle 152">
              <a:extLst>
                <a:ext uri="{FF2B5EF4-FFF2-40B4-BE49-F238E27FC236}">
                  <a16:creationId xmlns:a16="http://schemas.microsoft.com/office/drawing/2014/main" id="{84AED01B-B33F-5F26-F287-1295F068E7C2}"/>
                </a:ext>
              </a:extLst>
            </p:cNvPr>
            <p:cNvSpPr/>
            <p:nvPr/>
          </p:nvSpPr>
          <p:spPr>
            <a:xfrm>
              <a:off x="7637375" y="3966771"/>
              <a:ext cx="1365214" cy="311168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E3527A3-14B6-53EE-39A3-63C3EA817E04}"/>
                </a:ext>
              </a:extLst>
            </p:cNvPr>
            <p:cNvSpPr/>
            <p:nvPr/>
          </p:nvSpPr>
          <p:spPr>
            <a:xfrm>
              <a:off x="7723097" y="4020749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AECB88C-FC04-311F-052C-46E49E454C80}"/>
                </a:ext>
              </a:extLst>
            </p:cNvPr>
            <p:cNvSpPr/>
            <p:nvPr/>
          </p:nvSpPr>
          <p:spPr>
            <a:xfrm>
              <a:off x="7969153" y="4020749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DA1F516-A532-DE8A-E44A-07B32B32E417}"/>
                </a:ext>
              </a:extLst>
            </p:cNvPr>
            <p:cNvSpPr/>
            <p:nvPr/>
          </p:nvSpPr>
          <p:spPr>
            <a:xfrm>
              <a:off x="8215210" y="4020749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39F12C3-578E-1AF6-47EE-58F2FC18CA42}"/>
                </a:ext>
              </a:extLst>
            </p:cNvPr>
            <p:cNvSpPr/>
            <p:nvPr/>
          </p:nvSpPr>
          <p:spPr>
            <a:xfrm>
              <a:off x="8467615" y="4020749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D1F095B-8771-72B1-5B35-AF783834C065}"/>
                </a:ext>
              </a:extLst>
            </p:cNvPr>
            <p:cNvSpPr/>
            <p:nvPr/>
          </p:nvSpPr>
          <p:spPr>
            <a:xfrm>
              <a:off x="8724783" y="402233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09" name="Rounded Rectangle 158">
              <a:extLst>
                <a:ext uri="{FF2B5EF4-FFF2-40B4-BE49-F238E27FC236}">
                  <a16:creationId xmlns:a16="http://schemas.microsoft.com/office/drawing/2014/main" id="{53B19BF9-65B3-005E-81E6-186BDBC1F787}"/>
                </a:ext>
              </a:extLst>
            </p:cNvPr>
            <p:cNvSpPr/>
            <p:nvPr/>
          </p:nvSpPr>
          <p:spPr>
            <a:xfrm>
              <a:off x="7773896" y="2826882"/>
              <a:ext cx="1127095" cy="311168"/>
            </a:xfrm>
            <a:prstGeom prst="roundRect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10" name="Right Arrow 159">
              <a:extLst>
                <a:ext uri="{FF2B5EF4-FFF2-40B4-BE49-F238E27FC236}">
                  <a16:creationId xmlns:a16="http://schemas.microsoft.com/office/drawing/2014/main" id="{52D60D65-3C4B-83A6-A0F9-B7629003CD86}"/>
                </a:ext>
              </a:extLst>
            </p:cNvPr>
            <p:cNvSpPr/>
            <p:nvPr/>
          </p:nvSpPr>
          <p:spPr>
            <a:xfrm rot="16200000">
              <a:off x="8078664" y="3344449"/>
              <a:ext cx="568357" cy="330191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11" name="Right Arrow 160">
              <a:extLst>
                <a:ext uri="{FF2B5EF4-FFF2-40B4-BE49-F238E27FC236}">
                  <a16:creationId xmlns:a16="http://schemas.microsoft.com/office/drawing/2014/main" id="{C8A7899F-5642-2E91-40D8-96452A01ADF2}"/>
                </a:ext>
              </a:extLst>
            </p:cNvPr>
            <p:cNvSpPr/>
            <p:nvPr/>
          </p:nvSpPr>
          <p:spPr>
            <a:xfrm rot="16200000">
              <a:off x="8100889" y="4514502"/>
              <a:ext cx="566769" cy="328604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12" name="Content Placeholder 2">
              <a:extLst>
                <a:ext uri="{FF2B5EF4-FFF2-40B4-BE49-F238E27FC236}">
                  <a16:creationId xmlns:a16="http://schemas.microsoft.com/office/drawing/2014/main" id="{AAAD0BD2-2B28-8813-5E36-7F5D3E4F011A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570318" y="4471342"/>
              <a:ext cx="701328" cy="503588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13" name="Content Placeholder 2">
              <a:extLst>
                <a:ext uri="{FF2B5EF4-FFF2-40B4-BE49-F238E27FC236}">
                  <a16:creationId xmlns:a16="http://schemas.microsoft.com/office/drawing/2014/main" id="{981051AB-CAF7-7938-151D-00531B016FA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577627" y="3292401"/>
              <a:ext cx="701328" cy="503588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14" name="Rounded Rectangle 164">
              <a:extLst>
                <a:ext uri="{FF2B5EF4-FFF2-40B4-BE49-F238E27FC236}">
                  <a16:creationId xmlns:a16="http://schemas.microsoft.com/office/drawing/2014/main" id="{26381F06-D352-DFF6-5982-51C28D47C295}"/>
                </a:ext>
              </a:extLst>
            </p:cNvPr>
            <p:cNvSpPr/>
            <p:nvPr/>
          </p:nvSpPr>
          <p:spPr>
            <a:xfrm>
              <a:off x="10055073" y="5135237"/>
              <a:ext cx="1196944" cy="330219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798D3C9-683C-59C4-7103-DDF3AE7A2BFD}"/>
                </a:ext>
              </a:extLst>
            </p:cNvPr>
            <p:cNvSpPr/>
            <p:nvPr/>
          </p:nvSpPr>
          <p:spPr>
            <a:xfrm>
              <a:off x="10159845" y="5190802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920A149-C2D9-2B78-4E93-26C9CCB21949}"/>
                </a:ext>
              </a:extLst>
            </p:cNvPr>
            <p:cNvSpPr/>
            <p:nvPr/>
          </p:nvSpPr>
          <p:spPr>
            <a:xfrm>
              <a:off x="10405902" y="5190802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56AECD2-9722-D49F-5265-AFF05F701E1A}"/>
                </a:ext>
              </a:extLst>
            </p:cNvPr>
            <p:cNvSpPr/>
            <p:nvPr/>
          </p:nvSpPr>
          <p:spPr>
            <a:xfrm>
              <a:off x="10651957" y="5190802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6CC89051-78EC-FD70-F409-C1A150083728}"/>
                </a:ext>
              </a:extLst>
            </p:cNvPr>
            <p:cNvSpPr/>
            <p:nvPr/>
          </p:nvSpPr>
          <p:spPr>
            <a:xfrm>
              <a:off x="10904364" y="5190802"/>
              <a:ext cx="203195" cy="2032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1C3B73A-4A6F-A4BC-0F64-1B58F40AC7E5}"/>
                </a:ext>
              </a:extLst>
            </p:cNvPr>
            <p:cNvSpPr/>
            <p:nvPr/>
          </p:nvSpPr>
          <p:spPr>
            <a:xfrm>
              <a:off x="10159845" y="2884035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12D486B-BFAF-6125-F69C-86B3028D351A}"/>
                </a:ext>
              </a:extLst>
            </p:cNvPr>
            <p:cNvSpPr/>
            <p:nvPr/>
          </p:nvSpPr>
          <p:spPr>
            <a:xfrm>
              <a:off x="10405902" y="2884035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690E65A4-D2E2-D4DC-9B4F-F6DA9FAFC6B0}"/>
                </a:ext>
              </a:extLst>
            </p:cNvPr>
            <p:cNvSpPr/>
            <p:nvPr/>
          </p:nvSpPr>
          <p:spPr>
            <a:xfrm>
              <a:off x="10651957" y="2884035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AE1920E3-ED2A-34C4-F1DE-EBA62D13FC0D}"/>
                </a:ext>
              </a:extLst>
            </p:cNvPr>
            <p:cNvSpPr/>
            <p:nvPr/>
          </p:nvSpPr>
          <p:spPr>
            <a:xfrm>
              <a:off x="10904364" y="2884035"/>
              <a:ext cx="203195" cy="203211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3" name="Rounded Rectangle 174">
              <a:extLst>
                <a:ext uri="{FF2B5EF4-FFF2-40B4-BE49-F238E27FC236}">
                  <a16:creationId xmlns:a16="http://schemas.microsoft.com/office/drawing/2014/main" id="{B877CCD4-A91F-92C7-DA70-80430F3C4FB1}"/>
                </a:ext>
              </a:extLst>
            </p:cNvPr>
            <p:cNvSpPr/>
            <p:nvPr/>
          </p:nvSpPr>
          <p:spPr>
            <a:xfrm>
              <a:off x="9939189" y="3976296"/>
              <a:ext cx="1363626" cy="311168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C53E6467-9159-769E-BAA1-5EA1E6DC1114}"/>
                </a:ext>
              </a:extLst>
            </p:cNvPr>
            <p:cNvSpPr/>
            <p:nvPr/>
          </p:nvSpPr>
          <p:spPr>
            <a:xfrm>
              <a:off x="10023324" y="402868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DF91087-B2C8-539E-D9B2-5E8602382C41}"/>
                </a:ext>
              </a:extLst>
            </p:cNvPr>
            <p:cNvSpPr/>
            <p:nvPr/>
          </p:nvSpPr>
          <p:spPr>
            <a:xfrm>
              <a:off x="10269380" y="402868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DF25A5D2-78F6-09DD-F6EF-A364AD55C99E}"/>
                </a:ext>
              </a:extLst>
            </p:cNvPr>
            <p:cNvSpPr/>
            <p:nvPr/>
          </p:nvSpPr>
          <p:spPr>
            <a:xfrm>
              <a:off x="10515436" y="402868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45D17C3-5A63-D798-A770-623362C90566}"/>
                </a:ext>
              </a:extLst>
            </p:cNvPr>
            <p:cNvSpPr/>
            <p:nvPr/>
          </p:nvSpPr>
          <p:spPr>
            <a:xfrm>
              <a:off x="10767842" y="4028686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08195266-05AD-D3B8-0AEE-3948F1D8097C}"/>
                </a:ext>
              </a:extLst>
            </p:cNvPr>
            <p:cNvSpPr/>
            <p:nvPr/>
          </p:nvSpPr>
          <p:spPr>
            <a:xfrm>
              <a:off x="11026598" y="4031861"/>
              <a:ext cx="203195" cy="20321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29" name="Rounded Rectangle 180">
              <a:extLst>
                <a:ext uri="{FF2B5EF4-FFF2-40B4-BE49-F238E27FC236}">
                  <a16:creationId xmlns:a16="http://schemas.microsoft.com/office/drawing/2014/main" id="{A544D399-4A0A-A9AE-A567-1889C33BF706}"/>
                </a:ext>
              </a:extLst>
            </p:cNvPr>
            <p:cNvSpPr/>
            <p:nvPr/>
          </p:nvSpPr>
          <p:spPr>
            <a:xfrm>
              <a:off x="10074123" y="2836407"/>
              <a:ext cx="1128683" cy="311168"/>
            </a:xfrm>
            <a:prstGeom prst="roundRect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30" name="Right Arrow 181">
              <a:extLst>
                <a:ext uri="{FF2B5EF4-FFF2-40B4-BE49-F238E27FC236}">
                  <a16:creationId xmlns:a16="http://schemas.microsoft.com/office/drawing/2014/main" id="{CA5447A4-ED58-8DB2-AF3D-1AF3B9D61DE2}"/>
                </a:ext>
              </a:extLst>
            </p:cNvPr>
            <p:cNvSpPr/>
            <p:nvPr/>
          </p:nvSpPr>
          <p:spPr>
            <a:xfrm rot="16200000">
              <a:off x="10380479" y="3353974"/>
              <a:ext cx="566770" cy="328604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31" name="Right Arrow 182">
              <a:extLst>
                <a:ext uri="{FF2B5EF4-FFF2-40B4-BE49-F238E27FC236}">
                  <a16:creationId xmlns:a16="http://schemas.microsoft.com/office/drawing/2014/main" id="{EFC13B2F-D09F-A9B9-A141-10C9B884E8BD}"/>
                </a:ext>
              </a:extLst>
            </p:cNvPr>
            <p:cNvSpPr/>
            <p:nvPr/>
          </p:nvSpPr>
          <p:spPr>
            <a:xfrm rot="16200000">
              <a:off x="10401116" y="4522441"/>
              <a:ext cx="568357" cy="330191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32" name="Content Placeholder 2">
              <a:extLst>
                <a:ext uri="{FF2B5EF4-FFF2-40B4-BE49-F238E27FC236}">
                  <a16:creationId xmlns:a16="http://schemas.microsoft.com/office/drawing/2014/main" id="{9C500D79-D583-4523-CB06-883C437E7043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9871324" y="4480324"/>
              <a:ext cx="701328" cy="503588"/>
            </a:xfrm>
            <a:prstGeom prst="rect">
              <a:avLst/>
            </a:pr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33" name="Content Placeholder 2">
              <a:extLst>
                <a:ext uri="{FF2B5EF4-FFF2-40B4-BE49-F238E27FC236}">
                  <a16:creationId xmlns:a16="http://schemas.microsoft.com/office/drawing/2014/main" id="{3FFC4C2B-6C37-FEB7-6052-A8A54B5DC3F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9878633" y="3301383"/>
              <a:ext cx="701328" cy="503588"/>
            </a:xfrm>
            <a:prstGeom prst="rect">
              <a:avLst/>
            </a:pr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34" name="Content Placeholder 2">
              <a:extLst>
                <a:ext uri="{FF2B5EF4-FFF2-40B4-BE49-F238E27FC236}">
                  <a16:creationId xmlns:a16="http://schemas.microsoft.com/office/drawing/2014/main" id="{7BC4A72D-4B3E-37BE-A674-010D54ED984B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320293" y="2182406"/>
              <a:ext cx="1576747" cy="503588"/>
            </a:xfrm>
            <a:prstGeom prst="rect">
              <a:avLst/>
            </a:pr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35" name="Content Placeholder 2">
              <a:extLst>
                <a:ext uri="{FF2B5EF4-FFF2-40B4-BE49-F238E27FC236}">
                  <a16:creationId xmlns:a16="http://schemas.microsoft.com/office/drawing/2014/main" id="{C3526176-901B-C6ED-05D7-171489C91095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625349" y="2236681"/>
              <a:ext cx="1576747" cy="503588"/>
            </a:xfrm>
            <a:prstGeom prst="rect">
              <a:avLst/>
            </a:pr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36" name="Content Placeholder 2">
              <a:extLst>
                <a:ext uri="{FF2B5EF4-FFF2-40B4-BE49-F238E27FC236}">
                  <a16:creationId xmlns:a16="http://schemas.microsoft.com/office/drawing/2014/main" id="{7EC4F41B-7AA2-D21A-6C40-2D8263B374F0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9965775" y="2263131"/>
              <a:ext cx="1576747" cy="503588"/>
            </a:xfrm>
            <a:prstGeom prst="rect">
              <a:avLst/>
            </a:pr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37" name="Content Placeholder 2">
              <a:extLst>
                <a:ext uri="{FF2B5EF4-FFF2-40B4-BE49-F238E27FC236}">
                  <a16:creationId xmlns:a16="http://schemas.microsoft.com/office/drawing/2014/main" id="{32C1AC21-AB82-18B0-EF2D-D5A731C12FE5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671005" y="5527049"/>
              <a:ext cx="466367" cy="503588"/>
            </a:xfrm>
            <a:prstGeom prst="rect">
              <a:avLst/>
            </a:pr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38" name="Content Placeholder 2">
              <a:extLst>
                <a:ext uri="{FF2B5EF4-FFF2-40B4-BE49-F238E27FC236}">
                  <a16:creationId xmlns:a16="http://schemas.microsoft.com/office/drawing/2014/main" id="{6B47B4E5-070E-D648-8B36-0A1021389500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862816" y="5494089"/>
              <a:ext cx="466367" cy="503588"/>
            </a:xfrm>
            <a:prstGeom prst="rect">
              <a:avLst/>
            </a:pr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39" name="Content Placeholder 2">
              <a:extLst>
                <a:ext uri="{FF2B5EF4-FFF2-40B4-BE49-F238E27FC236}">
                  <a16:creationId xmlns:a16="http://schemas.microsoft.com/office/drawing/2014/main" id="{C17FE6CC-A138-E857-2D38-E67A579A53EA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166560" y="5504960"/>
              <a:ext cx="466367" cy="503588"/>
            </a:xfrm>
            <a:prstGeom prst="rect">
              <a:avLst/>
            </a:pr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40" name="Content Placeholder 2">
              <a:extLst>
                <a:ext uri="{FF2B5EF4-FFF2-40B4-BE49-F238E27FC236}">
                  <a16:creationId xmlns:a16="http://schemas.microsoft.com/office/drawing/2014/main" id="{34F330CF-504D-1070-D691-14DC5ECDB53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0504866" y="5527049"/>
              <a:ext cx="466367" cy="503588"/>
            </a:xfrm>
            <a:prstGeom prst="rect">
              <a:avLst/>
            </a:pr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41" name="Right Arrow 193">
              <a:extLst>
                <a:ext uri="{FF2B5EF4-FFF2-40B4-BE49-F238E27FC236}">
                  <a16:creationId xmlns:a16="http://schemas.microsoft.com/office/drawing/2014/main" id="{BE122586-0746-5FA3-849B-E2D250EDB8DC}"/>
                </a:ext>
              </a:extLst>
            </p:cNvPr>
            <p:cNvSpPr/>
            <p:nvPr/>
          </p:nvSpPr>
          <p:spPr>
            <a:xfrm>
              <a:off x="4686289" y="3912793"/>
              <a:ext cx="568310" cy="330219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42" name="Content Placeholder 2">
              <a:extLst>
                <a:ext uri="{FF2B5EF4-FFF2-40B4-BE49-F238E27FC236}">
                  <a16:creationId xmlns:a16="http://schemas.microsoft.com/office/drawing/2014/main" id="{EC1F37E8-A48F-BDF1-6A35-282DF17CF850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552600" y="3452828"/>
              <a:ext cx="701328" cy="503588"/>
            </a:xfrm>
            <a:prstGeom prst="rect">
              <a:avLst/>
            </a:pr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43" name="Right Arrow 197">
              <a:extLst>
                <a:ext uri="{FF2B5EF4-FFF2-40B4-BE49-F238E27FC236}">
                  <a16:creationId xmlns:a16="http://schemas.microsoft.com/office/drawing/2014/main" id="{170BC2D5-4398-552D-C0A8-702DA7B4F5A5}"/>
                </a:ext>
              </a:extLst>
            </p:cNvPr>
            <p:cNvSpPr/>
            <p:nvPr/>
          </p:nvSpPr>
          <p:spPr>
            <a:xfrm>
              <a:off x="6884920" y="3954070"/>
              <a:ext cx="568310" cy="330219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44" name="Content Placeholder 2">
              <a:extLst>
                <a:ext uri="{FF2B5EF4-FFF2-40B4-BE49-F238E27FC236}">
                  <a16:creationId xmlns:a16="http://schemas.microsoft.com/office/drawing/2014/main" id="{92D7810F-77FA-7B88-B4D9-EC479DA5F789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51169" y="3494030"/>
              <a:ext cx="701328" cy="503588"/>
            </a:xfrm>
            <a:prstGeom prst="rect">
              <a:avLst/>
            </a:pr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145" name="Right Arrow 199">
              <a:extLst>
                <a:ext uri="{FF2B5EF4-FFF2-40B4-BE49-F238E27FC236}">
                  <a16:creationId xmlns:a16="http://schemas.microsoft.com/office/drawing/2014/main" id="{6AD8029A-A95E-7EE8-C4AB-00292387AB67}"/>
                </a:ext>
              </a:extLst>
            </p:cNvPr>
            <p:cNvSpPr/>
            <p:nvPr/>
          </p:nvSpPr>
          <p:spPr>
            <a:xfrm>
              <a:off x="9172446" y="3976296"/>
              <a:ext cx="568310" cy="328631"/>
            </a:xfrm>
            <a:prstGeom prst="rightArrow">
              <a:avLst>
                <a:gd name="adj1" fmla="val 27574"/>
                <a:gd name="adj2" fmla="val 6962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146" name="Content Placeholder 2">
              <a:extLst>
                <a:ext uri="{FF2B5EF4-FFF2-40B4-BE49-F238E27FC236}">
                  <a16:creationId xmlns:a16="http://schemas.microsoft.com/office/drawing/2014/main" id="{A71563A8-1306-7FD2-EC75-1A2F1F7C5BA4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9038735" y="3515321"/>
              <a:ext cx="701328" cy="503588"/>
            </a:xfrm>
            <a:prstGeom prst="rect">
              <a:avLst/>
            </a:pr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0672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10825-11BA-A448-851C-53A3272E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13">
            <a:extLst>
              <a:ext uri="{FF2B5EF4-FFF2-40B4-BE49-F238E27FC236}">
                <a16:creationId xmlns:a16="http://schemas.microsoft.com/office/drawing/2014/main" id="{A42C4594-5354-DE42-BFA5-63DB97AB5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3917950"/>
            <a:ext cx="1008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RNN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44925C-2901-6CB4-5732-2EFAAB2987CD}"/>
              </a:ext>
            </a:extLst>
          </p:cNvPr>
          <p:cNvSpPr txBox="1">
            <a:spLocks/>
          </p:cNvSpPr>
          <p:nvPr/>
        </p:nvSpPr>
        <p:spPr>
          <a:xfrm>
            <a:off x="1125538" y="5226050"/>
            <a:ext cx="1530350" cy="4714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Input layer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9F8E9C-0B5D-F7D8-5C2C-AF9AFDC3BAD8}"/>
              </a:ext>
            </a:extLst>
          </p:cNvPr>
          <p:cNvSpPr txBox="1">
            <a:spLocks/>
          </p:cNvSpPr>
          <p:nvPr/>
        </p:nvSpPr>
        <p:spPr>
          <a:xfrm>
            <a:off x="1008063" y="4064000"/>
            <a:ext cx="1738312" cy="4714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Hidden layer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2F844D4-B8D8-ABD7-6DCE-6900105F99FF}"/>
              </a:ext>
            </a:extLst>
          </p:cNvPr>
          <p:cNvSpPr txBox="1">
            <a:spLocks/>
          </p:cNvSpPr>
          <p:nvPr/>
        </p:nvSpPr>
        <p:spPr>
          <a:xfrm>
            <a:off x="1103313" y="2927350"/>
            <a:ext cx="1720850" cy="4714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venir Light" panose="020B0402020203020204" pitchFamily="34" charset="77"/>
                <a:ea typeface="+mn-ea"/>
                <a:cs typeface="+mn-cs"/>
              </a:rPr>
              <a:t>Output layer</a:t>
            </a:r>
          </a:p>
        </p:txBody>
      </p:sp>
      <p:sp>
        <p:nvSpPr>
          <p:cNvPr id="8" name="Rounded Rectangle 69">
            <a:extLst>
              <a:ext uri="{FF2B5EF4-FFF2-40B4-BE49-F238E27FC236}">
                <a16:creationId xmlns:a16="http://schemas.microsoft.com/office/drawing/2014/main" id="{873498EC-A55E-F552-E790-594DC4F0827E}"/>
              </a:ext>
            </a:extLst>
          </p:cNvPr>
          <p:cNvSpPr/>
          <p:nvPr/>
        </p:nvSpPr>
        <p:spPr>
          <a:xfrm>
            <a:off x="3422650" y="5262563"/>
            <a:ext cx="1195388" cy="3302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6889A2-9FBD-E241-AEC2-CD16B5A71A1F}"/>
              </a:ext>
            </a:extLst>
          </p:cNvPr>
          <p:cNvSpPr/>
          <p:nvPr/>
        </p:nvSpPr>
        <p:spPr>
          <a:xfrm>
            <a:off x="3527425" y="5318125"/>
            <a:ext cx="203200" cy="2032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6CBCE5-D1E7-D007-7296-726374C127A8}"/>
              </a:ext>
            </a:extLst>
          </p:cNvPr>
          <p:cNvSpPr/>
          <p:nvPr/>
        </p:nvSpPr>
        <p:spPr>
          <a:xfrm>
            <a:off x="3773488" y="5318125"/>
            <a:ext cx="203200" cy="2032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3E848A9-7FB4-2A9B-2E3C-A1B3CA94155E}"/>
              </a:ext>
            </a:extLst>
          </p:cNvPr>
          <p:cNvSpPr/>
          <p:nvPr/>
        </p:nvSpPr>
        <p:spPr>
          <a:xfrm>
            <a:off x="4019550" y="5318125"/>
            <a:ext cx="203200" cy="2032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6E3D15-C8D5-D913-D1F0-380725804D03}"/>
              </a:ext>
            </a:extLst>
          </p:cNvPr>
          <p:cNvSpPr/>
          <p:nvPr/>
        </p:nvSpPr>
        <p:spPr>
          <a:xfrm>
            <a:off x="4271963" y="5318125"/>
            <a:ext cx="203200" cy="2032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CD49E8-3E44-943C-45BD-AAA703BA8F01}"/>
              </a:ext>
            </a:extLst>
          </p:cNvPr>
          <p:cNvSpPr/>
          <p:nvPr/>
        </p:nvSpPr>
        <p:spPr>
          <a:xfrm>
            <a:off x="3527425" y="3011488"/>
            <a:ext cx="203200" cy="2032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17A822-8B40-32DC-6E3E-F738864BAAE3}"/>
              </a:ext>
            </a:extLst>
          </p:cNvPr>
          <p:cNvSpPr/>
          <p:nvPr/>
        </p:nvSpPr>
        <p:spPr>
          <a:xfrm>
            <a:off x="3773488" y="3011488"/>
            <a:ext cx="203200" cy="2032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FAF51B7-C336-E23E-3EB9-A09575733099}"/>
              </a:ext>
            </a:extLst>
          </p:cNvPr>
          <p:cNvSpPr/>
          <p:nvPr/>
        </p:nvSpPr>
        <p:spPr>
          <a:xfrm>
            <a:off x="4019550" y="3011488"/>
            <a:ext cx="203200" cy="2032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E2040D-DAF9-6A8B-8AC2-72D3BE266ECE}"/>
              </a:ext>
            </a:extLst>
          </p:cNvPr>
          <p:cNvSpPr/>
          <p:nvPr/>
        </p:nvSpPr>
        <p:spPr>
          <a:xfrm>
            <a:off x="4271963" y="3011488"/>
            <a:ext cx="203200" cy="203200"/>
          </a:xfrm>
          <a:prstGeom prst="ellipse">
            <a:avLst/>
          </a:prstGeom>
          <a:solidFill>
            <a:srgbClr val="92D050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81">
            <a:extLst>
              <a:ext uri="{FF2B5EF4-FFF2-40B4-BE49-F238E27FC236}">
                <a16:creationId xmlns:a16="http://schemas.microsoft.com/office/drawing/2014/main" id="{83A583EC-F946-12A3-CB59-578F2B6C4E17}"/>
              </a:ext>
            </a:extLst>
          </p:cNvPr>
          <p:cNvSpPr/>
          <p:nvPr/>
        </p:nvSpPr>
        <p:spPr>
          <a:xfrm>
            <a:off x="3306763" y="4103688"/>
            <a:ext cx="1363662" cy="311150"/>
          </a:xfrm>
          <a:prstGeom prst="round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B36B1F-CDC1-B4F8-77F4-5CDA281A3962}"/>
              </a:ext>
            </a:extLst>
          </p:cNvPr>
          <p:cNvSpPr/>
          <p:nvPr/>
        </p:nvSpPr>
        <p:spPr>
          <a:xfrm>
            <a:off x="3390900" y="4156075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6568E3-8235-DDBE-6680-048310754532}"/>
              </a:ext>
            </a:extLst>
          </p:cNvPr>
          <p:cNvSpPr/>
          <p:nvPr/>
        </p:nvSpPr>
        <p:spPr>
          <a:xfrm>
            <a:off x="3636963" y="4156075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7D01A3F-C4F1-49B5-F58A-AD6C5E314C28}"/>
              </a:ext>
            </a:extLst>
          </p:cNvPr>
          <p:cNvSpPr/>
          <p:nvPr/>
        </p:nvSpPr>
        <p:spPr>
          <a:xfrm>
            <a:off x="3883025" y="4156075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908E53-63A2-FBA0-8676-81379A6FCC4C}"/>
              </a:ext>
            </a:extLst>
          </p:cNvPr>
          <p:cNvSpPr/>
          <p:nvPr/>
        </p:nvSpPr>
        <p:spPr>
          <a:xfrm>
            <a:off x="4135438" y="4156075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EAC1672-C969-6EC6-2516-636B8D0B24A7}"/>
              </a:ext>
            </a:extLst>
          </p:cNvPr>
          <p:cNvSpPr/>
          <p:nvPr/>
        </p:nvSpPr>
        <p:spPr>
          <a:xfrm>
            <a:off x="4392613" y="4159250"/>
            <a:ext cx="203200" cy="203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ounded Rectangle 92">
            <a:extLst>
              <a:ext uri="{FF2B5EF4-FFF2-40B4-BE49-F238E27FC236}">
                <a16:creationId xmlns:a16="http://schemas.microsoft.com/office/drawing/2014/main" id="{48C45390-4F33-0829-A80D-CD1441B9EA71}"/>
              </a:ext>
            </a:extLst>
          </p:cNvPr>
          <p:cNvSpPr/>
          <p:nvPr/>
        </p:nvSpPr>
        <p:spPr>
          <a:xfrm>
            <a:off x="3441700" y="2963863"/>
            <a:ext cx="1127125" cy="311150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ight Arrow 93">
            <a:extLst>
              <a:ext uri="{FF2B5EF4-FFF2-40B4-BE49-F238E27FC236}">
                <a16:creationId xmlns:a16="http://schemas.microsoft.com/office/drawing/2014/main" id="{3F8A3854-7480-216F-C8A9-EFEC1E1D505E}"/>
              </a:ext>
            </a:extLst>
          </p:cNvPr>
          <p:cNvSpPr/>
          <p:nvPr/>
        </p:nvSpPr>
        <p:spPr>
          <a:xfrm rot="16200000">
            <a:off x="3747294" y="3480594"/>
            <a:ext cx="566738" cy="330200"/>
          </a:xfrm>
          <a:prstGeom prst="rightArrow">
            <a:avLst>
              <a:gd name="adj1" fmla="val 27574"/>
              <a:gd name="adj2" fmla="val 6962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ight Arrow 94">
            <a:extLst>
              <a:ext uri="{FF2B5EF4-FFF2-40B4-BE49-F238E27FC236}">
                <a16:creationId xmlns:a16="http://schemas.microsoft.com/office/drawing/2014/main" id="{D46C08FC-7CBA-401E-AD55-1C965A63BE9D}"/>
              </a:ext>
            </a:extLst>
          </p:cNvPr>
          <p:cNvSpPr/>
          <p:nvPr/>
        </p:nvSpPr>
        <p:spPr>
          <a:xfrm rot="16200000">
            <a:off x="3768725" y="4651376"/>
            <a:ext cx="566737" cy="328612"/>
          </a:xfrm>
          <a:prstGeom prst="rightArrow">
            <a:avLst>
              <a:gd name="adj1" fmla="val 27574"/>
              <a:gd name="adj2" fmla="val 6962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629D178-2886-6247-7221-071A8A7DE85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38218" y="4607941"/>
            <a:ext cx="701328" cy="50358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B7E68D-9361-9AD4-2F81-3824CFE631F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45527" y="3429000"/>
            <a:ext cx="701328" cy="50358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D31598C-CFD5-523B-D4A5-9DC944E3358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63758" y="2266340"/>
            <a:ext cx="1576747" cy="50358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84AEE1B0-6876-FF1B-AF29-79AB1E40E70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78821" y="3429000"/>
            <a:ext cx="701328" cy="50358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30" name="Curved Up Arrow 2">
            <a:extLst>
              <a:ext uri="{FF2B5EF4-FFF2-40B4-BE49-F238E27FC236}">
                <a16:creationId xmlns:a16="http://schemas.microsoft.com/office/drawing/2014/main" id="{4B2AA769-9225-6E01-5456-3BEE4414E618}"/>
              </a:ext>
            </a:extLst>
          </p:cNvPr>
          <p:cNvSpPr/>
          <p:nvPr/>
        </p:nvSpPr>
        <p:spPr>
          <a:xfrm rot="16200000">
            <a:off x="4680743" y="3869532"/>
            <a:ext cx="773113" cy="704850"/>
          </a:xfrm>
          <a:prstGeom prst="curvedUpArrow">
            <a:avLst>
              <a:gd name="adj1" fmla="val 14218"/>
              <a:gd name="adj2" fmla="val 50000"/>
              <a:gd name="adj3" fmla="val 25000"/>
            </a:avLst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D47217-657E-85E9-2B56-8180646BCA3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33798" y="3059693"/>
            <a:ext cx="6187440" cy="1922449"/>
          </a:xfrm>
          <a:prstGeom prst="rect">
            <a:avLst/>
          </a:prstGeom>
          <a:blipFill>
            <a:blip r:embed="rId7"/>
            <a:stretch>
              <a:fillRect l="-887" r="-591" b="-5079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2A6FBA-F244-EFD1-614B-561E17427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5885"/>
            <a:ext cx="1111091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Words represented as feature vectors</a:t>
            </a:r>
          </a:p>
        </p:txBody>
      </p:sp>
      <p:grpSp>
        <p:nvGrpSpPr>
          <p:cNvPr id="33" name="Group 205">
            <a:extLst>
              <a:ext uri="{FF2B5EF4-FFF2-40B4-BE49-F238E27FC236}">
                <a16:creationId xmlns:a16="http://schemas.microsoft.com/office/drawing/2014/main" id="{71125D00-2505-C2BD-D7A7-54D602CB4F98}"/>
              </a:ext>
            </a:extLst>
          </p:cNvPr>
          <p:cNvGrpSpPr>
            <a:grpSpLocks/>
          </p:cNvGrpSpPr>
          <p:nvPr/>
        </p:nvGrpSpPr>
        <p:grpSpPr bwMode="auto">
          <a:xfrm>
            <a:off x="2168703" y="1263906"/>
            <a:ext cx="7786687" cy="1198563"/>
            <a:chOff x="373063" y="737419"/>
            <a:chExt cx="7787711" cy="11995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B60F915-BD65-4781-3935-A59542F62C97}"/>
                </a:ext>
              </a:extLst>
            </p:cNvPr>
            <p:cNvSpPr/>
            <p:nvPr/>
          </p:nvSpPr>
          <p:spPr>
            <a:xfrm>
              <a:off x="373063" y="737419"/>
              <a:ext cx="7787711" cy="119953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Google Shape;701;p14">
              <a:extLst>
                <a:ext uri="{FF2B5EF4-FFF2-40B4-BE49-F238E27FC236}">
                  <a16:creationId xmlns:a16="http://schemas.microsoft.com/office/drawing/2014/main" id="{29DFC8DB-7845-DD11-4ED6-C959B02E2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64" y="1175811"/>
              <a:ext cx="765006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W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unito Sans" pitchFamily="2" charset="0"/>
                  <a:ea typeface="+mn-ea"/>
                  <a:cs typeface="+mn-cs"/>
                </a:rPr>
                <a:t> = &lt;s&gt;     I       want      Indian      food      &lt;/s&gt;; </a:t>
              </a:r>
            </a:p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	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 pitchFamily="2" charset="0"/>
                <a:ea typeface="+mn-ea"/>
                <a:cs typeface="+mn-cs"/>
                <a:sym typeface="Nunito Sans" pitchFamily="2" charset="0"/>
              </a:endParaRPr>
            </a:p>
          </p:txBody>
        </p:sp>
        <p:grpSp>
          <p:nvGrpSpPr>
            <p:cNvPr id="36" name="Group 208">
              <a:extLst>
                <a:ext uri="{FF2B5EF4-FFF2-40B4-BE49-F238E27FC236}">
                  <a16:creationId xmlns:a16="http://schemas.microsoft.com/office/drawing/2014/main" id="{1C15127D-BE27-313A-323E-BFC571C746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1448" y="1248940"/>
              <a:ext cx="4521471" cy="577089"/>
              <a:chOff x="1716815" y="1435753"/>
              <a:chExt cx="4521471" cy="577089"/>
            </a:xfrm>
          </p:grpSpPr>
          <p:sp>
            <p:nvSpPr>
              <p:cNvPr id="37" name="TextBox 209">
                <a:extLst>
                  <a:ext uri="{FF2B5EF4-FFF2-40B4-BE49-F238E27FC236}">
                    <a16:creationId xmlns:a16="http://schemas.microsoft.com/office/drawing/2014/main" id="{45225AAF-1598-8AFC-0E7A-131965694D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6815" y="1489622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8" name="TextBox 210">
                <a:extLst>
                  <a:ext uri="{FF2B5EF4-FFF2-40B4-BE49-F238E27FC236}">
                    <a16:creationId xmlns:a16="http://schemas.microsoft.com/office/drawing/2014/main" id="{DE14C56C-967C-B833-EDAB-CD0ECFB00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2274" y="1477436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9" name="TextBox 211">
                <a:extLst>
                  <a:ext uri="{FF2B5EF4-FFF2-40B4-BE49-F238E27FC236}">
                    <a16:creationId xmlns:a16="http://schemas.microsoft.com/office/drawing/2014/main" id="{94A55B9E-B801-A01B-F0FC-9A3B0EDCA2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5801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0" name="TextBox 212">
                <a:extLst>
                  <a:ext uri="{FF2B5EF4-FFF2-40B4-BE49-F238E27FC236}">
                    <a16:creationId xmlns:a16="http://schemas.microsoft.com/office/drawing/2014/main" id="{45215DDC-726A-2264-5175-AD21A1892F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3602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84075F2E-D397-E204-9353-DCDF5487E60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Language Models - RNN </a:t>
            </a:r>
          </a:p>
        </p:txBody>
      </p:sp>
    </p:spTree>
    <p:extLst>
      <p:ext uri="{BB962C8B-B14F-4D97-AF65-F5344CB8AC3E}">
        <p14:creationId xmlns:p14="http://schemas.microsoft.com/office/powerpoint/2010/main" val="872759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AF084-9113-4F38-88DE-65664A24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205">
            <a:extLst>
              <a:ext uri="{FF2B5EF4-FFF2-40B4-BE49-F238E27FC236}">
                <a16:creationId xmlns:a16="http://schemas.microsoft.com/office/drawing/2014/main" id="{9443098F-22B9-A76A-80C1-0819B4C7DA40}"/>
              </a:ext>
            </a:extLst>
          </p:cNvPr>
          <p:cNvGrpSpPr>
            <a:grpSpLocks/>
          </p:cNvGrpSpPr>
          <p:nvPr/>
        </p:nvGrpSpPr>
        <p:grpSpPr bwMode="auto">
          <a:xfrm>
            <a:off x="2202656" y="664139"/>
            <a:ext cx="7786687" cy="1198563"/>
            <a:chOff x="373063" y="737419"/>
            <a:chExt cx="7787711" cy="11995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7B8E390-E20A-3188-6025-0B663A8E1368}"/>
                </a:ext>
              </a:extLst>
            </p:cNvPr>
            <p:cNvSpPr/>
            <p:nvPr/>
          </p:nvSpPr>
          <p:spPr>
            <a:xfrm>
              <a:off x="373063" y="737419"/>
              <a:ext cx="7787711" cy="119953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Google Shape;701;p14">
              <a:extLst>
                <a:ext uri="{FF2B5EF4-FFF2-40B4-BE49-F238E27FC236}">
                  <a16:creationId xmlns:a16="http://schemas.microsoft.com/office/drawing/2014/main" id="{B5DC2450-9136-1E69-01D5-A57FE1E58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64" y="1175811"/>
              <a:ext cx="765006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marL="342900" indent="-3429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W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unito Sans" pitchFamily="2" charset="0"/>
                  <a:ea typeface="+mn-ea"/>
                  <a:cs typeface="+mn-cs"/>
                </a:rPr>
                <a:t> = &lt;s&gt;     I       want      Indian      food      &lt;/s&gt;; </a:t>
              </a:r>
            </a:p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	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 pitchFamily="2" charset="0"/>
                <a:ea typeface="+mn-ea"/>
                <a:cs typeface="+mn-cs"/>
                <a:sym typeface="Nunito Sans" pitchFamily="2" charset="0"/>
              </a:endParaRPr>
            </a:p>
          </p:txBody>
        </p:sp>
        <p:grpSp>
          <p:nvGrpSpPr>
            <p:cNvPr id="36" name="Group 208">
              <a:extLst>
                <a:ext uri="{FF2B5EF4-FFF2-40B4-BE49-F238E27FC236}">
                  <a16:creationId xmlns:a16="http://schemas.microsoft.com/office/drawing/2014/main" id="{AD07006D-EE46-351C-2A1A-76ABA00A4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1448" y="1248940"/>
              <a:ext cx="4521471" cy="577089"/>
              <a:chOff x="1716815" y="1435753"/>
              <a:chExt cx="4521471" cy="577089"/>
            </a:xfrm>
          </p:grpSpPr>
          <p:sp>
            <p:nvSpPr>
              <p:cNvPr id="37" name="TextBox 209">
                <a:extLst>
                  <a:ext uri="{FF2B5EF4-FFF2-40B4-BE49-F238E27FC236}">
                    <a16:creationId xmlns:a16="http://schemas.microsoft.com/office/drawing/2014/main" id="{948DF675-A153-6136-82E1-31B7B93B1F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6815" y="1489622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8" name="TextBox 210">
                <a:extLst>
                  <a:ext uri="{FF2B5EF4-FFF2-40B4-BE49-F238E27FC236}">
                    <a16:creationId xmlns:a16="http://schemas.microsoft.com/office/drawing/2014/main" id="{BC972C19-5300-9545-3F3A-CDCDA6F107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2274" y="1477436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9" name="TextBox 211">
                <a:extLst>
                  <a:ext uri="{FF2B5EF4-FFF2-40B4-BE49-F238E27FC236}">
                    <a16:creationId xmlns:a16="http://schemas.microsoft.com/office/drawing/2014/main" id="{0F164E96-AD01-3FAF-4D8A-3115DD3C96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5801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0" name="TextBox 212">
                <a:extLst>
                  <a:ext uri="{FF2B5EF4-FFF2-40B4-BE49-F238E27FC236}">
                    <a16:creationId xmlns:a16="http://schemas.microsoft.com/office/drawing/2014/main" id="{8751EE29-B77B-475C-5423-A5E98246D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3602" y="1435753"/>
                <a:ext cx="6046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w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FCF2616B-2D8E-20A2-700D-D758B4EC51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Language Models - LSTM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D58A12-6568-42D0-1E4E-BD756D2A7139}"/>
              </a:ext>
            </a:extLst>
          </p:cNvPr>
          <p:cNvGrpSpPr/>
          <p:nvPr/>
        </p:nvGrpSpPr>
        <p:grpSpPr>
          <a:xfrm>
            <a:off x="2585883" y="2300737"/>
            <a:ext cx="7265827" cy="3126669"/>
            <a:chOff x="1493520" y="2761398"/>
            <a:chExt cx="6197600" cy="23399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EC317B9-BA42-399C-B085-7390C9F0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520" y="2761398"/>
              <a:ext cx="6197600" cy="2002626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470FD7-2279-2DB6-CF62-627C8CA366DC}"/>
                </a:ext>
              </a:extLst>
            </p:cNvPr>
            <p:cNvSpPr txBox="1"/>
            <p:nvPr/>
          </p:nvSpPr>
          <p:spPr>
            <a:xfrm>
              <a:off x="2987040" y="4732020"/>
              <a:ext cx="4704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x1                                     x2                                   x3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1508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A783-A686-F72C-74BA-59C33FEC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622BA5-7223-62A9-ED1F-12256DA147E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Language Models - Limitations</a:t>
            </a:r>
          </a:p>
        </p:txBody>
      </p:sp>
      <p:sp>
        <p:nvSpPr>
          <p:cNvPr id="3" name="Shape 54">
            <a:extLst>
              <a:ext uri="{FF2B5EF4-FFF2-40B4-BE49-F238E27FC236}">
                <a16:creationId xmlns:a16="http://schemas.microsoft.com/office/drawing/2014/main" id="{D57B3CF3-2C28-49A8-B3E6-3869FE749EA1}"/>
              </a:ext>
            </a:extLst>
          </p:cNvPr>
          <p:cNvSpPr/>
          <p:nvPr/>
        </p:nvSpPr>
        <p:spPr>
          <a:xfrm>
            <a:off x="571500" y="1510284"/>
            <a:ext cx="658368" cy="65836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55">
            <a:extLst>
              <a:ext uri="{FF2B5EF4-FFF2-40B4-BE49-F238E27FC236}">
                <a16:creationId xmlns:a16="http://schemas.microsoft.com/office/drawing/2014/main" id="{C77C2CA5-BA3D-93FF-B36F-5A614D190447}"/>
              </a:ext>
            </a:extLst>
          </p:cNvPr>
          <p:cNvSpPr/>
          <p:nvPr/>
        </p:nvSpPr>
        <p:spPr>
          <a:xfrm>
            <a:off x="571500" y="15102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6">
            <a:extLst>
              <a:ext uri="{FF2B5EF4-FFF2-40B4-BE49-F238E27FC236}">
                <a16:creationId xmlns:a16="http://schemas.microsoft.com/office/drawing/2014/main" id="{598A4B9D-C3E4-B1B5-A056-654B3CC258DD}"/>
              </a:ext>
            </a:extLst>
          </p:cNvPr>
          <p:cNvSpPr/>
          <p:nvPr/>
        </p:nvSpPr>
        <p:spPr>
          <a:xfrm>
            <a:off x="1229868" y="1839468"/>
            <a:ext cx="201168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57">
            <a:extLst>
              <a:ext uri="{FF2B5EF4-FFF2-40B4-BE49-F238E27FC236}">
                <a16:creationId xmlns:a16="http://schemas.microsoft.com/office/drawing/2014/main" id="{7CEF9E2A-1ABA-2997-8BA7-EBAF4E157002}"/>
              </a:ext>
            </a:extLst>
          </p:cNvPr>
          <p:cNvSpPr/>
          <p:nvPr/>
        </p:nvSpPr>
        <p:spPr>
          <a:xfrm>
            <a:off x="1485899" y="1464564"/>
            <a:ext cx="44567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Slow in training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58">
            <a:extLst>
              <a:ext uri="{FF2B5EF4-FFF2-40B4-BE49-F238E27FC236}">
                <a16:creationId xmlns:a16="http://schemas.microsoft.com/office/drawing/2014/main" id="{5202C791-AF72-AEE8-F982-2B32C4C37C7E}"/>
              </a:ext>
            </a:extLst>
          </p:cNvPr>
          <p:cNvSpPr/>
          <p:nvPr/>
        </p:nvSpPr>
        <p:spPr>
          <a:xfrm>
            <a:off x="1485899" y="1766316"/>
            <a:ext cx="830702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5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processing prevents parallelization across time steps.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59">
            <a:extLst>
              <a:ext uri="{FF2B5EF4-FFF2-40B4-BE49-F238E27FC236}">
                <a16:creationId xmlns:a16="http://schemas.microsoft.com/office/drawing/2014/main" id="{1F586D9D-EA79-909B-231B-29D461C4B08A}"/>
              </a:ext>
            </a:extLst>
          </p:cNvPr>
          <p:cNvSpPr/>
          <p:nvPr/>
        </p:nvSpPr>
        <p:spPr>
          <a:xfrm>
            <a:off x="571500" y="3099816"/>
            <a:ext cx="658368" cy="65836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FBB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60">
            <a:extLst>
              <a:ext uri="{FF2B5EF4-FFF2-40B4-BE49-F238E27FC236}">
                <a16:creationId xmlns:a16="http://schemas.microsoft.com/office/drawing/2014/main" id="{0D6B0165-A93A-0336-DCD6-22E66BD80142}"/>
              </a:ext>
            </a:extLst>
          </p:cNvPr>
          <p:cNvSpPr/>
          <p:nvPr/>
        </p:nvSpPr>
        <p:spPr>
          <a:xfrm>
            <a:off x="571500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61">
            <a:extLst>
              <a:ext uri="{FF2B5EF4-FFF2-40B4-BE49-F238E27FC236}">
                <a16:creationId xmlns:a16="http://schemas.microsoft.com/office/drawing/2014/main" id="{ADDFAF86-28B9-365D-959E-047348A472C3}"/>
              </a:ext>
            </a:extLst>
          </p:cNvPr>
          <p:cNvSpPr/>
          <p:nvPr/>
        </p:nvSpPr>
        <p:spPr>
          <a:xfrm>
            <a:off x="1229868" y="3429000"/>
            <a:ext cx="201168" cy="0"/>
          </a:xfrm>
          <a:prstGeom prst="line">
            <a:avLst/>
          </a:prstGeom>
          <a:noFill/>
          <a:ln w="19050">
            <a:solidFill>
              <a:srgbClr val="5FBB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62">
            <a:extLst>
              <a:ext uri="{FF2B5EF4-FFF2-40B4-BE49-F238E27FC236}">
                <a16:creationId xmlns:a16="http://schemas.microsoft.com/office/drawing/2014/main" id="{E29A7253-180C-5E25-D9C1-D3DD69A9A025}"/>
              </a:ext>
            </a:extLst>
          </p:cNvPr>
          <p:cNvSpPr/>
          <p:nvPr/>
        </p:nvSpPr>
        <p:spPr>
          <a:xfrm>
            <a:off x="1485899" y="3054096"/>
            <a:ext cx="44567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Vanishing / exploding gradients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63">
            <a:extLst>
              <a:ext uri="{FF2B5EF4-FFF2-40B4-BE49-F238E27FC236}">
                <a16:creationId xmlns:a16="http://schemas.microsoft.com/office/drawing/2014/main" id="{70E3A405-3F37-6687-E9BA-205385DA43BD}"/>
              </a:ext>
            </a:extLst>
          </p:cNvPr>
          <p:cNvSpPr/>
          <p:nvPr/>
        </p:nvSpPr>
        <p:spPr>
          <a:xfrm>
            <a:off x="1485899" y="3355848"/>
            <a:ext cx="8896965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5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Gradients can shrink or blow up as they propagate across many steps.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64">
            <a:extLst>
              <a:ext uri="{FF2B5EF4-FFF2-40B4-BE49-F238E27FC236}">
                <a16:creationId xmlns:a16="http://schemas.microsoft.com/office/drawing/2014/main" id="{EB685168-1E1D-5CBD-DF92-D085F8B87070}"/>
              </a:ext>
            </a:extLst>
          </p:cNvPr>
          <p:cNvSpPr/>
          <p:nvPr/>
        </p:nvSpPr>
        <p:spPr>
          <a:xfrm>
            <a:off x="571500" y="4724400"/>
            <a:ext cx="658368" cy="65836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2B8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65">
            <a:extLst>
              <a:ext uri="{FF2B5EF4-FFF2-40B4-BE49-F238E27FC236}">
                <a16:creationId xmlns:a16="http://schemas.microsoft.com/office/drawing/2014/main" id="{997F13EB-EC6D-CEA0-6453-37DFD77B215D}"/>
              </a:ext>
            </a:extLst>
          </p:cNvPr>
          <p:cNvSpPr/>
          <p:nvPr/>
        </p:nvSpPr>
        <p:spPr>
          <a:xfrm>
            <a:off x="571500" y="472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66">
            <a:extLst>
              <a:ext uri="{FF2B5EF4-FFF2-40B4-BE49-F238E27FC236}">
                <a16:creationId xmlns:a16="http://schemas.microsoft.com/office/drawing/2014/main" id="{219CB2A3-1CCD-D34B-EBCF-B276696BEEF7}"/>
              </a:ext>
            </a:extLst>
          </p:cNvPr>
          <p:cNvSpPr/>
          <p:nvPr/>
        </p:nvSpPr>
        <p:spPr>
          <a:xfrm>
            <a:off x="1229868" y="5053584"/>
            <a:ext cx="201168" cy="0"/>
          </a:xfrm>
          <a:prstGeom prst="line">
            <a:avLst/>
          </a:prstGeom>
          <a:noFill/>
          <a:ln w="19050">
            <a:solidFill>
              <a:srgbClr val="12B8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67">
            <a:extLst>
              <a:ext uri="{FF2B5EF4-FFF2-40B4-BE49-F238E27FC236}">
                <a16:creationId xmlns:a16="http://schemas.microsoft.com/office/drawing/2014/main" id="{B6C7BC9B-416B-491E-6E89-E996FE013FDD}"/>
              </a:ext>
            </a:extLst>
          </p:cNvPr>
          <p:cNvSpPr/>
          <p:nvPr/>
        </p:nvSpPr>
        <p:spPr>
          <a:xfrm>
            <a:off x="1485899" y="4678680"/>
            <a:ext cx="44567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1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Limited long-range context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68">
            <a:extLst>
              <a:ext uri="{FF2B5EF4-FFF2-40B4-BE49-F238E27FC236}">
                <a16:creationId xmlns:a16="http://schemas.microsoft.com/office/drawing/2014/main" id="{7ECC549E-5D8E-AED5-C144-DD703146FD7A}"/>
              </a:ext>
            </a:extLst>
          </p:cNvPr>
          <p:cNvSpPr/>
          <p:nvPr/>
        </p:nvSpPr>
        <p:spPr>
          <a:xfrm>
            <a:off x="1485900" y="4960620"/>
            <a:ext cx="70583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5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Issues with making use of long-range context in practice.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438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52E59-57CC-A4AA-C551-6D9C177B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84EE80C7-53C0-D7CD-C966-72FDDC709FA1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FA5698-3940-1F13-CA30-B1FB21F49126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A099C5-EFB6-A427-1BEF-96D863B48555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C22CAB-A87B-6DC7-2CEF-D7D2EAE93F66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BC2F22E-E231-8099-4835-5FD406DD59BD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/>
              <a:t>ection 1: Evolution of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Part 3: Introduction to Large Language Models (LLMs)</a:t>
            </a:r>
          </a:p>
        </p:txBody>
      </p:sp>
    </p:spTree>
    <p:extLst>
      <p:ext uri="{BB962C8B-B14F-4D97-AF65-F5344CB8AC3E}">
        <p14:creationId xmlns:p14="http://schemas.microsoft.com/office/powerpoint/2010/main" val="1347625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7F1D-38A6-9226-8CE2-8A4749DC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5660-75EC-9B27-BB8D-2104FF8B69A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Language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94615-E457-8B2C-C892-C3DDE4DA2FD5}"/>
              </a:ext>
            </a:extLst>
          </p:cNvPr>
          <p:cNvSpPr txBox="1"/>
          <p:nvPr/>
        </p:nvSpPr>
        <p:spPr>
          <a:xfrm>
            <a:off x="-1" y="593313"/>
            <a:ext cx="1209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LLMs are Language Models scaled to a much larger size and capability.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09BCE-5A40-4258-BE8E-F93DD56B167E}"/>
              </a:ext>
            </a:extLst>
          </p:cNvPr>
          <p:cNvSpPr txBox="1"/>
          <p:nvPr/>
        </p:nvSpPr>
        <p:spPr>
          <a:xfrm>
            <a:off x="0" y="1054978"/>
            <a:ext cx="12192000" cy="3682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More Data !</a:t>
            </a:r>
            <a:r>
              <a:rPr lang="en-IN" sz="2400" dirty="0"/>
              <a:t> Availability of web-scale text, books, scientific literature, and code repositories.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More Compute ! </a:t>
            </a:r>
            <a:r>
              <a:rPr lang="en-IN" sz="2400" dirty="0"/>
              <a:t> Advances in GPUs, TPUs, and distributed training enabled models with billions of parameters.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Better Architectures !</a:t>
            </a:r>
            <a:r>
              <a:rPr lang="en-IN" sz="2400" dirty="0"/>
              <a:t> Improved neural network architectures, particularly the </a:t>
            </a:r>
            <a:r>
              <a:rPr lang="en-IN" sz="2400" b="1" dirty="0"/>
              <a:t>Transformer</a:t>
            </a:r>
            <a:r>
              <a:rPr lang="en-IN" sz="2400" dirty="0"/>
              <a:t>, enabled efficient learning from massive datasets and long-range context.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C2B755-3011-6420-39D2-E6875C4E5ABC}"/>
              </a:ext>
            </a:extLst>
          </p:cNvPr>
          <p:cNvSpPr/>
          <p:nvPr/>
        </p:nvSpPr>
        <p:spPr>
          <a:xfrm>
            <a:off x="351321" y="5274645"/>
            <a:ext cx="2338939" cy="77002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Language Model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(Transformer Based)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BA98E8-1799-DD2F-BC4D-A1C1FBEFD5A7}"/>
              </a:ext>
            </a:extLst>
          </p:cNvPr>
          <p:cNvSpPr/>
          <p:nvPr/>
        </p:nvSpPr>
        <p:spPr>
          <a:xfrm>
            <a:off x="3246921" y="5274645"/>
            <a:ext cx="2338939" cy="77002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(Massive)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D0173B-102F-E9FF-F2D2-FFD6397AA8FE}"/>
              </a:ext>
            </a:extLst>
          </p:cNvPr>
          <p:cNvSpPr/>
          <p:nvPr/>
        </p:nvSpPr>
        <p:spPr>
          <a:xfrm>
            <a:off x="6096000" y="5274645"/>
            <a:ext cx="2338939" cy="77002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Compute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(TPU)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8BAF75-3EFC-34E7-ACA2-15F7D81C6DEC}"/>
              </a:ext>
            </a:extLst>
          </p:cNvPr>
          <p:cNvSpPr txBox="1"/>
          <p:nvPr/>
        </p:nvSpPr>
        <p:spPr>
          <a:xfrm>
            <a:off x="2730366" y="5336489"/>
            <a:ext cx="470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+</a:t>
            </a:r>
            <a:endParaRPr lang="en-IN"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E8F286-A737-B882-304A-14ACBE4EB6C1}"/>
              </a:ext>
            </a:extLst>
          </p:cNvPr>
          <p:cNvSpPr txBox="1"/>
          <p:nvPr/>
        </p:nvSpPr>
        <p:spPr>
          <a:xfrm>
            <a:off x="5623560" y="5336489"/>
            <a:ext cx="470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+</a:t>
            </a:r>
            <a:endParaRPr lang="en-IN" sz="3600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11AFB39-B224-286E-9127-5778121DA339}"/>
              </a:ext>
            </a:extLst>
          </p:cNvPr>
          <p:cNvSpPr/>
          <p:nvPr/>
        </p:nvSpPr>
        <p:spPr>
          <a:xfrm>
            <a:off x="8860053" y="5336489"/>
            <a:ext cx="1020278" cy="539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7BA52E-2713-B6BE-52A1-88DB0C1F0ECF}"/>
              </a:ext>
            </a:extLst>
          </p:cNvPr>
          <p:cNvSpPr txBox="1"/>
          <p:nvPr/>
        </p:nvSpPr>
        <p:spPr>
          <a:xfrm>
            <a:off x="9855466" y="5282830"/>
            <a:ext cx="2081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Large</a:t>
            </a:r>
          </a:p>
          <a:p>
            <a:pPr algn="ctr"/>
            <a:r>
              <a:rPr lang="en-US" b="1" dirty="0"/>
              <a:t>Language Models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067135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4A78C12-7EA4-FFFC-F612-6EFE58B5646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Large Language Model?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DF69F-1571-E5F5-FB77-74169FF6AEC7}"/>
              </a:ext>
            </a:extLst>
          </p:cNvPr>
          <p:cNvSpPr txBox="1"/>
          <p:nvPr/>
        </p:nvSpPr>
        <p:spPr>
          <a:xfrm>
            <a:off x="1" y="415513"/>
            <a:ext cx="12191999" cy="549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 </a:t>
            </a:r>
            <a:r>
              <a:rPr lang="en-IN" sz="2400" b="1" dirty="0"/>
              <a:t>Large Language Model (LLM)</a:t>
            </a:r>
            <a:r>
              <a:rPr lang="en-IN" sz="2400" dirty="0"/>
              <a:t>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neural language model trained on massive datasets using the Transformer architecture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scaled with billions of parameters to understand and generate human language</a:t>
            </a:r>
          </a:p>
          <a:p>
            <a:pPr>
              <a:spcBef>
                <a:spcPts val="800"/>
              </a:spcBef>
            </a:pPr>
            <a:r>
              <a:rPr lang="en-IN" sz="2400" b="1" dirty="0"/>
              <a:t>Key Characteristics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Trained on massive text corpora.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Built using the Transformer architecture.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Contains millions to billions of parameters.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Learns general language patterns.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u="sng" dirty="0"/>
              <a:t>Performs multiple NLP tasks using a single model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9493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F0E015-5364-D66A-F872-615508C810D3}"/>
              </a:ext>
            </a:extLst>
          </p:cNvPr>
          <p:cNvSpPr txBox="1"/>
          <p:nvPr/>
        </p:nvSpPr>
        <p:spPr>
          <a:xfrm>
            <a:off x="0" y="-97722"/>
            <a:ext cx="83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 of Modern LLM Training</a:t>
            </a:r>
            <a:endParaRPr lang="en-IN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87927D-28EE-60C8-EE8B-70C42D236B8F}"/>
              </a:ext>
            </a:extLst>
          </p:cNvPr>
          <p:cNvGraphicFramePr>
            <a:graphicFrameLocks noGrp="1"/>
          </p:cNvGraphicFramePr>
          <p:nvPr/>
        </p:nvGraphicFramePr>
        <p:xfrm>
          <a:off x="407470" y="1005840"/>
          <a:ext cx="11377060" cy="4846320"/>
        </p:xfrm>
        <a:graphic>
          <a:graphicData uri="http://schemas.openxmlformats.org/drawingml/2006/table">
            <a:tbl>
              <a:tblPr/>
              <a:tblGrid>
                <a:gridCol w="2281187">
                  <a:extLst>
                    <a:ext uri="{9D8B030D-6E8A-4147-A177-3AD203B41FA5}">
                      <a16:colId xmlns:a16="http://schemas.microsoft.com/office/drawing/2014/main" val="2810643811"/>
                    </a:ext>
                  </a:extLst>
                </a:gridCol>
                <a:gridCol w="2521819">
                  <a:extLst>
                    <a:ext uri="{9D8B030D-6E8A-4147-A177-3AD203B41FA5}">
                      <a16:colId xmlns:a16="http://schemas.microsoft.com/office/drawing/2014/main" val="1936475075"/>
                    </a:ext>
                  </a:extLst>
                </a:gridCol>
                <a:gridCol w="3729789">
                  <a:extLst>
                    <a:ext uri="{9D8B030D-6E8A-4147-A177-3AD203B41FA5}">
                      <a16:colId xmlns:a16="http://schemas.microsoft.com/office/drawing/2014/main" val="1094605160"/>
                    </a:ext>
                  </a:extLst>
                </a:gridCol>
                <a:gridCol w="2844265">
                  <a:extLst>
                    <a:ext uri="{9D8B030D-6E8A-4147-A177-3AD203B41FA5}">
                      <a16:colId xmlns:a16="http://schemas.microsoft.com/office/drawing/2014/main" val="3035718921"/>
                    </a:ext>
                  </a:extLst>
                </a:gridCol>
              </a:tblGrid>
              <a:tr h="69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Parameters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Training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Compute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934471"/>
                  </a:ext>
                </a:extLst>
              </a:tr>
              <a:tr h="719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GPT-3 (2020)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175 Billion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~300 Billion 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Large GPU supercomputers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0475"/>
                  </a:ext>
                </a:extLst>
              </a:tr>
              <a:tr h="10277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Llama 3.1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405 Billion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~15 Trillion 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Meta's large-scale GPU clusters (~24K GPUs reported)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45265"/>
                  </a:ext>
                </a:extLst>
              </a:tr>
              <a:tr h="719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Claude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Not publicly disclosed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Public web, text, code, multimedia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Large GPU clusters (details undisclosed)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666930"/>
                  </a:ext>
                </a:extLst>
              </a:tr>
              <a:tr h="10277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Gemini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Not publicly disclosed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Text, images, code, video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Google's TPU infrastructure (details undisclosed)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806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4968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33C3A-B1EC-DE7E-866A-38A5BC0C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38F4-FFAC-3F48-EBCC-7ABDADFFF5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Capabilities of LLMs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E43B3-C46A-8368-674D-E78980ED0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2" y="657038"/>
            <a:ext cx="11182995" cy="587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15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F994-E5CF-6B20-7AA9-2403B5E7C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E925CA-D4D9-2908-C1D7-69D569A3D56E}"/>
              </a:ext>
            </a:extLst>
          </p:cNvPr>
          <p:cNvSpPr txBox="1"/>
          <p:nvPr/>
        </p:nvSpPr>
        <p:spPr>
          <a:xfrm>
            <a:off x="0" y="-97722"/>
            <a:ext cx="744995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Major LLMs</a:t>
            </a:r>
            <a:endParaRPr lang="en-IN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6F2D84-D94F-5C58-37DC-476BBD71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0" y="794560"/>
            <a:ext cx="11857339" cy="52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257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6EF731-90AB-C34D-52DB-E0D185578630}"/>
              </a:ext>
            </a:extLst>
          </p:cNvPr>
          <p:cNvSpPr txBox="1"/>
          <p:nvPr/>
        </p:nvSpPr>
        <p:spPr>
          <a:xfrm>
            <a:off x="0" y="474652"/>
            <a:ext cx="12192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What is Language Generation?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Ability of an LLM to produce </a:t>
            </a:r>
            <a:r>
              <a:rPr lang="en-IN" sz="2400" b="1" dirty="0"/>
              <a:t>fluent, coherent, and contextually relevant text</a:t>
            </a:r>
            <a:r>
              <a:rPr lang="en-IN" sz="2400" dirty="0"/>
              <a:t> from a user input.</a:t>
            </a:r>
          </a:p>
          <a:p>
            <a:pPr>
              <a:lnSpc>
                <a:spcPct val="150000"/>
              </a:lnSpc>
            </a:pPr>
            <a:endParaRPr lang="en-IN" sz="2400" b="1" dirty="0"/>
          </a:p>
          <a:p>
            <a:pPr>
              <a:lnSpc>
                <a:spcPct val="150000"/>
              </a:lnSpc>
            </a:pPr>
            <a:r>
              <a:rPr lang="en-IN" sz="2400" b="1" dirty="0"/>
              <a:t>Key Features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Generates human-like responses.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Understands the context of the conversation.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Completes sentences and paragraphs.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Produces new content instead of retrieving predefined responses.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Adapts its writing style to the user's instructions.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43C100-2E16-2AB7-63E6-05907E21521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Prominent Capability: Language Generation</a:t>
            </a:r>
          </a:p>
        </p:txBody>
      </p:sp>
    </p:spTree>
    <p:extLst>
      <p:ext uri="{BB962C8B-B14F-4D97-AF65-F5344CB8AC3E}">
        <p14:creationId xmlns:p14="http://schemas.microsoft.com/office/powerpoint/2010/main" val="8867698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004C-24B2-EB83-FFC5-1F6EA6E9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062257-DBDF-EE89-9845-E7E9A59E55E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Prominent Capability: Language Generation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A221201-4AA2-CD9A-2F9A-BA70D45C7E65}"/>
              </a:ext>
            </a:extLst>
          </p:cNvPr>
          <p:cNvSpPr/>
          <p:nvPr/>
        </p:nvSpPr>
        <p:spPr>
          <a:xfrm>
            <a:off x="8092440" y="436626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225C67-DC5C-0FD4-411B-16E06EE98681}"/>
              </a:ext>
            </a:extLst>
          </p:cNvPr>
          <p:cNvSpPr/>
          <p:nvPr/>
        </p:nvSpPr>
        <p:spPr>
          <a:xfrm>
            <a:off x="8183880" y="436626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EB9BB7B-BDFB-9415-6A82-D76F2093E34A}"/>
              </a:ext>
            </a:extLst>
          </p:cNvPr>
          <p:cNvSpPr/>
          <p:nvPr/>
        </p:nvSpPr>
        <p:spPr>
          <a:xfrm>
            <a:off x="8275320" y="436626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5E232BB-0590-D54F-BC7D-0EFEA4932014}"/>
              </a:ext>
            </a:extLst>
          </p:cNvPr>
          <p:cNvSpPr/>
          <p:nvPr/>
        </p:nvSpPr>
        <p:spPr>
          <a:xfrm>
            <a:off x="8366760" y="436626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E9E864C-1AF4-F4F1-D66E-0E79A63CD842}"/>
              </a:ext>
            </a:extLst>
          </p:cNvPr>
          <p:cNvSpPr/>
          <p:nvPr/>
        </p:nvSpPr>
        <p:spPr>
          <a:xfrm>
            <a:off x="8458200" y="436626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816C4BF-060F-A6CE-C355-6E477EE07F70}"/>
              </a:ext>
            </a:extLst>
          </p:cNvPr>
          <p:cNvSpPr/>
          <p:nvPr/>
        </p:nvSpPr>
        <p:spPr>
          <a:xfrm>
            <a:off x="8092440" y="445770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B0FF08E8-08B9-B80D-2D81-60B2673CC90B}"/>
              </a:ext>
            </a:extLst>
          </p:cNvPr>
          <p:cNvSpPr/>
          <p:nvPr/>
        </p:nvSpPr>
        <p:spPr>
          <a:xfrm>
            <a:off x="8183880" y="445770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EFB1F1D9-485A-5003-56F7-43EF9EAC989A}"/>
              </a:ext>
            </a:extLst>
          </p:cNvPr>
          <p:cNvSpPr/>
          <p:nvPr/>
        </p:nvSpPr>
        <p:spPr>
          <a:xfrm>
            <a:off x="8275320" y="445770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990FAA23-5F4F-F8B5-DBFD-37EA8168B086}"/>
              </a:ext>
            </a:extLst>
          </p:cNvPr>
          <p:cNvSpPr/>
          <p:nvPr/>
        </p:nvSpPr>
        <p:spPr>
          <a:xfrm>
            <a:off x="8366760" y="445770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B88DD1C0-6203-1C45-227F-3498ECC3FEF6}"/>
              </a:ext>
            </a:extLst>
          </p:cNvPr>
          <p:cNvSpPr/>
          <p:nvPr/>
        </p:nvSpPr>
        <p:spPr>
          <a:xfrm>
            <a:off x="8458200" y="445770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4C9626A5-DC3A-904A-1689-268734157228}"/>
              </a:ext>
            </a:extLst>
          </p:cNvPr>
          <p:cNvSpPr/>
          <p:nvPr/>
        </p:nvSpPr>
        <p:spPr>
          <a:xfrm>
            <a:off x="8092440" y="454914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8E8549B8-6C38-ABC3-87CC-8733551C3C55}"/>
              </a:ext>
            </a:extLst>
          </p:cNvPr>
          <p:cNvSpPr/>
          <p:nvPr/>
        </p:nvSpPr>
        <p:spPr>
          <a:xfrm>
            <a:off x="8183880" y="454914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5EE608E4-45B4-4C6B-154E-380BCBC162CD}"/>
              </a:ext>
            </a:extLst>
          </p:cNvPr>
          <p:cNvSpPr/>
          <p:nvPr/>
        </p:nvSpPr>
        <p:spPr>
          <a:xfrm>
            <a:off x="8275320" y="454914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79334B17-A312-F6D3-6590-57E965684675}"/>
              </a:ext>
            </a:extLst>
          </p:cNvPr>
          <p:cNvSpPr/>
          <p:nvPr/>
        </p:nvSpPr>
        <p:spPr>
          <a:xfrm>
            <a:off x="8366760" y="454914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483E5C17-6315-D79A-74F9-788A2E695247}"/>
              </a:ext>
            </a:extLst>
          </p:cNvPr>
          <p:cNvSpPr/>
          <p:nvPr/>
        </p:nvSpPr>
        <p:spPr>
          <a:xfrm>
            <a:off x="8458200" y="454914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FD465FDA-D407-D991-5131-D4F512D6AFA5}"/>
              </a:ext>
            </a:extLst>
          </p:cNvPr>
          <p:cNvSpPr/>
          <p:nvPr/>
        </p:nvSpPr>
        <p:spPr>
          <a:xfrm>
            <a:off x="8092440" y="464058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F2E07D94-FFD2-B94C-82EC-1BA3D355A17D}"/>
              </a:ext>
            </a:extLst>
          </p:cNvPr>
          <p:cNvSpPr/>
          <p:nvPr/>
        </p:nvSpPr>
        <p:spPr>
          <a:xfrm>
            <a:off x="8183880" y="464058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E63E9465-2784-44E8-963C-E6D0B1C82B21}"/>
              </a:ext>
            </a:extLst>
          </p:cNvPr>
          <p:cNvSpPr/>
          <p:nvPr/>
        </p:nvSpPr>
        <p:spPr>
          <a:xfrm>
            <a:off x="8275320" y="464058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4B3E3F7F-D76E-01F9-4CD9-3D9EC9AF7578}"/>
              </a:ext>
            </a:extLst>
          </p:cNvPr>
          <p:cNvSpPr/>
          <p:nvPr/>
        </p:nvSpPr>
        <p:spPr>
          <a:xfrm>
            <a:off x="8366760" y="464058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B1EC5123-A28A-8D62-6C2A-44E3E8A1B731}"/>
              </a:ext>
            </a:extLst>
          </p:cNvPr>
          <p:cNvSpPr/>
          <p:nvPr/>
        </p:nvSpPr>
        <p:spPr>
          <a:xfrm>
            <a:off x="8458200" y="4640580"/>
            <a:ext cx="29261" cy="29261"/>
          </a:xfrm>
          <a:prstGeom prst="ellipse">
            <a:avLst/>
          </a:prstGeom>
          <a:solidFill>
            <a:srgbClr val="D8DA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1BA4BEAE-6EE6-5FCC-5A87-F4E8676A51C8}"/>
              </a:ext>
            </a:extLst>
          </p:cNvPr>
          <p:cNvSpPr/>
          <p:nvPr/>
        </p:nvSpPr>
        <p:spPr>
          <a:xfrm>
            <a:off x="685800" y="1384663"/>
            <a:ext cx="544068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4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B3FCBA7B-2A98-92C8-AACE-3D02F8F9C018}"/>
              </a:ext>
            </a:extLst>
          </p:cNvPr>
          <p:cNvSpPr/>
          <p:nvPr/>
        </p:nvSpPr>
        <p:spPr>
          <a:xfrm>
            <a:off x="685800" y="1384663"/>
            <a:ext cx="5440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03D6159F-2D44-FF72-76B0-A7AC3C903786}"/>
              </a:ext>
            </a:extLst>
          </p:cNvPr>
          <p:cNvSpPr/>
          <p:nvPr/>
        </p:nvSpPr>
        <p:spPr>
          <a:xfrm>
            <a:off x="1321308" y="1384663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4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52DEA463-7F74-FFD6-5B5B-890CE35C9A56}"/>
              </a:ext>
            </a:extLst>
          </p:cNvPr>
          <p:cNvSpPr/>
          <p:nvPr/>
        </p:nvSpPr>
        <p:spPr>
          <a:xfrm>
            <a:off x="1321308" y="1384663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D2FA1C26-6704-B6B5-A162-E5A634BFD3EE}"/>
              </a:ext>
            </a:extLst>
          </p:cNvPr>
          <p:cNvSpPr/>
          <p:nvPr/>
        </p:nvSpPr>
        <p:spPr>
          <a:xfrm>
            <a:off x="2189988" y="1384663"/>
            <a:ext cx="46634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4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6474DD19-330A-5F9C-4B15-25ACB84A5D5E}"/>
              </a:ext>
            </a:extLst>
          </p:cNvPr>
          <p:cNvSpPr/>
          <p:nvPr/>
        </p:nvSpPr>
        <p:spPr>
          <a:xfrm>
            <a:off x="2189988" y="1384663"/>
            <a:ext cx="466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1200" dirty="0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FF4DAE97-476E-605F-3224-2388CC5E3ABD}"/>
              </a:ext>
            </a:extLst>
          </p:cNvPr>
          <p:cNvSpPr/>
          <p:nvPr/>
        </p:nvSpPr>
        <p:spPr>
          <a:xfrm>
            <a:off x="2747772" y="1384663"/>
            <a:ext cx="46634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4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31">
            <a:extLst>
              <a:ext uri="{FF2B5EF4-FFF2-40B4-BE49-F238E27FC236}">
                <a16:creationId xmlns:a16="http://schemas.microsoft.com/office/drawing/2014/main" id="{7B25FFB3-6374-4861-1841-691EB429E8CA}"/>
              </a:ext>
            </a:extLst>
          </p:cNvPr>
          <p:cNvSpPr/>
          <p:nvPr/>
        </p:nvSpPr>
        <p:spPr>
          <a:xfrm>
            <a:off x="2747772" y="1384663"/>
            <a:ext cx="466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61" name="Shape 32">
            <a:extLst>
              <a:ext uri="{FF2B5EF4-FFF2-40B4-BE49-F238E27FC236}">
                <a16:creationId xmlns:a16="http://schemas.microsoft.com/office/drawing/2014/main" id="{9F30EB8E-953A-F2F2-F301-4411798753BD}"/>
              </a:ext>
            </a:extLst>
          </p:cNvPr>
          <p:cNvSpPr/>
          <p:nvPr/>
        </p:nvSpPr>
        <p:spPr>
          <a:xfrm>
            <a:off x="3305556" y="1384663"/>
            <a:ext cx="46634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4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33">
            <a:extLst>
              <a:ext uri="{FF2B5EF4-FFF2-40B4-BE49-F238E27FC236}">
                <a16:creationId xmlns:a16="http://schemas.microsoft.com/office/drawing/2014/main" id="{045D762F-E65D-1F0A-350D-5E56306AD317}"/>
              </a:ext>
            </a:extLst>
          </p:cNvPr>
          <p:cNvSpPr/>
          <p:nvPr/>
        </p:nvSpPr>
        <p:spPr>
          <a:xfrm>
            <a:off x="3305556" y="1384663"/>
            <a:ext cx="466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200" dirty="0"/>
          </a:p>
        </p:txBody>
      </p:sp>
      <p:sp>
        <p:nvSpPr>
          <p:cNvPr id="65" name="Shape 34">
            <a:extLst>
              <a:ext uri="{FF2B5EF4-FFF2-40B4-BE49-F238E27FC236}">
                <a16:creationId xmlns:a16="http://schemas.microsoft.com/office/drawing/2014/main" id="{837C9C4E-F500-5E98-B563-8EF379D62AC1}"/>
              </a:ext>
            </a:extLst>
          </p:cNvPr>
          <p:cNvSpPr/>
          <p:nvPr/>
        </p:nvSpPr>
        <p:spPr>
          <a:xfrm>
            <a:off x="3863340" y="1384663"/>
            <a:ext cx="1165860" cy="402336"/>
          </a:xfrm>
          <a:prstGeom prst="roundRect">
            <a:avLst>
              <a:gd name="adj" fmla="val 13636"/>
            </a:avLst>
          </a:prstGeom>
          <a:solidFill>
            <a:srgbClr val="E0498A"/>
          </a:solidFill>
          <a:ln w="12700">
            <a:solidFill>
              <a:srgbClr val="E04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75CED292-8752-A1F4-CF65-23B57515B009}"/>
              </a:ext>
            </a:extLst>
          </p:cNvPr>
          <p:cNvSpPr/>
          <p:nvPr/>
        </p:nvSpPr>
        <p:spPr>
          <a:xfrm>
            <a:off x="3863340" y="1384663"/>
            <a:ext cx="11658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generative.</a:t>
            </a:r>
            <a:endParaRPr lang="en-US" sz="1200" dirty="0"/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524F8894-8FFA-50C9-B635-F7A5795F73A0}"/>
              </a:ext>
            </a:extLst>
          </p:cNvPr>
          <p:cNvSpPr/>
          <p:nvPr/>
        </p:nvSpPr>
        <p:spPr>
          <a:xfrm>
            <a:off x="685800" y="1933303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token is generated the same way — one probable next piece of text at a time.</a:t>
            </a:r>
            <a:endParaRPr lang="en-US" sz="1600" dirty="0"/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CA2E193C-F5B7-326D-690C-A45094CE4000}"/>
              </a:ext>
            </a:extLst>
          </p:cNvPr>
          <p:cNvSpPr/>
          <p:nvPr/>
        </p:nvSpPr>
        <p:spPr>
          <a:xfrm>
            <a:off x="594359" y="2369602"/>
            <a:ext cx="9975317" cy="2382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2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is the model's most probable next prediction.</a:t>
            </a:r>
          </a:p>
          <a:p>
            <a:pPr marL="177800" indent="-177800">
              <a:lnSpc>
                <a:spcPct val="2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predictions generate text, code, and conversations.</a:t>
            </a:r>
          </a:p>
          <a:p>
            <a:pPr marL="177800" indent="-177800">
              <a:lnSpc>
                <a:spcPct val="2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generation loop powers modern LLMs.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59239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D0A0F6-97CD-AC00-2FC5-E1C9C3D5F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" y="783662"/>
            <a:ext cx="9915525" cy="554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78E3C84-DAF8-9BB3-FBD4-0E5A438CE6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Prominent Capability: Language Generation</a:t>
            </a:r>
          </a:p>
        </p:txBody>
      </p:sp>
    </p:spTree>
    <p:extLst>
      <p:ext uri="{BB962C8B-B14F-4D97-AF65-F5344CB8AC3E}">
        <p14:creationId xmlns:p14="http://schemas.microsoft.com/office/powerpoint/2010/main" val="3784209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40D1-F837-0B6F-33D5-E3D19C58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5B3B-8477-756B-0D11-4C95434574C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Beyond Text: Modern LLMs 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37D28-519E-7116-7540-9245C5887E06}"/>
              </a:ext>
            </a:extLst>
          </p:cNvPr>
          <p:cNvSpPr txBox="1"/>
          <p:nvPr/>
        </p:nvSpPr>
        <p:spPr>
          <a:xfrm>
            <a:off x="0" y="481632"/>
            <a:ext cx="12192000" cy="146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Modern LLMs have evolved to understand and generate multiple types of information, including text, images, audio, documents, code, and videos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5EA730-46F5-A488-DAA1-19189E301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420" y="1947867"/>
            <a:ext cx="7093725" cy="47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651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D697-213B-5FB0-8407-78BD55EF1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1386D6-03BF-FE4C-6F80-98976AAEF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2" y="524977"/>
            <a:ext cx="11041462" cy="63330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A691C05-DD49-119C-820F-BC702A9A74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Beyond Text: Modern LLMs 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768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6573B5-DF57-D08D-4C8D-2493DB843BBF}"/>
              </a:ext>
            </a:extLst>
          </p:cNvPr>
          <p:cNvGraphicFramePr>
            <a:graphicFrameLocks noGrp="1"/>
          </p:cNvGraphicFramePr>
          <p:nvPr/>
        </p:nvGraphicFramePr>
        <p:xfrm>
          <a:off x="313266" y="635000"/>
          <a:ext cx="11624736" cy="5817263"/>
        </p:xfrm>
        <a:graphic>
          <a:graphicData uri="http://schemas.openxmlformats.org/drawingml/2006/table">
            <a:tbl>
              <a:tblPr/>
              <a:tblGrid>
                <a:gridCol w="1937456">
                  <a:extLst>
                    <a:ext uri="{9D8B030D-6E8A-4147-A177-3AD203B41FA5}">
                      <a16:colId xmlns:a16="http://schemas.microsoft.com/office/drawing/2014/main" val="2798553068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2386647502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3271938641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2808081107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1821669968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947163213"/>
                    </a:ext>
                  </a:extLst>
                </a:gridCol>
              </a:tblGrid>
              <a:tr h="44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Model family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Core idea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Strengths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Limitations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Context handling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Typical use today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957122"/>
                  </a:ext>
                </a:extLst>
              </a:tr>
              <a:tr h="1753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Statistical Language Models</a:t>
                      </a:r>
                      <a:endParaRPr lang="en-IN" sz="18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Estimate next-word probabilities from observed word frequencies (e.g., N-grams)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Simple, interpretable, fast inference, low compute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Sparse data problem, poor generalization, no semantic understanding, fixed context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Very short (typically 2–5 previous words)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Historical systems, educational purposes, some embedded or low-resource applications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149503"/>
                  </a:ext>
                </a:extLst>
              </a:tr>
              <a:tr h="2035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Neural Language Models (RNN, LSTM, GRU)</a:t>
                      </a:r>
                      <a:endParaRPr lang="en-IN" sz="18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Learn distributed word representations and sequence patterns using recurrent neural networks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Better generalization, captures semantic relationships, handles variable-length sequences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Sequential computation limits scalability, difficult long-range dependencies, slower training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Moderate (tens to hundreds of tokens in practice)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Legacy NLP pipelines, speech recognition, time-series and sequence </a:t>
                      </a:r>
                      <a:r>
                        <a:rPr lang="en-IN" sz="1800" dirty="0" err="1"/>
                        <a:t>modeling</a:t>
                      </a:r>
                      <a:endParaRPr lang="en-IN" sz="18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281188"/>
                  </a:ext>
                </a:extLst>
              </a:tr>
              <a:tr h="158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Large Language Models (Transformers)</a:t>
                      </a:r>
                      <a:endParaRPr lang="en-IN" sz="18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Learn language using self-attention across tokens and large-scale pretraining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 generation, reasoning, multitask learning, transfer learning, in-context learning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 compute cost, hallucinations, alignment/safety challenges, limited interpretability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(thousands to millions of tokens depending on architecture)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Chatbots, copilots, RAG systems, coding assistants, search, agents, multimodal AI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799158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D4448BD4-E0B3-3953-FD4A-8FEE60CC6A6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– Language Models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541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64BE6-244A-7EF4-024C-B3B26ADD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FA3E2D76-995C-6AB3-73C8-31DF4C0DFA5C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EBCDA9-BBA7-D236-79F1-39C1826F604D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7ED2D0-2A22-9E1D-35F3-A75A9A073237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E4D4CC9-5975-CA9D-E0DD-62A50F51D2BC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DBA2B28-2884-612D-1443-E4236AB27B36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/>
              <a:t>ection 1: Evolution of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Part 3: Applications and Trends of Large Language Models (LLMs)</a:t>
            </a:r>
          </a:p>
        </p:txBody>
      </p:sp>
    </p:spTree>
    <p:extLst>
      <p:ext uri="{BB962C8B-B14F-4D97-AF65-F5344CB8AC3E}">
        <p14:creationId xmlns:p14="http://schemas.microsoft.com/office/powerpoint/2010/main" val="26205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199E5-9C47-7DD5-781F-D5096E02A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76" y="635555"/>
            <a:ext cx="9910150" cy="608660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2B482DE-D7F3-1097-0A7F-52133217C72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across Domains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797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81475D-5A7D-44BB-F8F7-3F6FFC944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92" y="621581"/>
            <a:ext cx="11256383" cy="60198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D2542E-4AA4-987F-B2F3-64A536071A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across Roles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04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E111-7B94-193D-EC04-B943FCB5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C296-2BF0-91E6-CB30-AC018396EB4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LLMs: Market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7F8F8-D018-B40C-F99B-BABE75234467}"/>
              </a:ext>
            </a:extLst>
          </p:cNvPr>
          <p:cNvSpPr txBox="1"/>
          <p:nvPr/>
        </p:nvSpPr>
        <p:spPr>
          <a:xfrm>
            <a:off x="83762" y="593314"/>
            <a:ext cx="1219200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Global Economic Impact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US$15.7 Trillion</a:t>
            </a:r>
            <a:r>
              <a:rPr lang="en-IN" sz="2400" dirty="0"/>
              <a:t> contribution to the global economy by </a:t>
            </a:r>
            <a:r>
              <a:rPr lang="en-IN" sz="2400" b="1" dirty="0"/>
              <a:t>2030</a:t>
            </a:r>
            <a:r>
              <a:rPr lang="en-IN" sz="2400" dirty="0"/>
              <a:t> </a:t>
            </a:r>
            <a:r>
              <a:rPr lang="en-IN" sz="2400" i="1" dirty="0"/>
              <a:t>(PwC)</a:t>
            </a:r>
            <a:r>
              <a:rPr lang="en-IN" sz="2400" dirty="0"/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US$2.6–4.4 Trillion</a:t>
            </a:r>
            <a:r>
              <a:rPr lang="en-IN" sz="2400" dirty="0"/>
              <a:t> annual economic value from Generative AI </a:t>
            </a:r>
            <a:r>
              <a:rPr lang="en-IN" sz="2400" i="1" dirty="0"/>
              <a:t>(McKinsey)</a:t>
            </a:r>
            <a:r>
              <a:rPr lang="en-IN" sz="2400" dirty="0"/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~7% increase in global GDP</a:t>
            </a:r>
            <a:r>
              <a:rPr lang="en-IN" sz="2400" dirty="0"/>
              <a:t> over the next decade </a:t>
            </a:r>
            <a:r>
              <a:rPr lang="en-IN" sz="2400" i="1" dirty="0"/>
              <a:t>(Goldman Sachs)</a:t>
            </a:r>
            <a:r>
              <a:rPr lang="en-IN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Workforce Transformation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300 Million</a:t>
            </a:r>
            <a:r>
              <a:rPr lang="en-IN" sz="2400" dirty="0"/>
              <a:t> jobs could be significantly affected </a:t>
            </a:r>
            <a:r>
              <a:rPr lang="en-IN" sz="2400" i="1" dirty="0"/>
              <a:t>(Goldman Sachs)</a:t>
            </a:r>
            <a:r>
              <a:rPr lang="en-IN" sz="2400" dirty="0"/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78 Million</a:t>
            </a:r>
            <a:r>
              <a:rPr lang="en-IN" sz="2400" dirty="0"/>
              <a:t> net new jobs expected by </a:t>
            </a:r>
            <a:r>
              <a:rPr lang="en-IN" sz="2400" b="1" dirty="0"/>
              <a:t>2030</a:t>
            </a:r>
            <a:r>
              <a:rPr lang="en-IN" sz="2400" dirty="0"/>
              <a:t> </a:t>
            </a:r>
            <a:r>
              <a:rPr lang="en-IN" sz="2400" i="1" dirty="0"/>
              <a:t>(World Economic Forum)</a:t>
            </a:r>
            <a:r>
              <a:rPr lang="en-IN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Enterprise Adoption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80%+ of enterprises</a:t>
            </a:r>
            <a:r>
              <a:rPr lang="en-IN" sz="2400" dirty="0"/>
              <a:t> expected to adopt Generative AI by </a:t>
            </a:r>
            <a:r>
              <a:rPr lang="en-IN" sz="2400" b="1" dirty="0"/>
              <a:t>2026</a:t>
            </a:r>
            <a:r>
              <a:rPr lang="en-IN" sz="2400" dirty="0"/>
              <a:t> </a:t>
            </a:r>
            <a:r>
              <a:rPr lang="en-IN" sz="2400" i="1" dirty="0"/>
              <a:t>(Gartner)</a:t>
            </a:r>
            <a:r>
              <a:rPr lang="en-IN" sz="2400" dirty="0"/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20–45% productivity improvement</a:t>
            </a:r>
            <a:r>
              <a:rPr lang="en-IN" sz="2400" dirty="0"/>
              <a:t> for software developers </a:t>
            </a:r>
            <a:r>
              <a:rPr lang="en-IN" sz="2400" i="1" dirty="0"/>
              <a:t>(McKinsey)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2124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DB65-2034-FAE0-3EF0-AFF88C84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AFEFA1-50B2-F15F-A439-439A9A639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521" y="807867"/>
            <a:ext cx="4399545" cy="25194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BBBEF0-DDCD-086F-CE84-6A63224C3DF0}"/>
              </a:ext>
            </a:extLst>
          </p:cNvPr>
          <p:cNvSpPr txBox="1"/>
          <p:nvPr/>
        </p:nvSpPr>
        <p:spPr>
          <a:xfrm>
            <a:off x="-122476" y="6467846"/>
            <a:ext cx="8864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https://tkxel.com/blog/how-large-language-models-shape-future/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EF2F11-ACF8-49F7-67FB-5844A130DB6E}"/>
              </a:ext>
            </a:extLst>
          </p:cNvPr>
          <p:cNvSpPr txBox="1"/>
          <p:nvPr/>
        </p:nvSpPr>
        <p:spPr>
          <a:xfrm>
            <a:off x="0" y="3725333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Industry Outlook for LLMs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By </a:t>
            </a:r>
            <a:r>
              <a:rPr lang="en-IN" sz="2400" b="1" dirty="0"/>
              <a:t>2027</a:t>
            </a:r>
            <a:r>
              <a:rPr lang="en-IN" sz="2400" dirty="0"/>
              <a:t>, LLMs are expected to power </a:t>
            </a:r>
            <a:r>
              <a:rPr lang="en-IN" sz="2400" b="1" dirty="0"/>
              <a:t>70% of NLP applications</a:t>
            </a:r>
            <a:r>
              <a:rPr lang="en-IN" sz="2400" dirty="0"/>
              <a:t> (up from &lt;5% in 2022) </a:t>
            </a:r>
            <a:r>
              <a:rPr lang="en-IN" sz="2400" i="1" dirty="0"/>
              <a:t>(Gartner)</a:t>
            </a:r>
            <a:r>
              <a:rPr lang="en-IN" sz="2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LLMs could increase annual </a:t>
            </a:r>
            <a:r>
              <a:rPr lang="en-IN" sz="2400" dirty="0" err="1"/>
              <a:t>labor</a:t>
            </a:r>
            <a:r>
              <a:rPr lang="en-IN" sz="2400" dirty="0"/>
              <a:t> productivity by </a:t>
            </a:r>
            <a:r>
              <a:rPr lang="en-IN" sz="2400" b="1" dirty="0"/>
              <a:t>0.1–0.6%</a:t>
            </a:r>
            <a:r>
              <a:rPr lang="en-IN" sz="2400" dirty="0"/>
              <a:t>, with broader AI-driven automation boosting productivity growth by up to </a:t>
            </a:r>
            <a:r>
              <a:rPr lang="en-IN" sz="2400" b="1" dirty="0"/>
              <a:t>3.4 percentage points</a:t>
            </a:r>
            <a:r>
              <a:rPr lang="en-IN" sz="2400" dirty="0"/>
              <a:t> </a:t>
            </a:r>
            <a:r>
              <a:rPr lang="en-IN" sz="2400" i="1" dirty="0"/>
              <a:t>(McKinsey)</a:t>
            </a:r>
            <a:r>
              <a:rPr lang="en-IN" sz="2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72% of organizations</a:t>
            </a:r>
            <a:r>
              <a:rPr lang="en-IN" sz="2400" dirty="0"/>
              <a:t> plan to increase LLM investments, and </a:t>
            </a:r>
            <a:r>
              <a:rPr lang="en-IN" sz="2400" b="1" dirty="0"/>
              <a:t>40% already spend over $250K annually</a:t>
            </a:r>
            <a:r>
              <a:rPr lang="en-IN" sz="2400" dirty="0"/>
              <a:t> on LLM initiatives </a:t>
            </a:r>
            <a:r>
              <a:rPr lang="en-IN" sz="2400" i="1" dirty="0"/>
              <a:t>(Forbes)</a:t>
            </a:r>
            <a:r>
              <a:rPr lang="en-IN" sz="24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DD195E-96DA-9AAD-7820-411DAC3669C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LLMs: Market Impact</a:t>
            </a:r>
          </a:p>
        </p:txBody>
      </p:sp>
    </p:spTree>
    <p:extLst>
      <p:ext uri="{BB962C8B-B14F-4D97-AF65-F5344CB8AC3E}">
        <p14:creationId xmlns:p14="http://schemas.microsoft.com/office/powerpoint/2010/main" val="19784965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00F9A-182D-ED33-E308-264CC7F38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01" y="679317"/>
            <a:ext cx="9612000" cy="590722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D940E86-805A-66DF-D3C4-DEAF5EE72C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LLMs: Market Map</a:t>
            </a:r>
          </a:p>
        </p:txBody>
      </p:sp>
    </p:spTree>
    <p:extLst>
      <p:ext uri="{BB962C8B-B14F-4D97-AF65-F5344CB8AC3E}">
        <p14:creationId xmlns:p14="http://schemas.microsoft.com/office/powerpoint/2010/main" val="34795872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16D13A-1B7D-D3A8-6934-F28190391742}"/>
              </a:ext>
            </a:extLst>
          </p:cNvPr>
          <p:cNvSpPr txBox="1"/>
          <p:nvPr/>
        </p:nvSpPr>
        <p:spPr>
          <a:xfrm>
            <a:off x="104701" y="599948"/>
            <a:ext cx="11663835" cy="60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D. Manning and H. Schütze,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Foundations of Statistical Natural Language Processing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Cambridge, MA, USA: MIT Press, 1999.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n-IN" sz="15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Jurafsky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J. H. Martin,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Speech and Language Processing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3rd ed. (Draft). Pearson, 2025. Available: </a:t>
            </a:r>
            <a:r>
              <a:rPr lang="en-IN" sz="15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https://web.stanford.edu/~jurafsky/slp3/</a:t>
            </a:r>
            <a:endParaRPr lang="en-IN" sz="1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T. </a:t>
            </a:r>
            <a:r>
              <a:rPr lang="en-IN" sz="15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Mikolov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</a:t>
            </a:r>
            <a:r>
              <a:rPr lang="en-IN" sz="15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Karafiát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L. Burget, J. </a:t>
            </a:r>
            <a:r>
              <a:rPr lang="en-IN" sz="15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Černocký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S. </a:t>
            </a:r>
            <a:r>
              <a:rPr lang="en-IN" sz="15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Khudanpur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"Recurrent neural network based language model," in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Proc. </a:t>
            </a:r>
            <a:r>
              <a:rPr lang="en-IN" sz="15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Interspeech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Makuhari, Japan, 2010, pp. 1045–1048.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Y. Bengio, R. Ducharme, P. Vincent, and C. </a:t>
            </a:r>
            <a:r>
              <a:rPr lang="en-IN" sz="15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Janvin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"A Neural Probabilistic Language Model,"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Machine Learning Research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vol. 3, pp. 1137–1155, 2003.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Vaswani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al.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"Attention Is All You Need," in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-IN" sz="15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NeurIPS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vol. 30, 2017.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Radford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al.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"Language Models are Unsupervised Multitask Learners," OpenAI Technical Report, 2019.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T. B. Brown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al.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"Language Models are Few-Shot Learners,"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-IN" sz="15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NeurIPS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vol. 33, pp. 1877–1901, 2020.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J. Devlin, M.-W. Chang, K. Lee, and K. Toutanova, "BERT: Pre-training of Deep Bidirectional Transformers for Language Understanding," in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Proc. NAACL-HLT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Minneapolis, MN, USA, 2019, pp. 4171–4186.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OpenAI, "GPT-4 Technical Report," 2023. 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J. Kaplan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al.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"Scaling Laws for Neural Language Models," </a:t>
            </a:r>
            <a:r>
              <a:rPr lang="en-IN" sz="15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arXiv:2001.08361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2020.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J. Hoffmann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al.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"Training Compute-Optimal Large Language Models," </a:t>
            </a:r>
            <a:r>
              <a:rPr lang="en-IN" sz="15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arXiv:2203.15556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2022.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J. Wei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al.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"Emergent Abilities of Large Language Models,"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 on Machine Learning Research (TMLR)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2022.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McKinsey Global Institute,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Economic Potential of Generative AI: The Next Productivity Frontier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Jun. 2023. 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PwC,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Sizing the Prize: What's the Real Value of AI for Your Business and How Can You Capitalise?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2017.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Goldman Sachs Global Investment Research,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Potentially Large Effects of Artificial Intelligence on Economic Growth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Mar. 2023. 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Economic Forum,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Future of Jobs Report 2025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Geneva, Switzerland: WEF, Jan. 2025.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Gartner, 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Strategic Technology Trends for 2025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it-IT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Stamford, CT, USA: Gartner, Inc., 2025.</a:t>
            </a:r>
            <a:endParaRPr lang="en-IN" sz="1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T. Eloundou, S. Manning, P. Mishkin, and D. Rock, "GPTs are GPTs: An Early Look at the Labor Market Impact Potential of Large Language Models," </a:t>
            </a:r>
            <a:r>
              <a:rPr lang="en-IN" sz="15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sz="15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arXiv:2303.10130</a:t>
            </a:r>
            <a:r>
              <a:rPr lang="en-IN" sz="1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2023.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9F1D48-C752-EC21-53B1-ED9BB25637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522848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7B49-59AC-008D-D415-E1DA26EB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3FD6AF9F-4663-C601-32CD-576522F12D26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A7C3E9-CCE4-5A65-A5CF-7451EEFAB2E4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6D6121-EC1A-7C95-31AC-6A2467FD2978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978F94-A5A4-7436-AC65-0498C533BD99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7BCA31F-1184-105B-2B19-0CF182131BA3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/>
              <a:t>ection 1: Evolution of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Part 3: Hands On</a:t>
            </a:r>
          </a:p>
        </p:txBody>
      </p:sp>
    </p:spTree>
    <p:extLst>
      <p:ext uri="{BB962C8B-B14F-4D97-AF65-F5344CB8AC3E}">
        <p14:creationId xmlns:p14="http://schemas.microsoft.com/office/powerpoint/2010/main" val="29709708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A7B3D-30B5-A24B-E8E7-5B15E932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AB005-9BF3-D258-4017-2E5A49F6087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 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3216F-AFDE-A1DB-0344-FAC7FABD84A2}"/>
              </a:ext>
            </a:extLst>
          </p:cNvPr>
          <p:cNvSpPr txBox="1"/>
          <p:nvPr/>
        </p:nvSpPr>
        <p:spPr>
          <a:xfrm>
            <a:off x="83762" y="593314"/>
            <a:ext cx="1219200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Installation &amp; Setup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Setting up Hugging Face Account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	Model Call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Basics of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1313156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4">
            <a:extLst>
              <a:ext uri="{FF2B5EF4-FFF2-40B4-BE49-F238E27FC236}">
                <a16:creationId xmlns:a16="http://schemas.microsoft.com/office/drawing/2014/main" id="{CDF4EA55-62AC-DF6C-8B54-0C96E8A81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4133" y="3057579"/>
            <a:ext cx="7907866" cy="7428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06" tIns="34243" rIns="68506" bIns="34243" rtlCol="0" anchor="ctr" anchorCtr="0">
            <a:normAutofit/>
          </a:bodyPr>
          <a:lstStyle/>
          <a:p>
            <a:pPr algn="ctr">
              <a:buSzPts val="4300"/>
            </a:pPr>
            <a:r>
              <a:rPr lang="en-US" sz="4400" b="1" dirty="0">
                <a:latin typeface="Aptos" panose="020B0004020202020204" pitchFamily="34" charset="0"/>
              </a:rPr>
              <a:t>Thank you</a:t>
            </a:r>
            <a:endParaRPr sz="4400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30468-A46F-7F1E-13B2-2441EEAF4D98}"/>
              </a:ext>
            </a:extLst>
          </p:cNvPr>
          <p:cNvSpPr txBox="1"/>
          <p:nvPr/>
        </p:nvSpPr>
        <p:spPr>
          <a:xfrm>
            <a:off x="-48861" y="6462092"/>
            <a:ext cx="7620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i="1" dirty="0"/>
              <a:t>Reach to me: </a:t>
            </a:r>
            <a:r>
              <a:rPr lang="en-IN" sz="1000" dirty="0"/>
              <a:t>ramji@iitm.ac.in </a:t>
            </a:r>
          </a:p>
        </p:txBody>
      </p:sp>
      <p:pic>
        <p:nvPicPr>
          <p:cNvPr id="2" name="Picture 2" descr="IIT Madras - Wikipedia">
            <a:extLst>
              <a:ext uri="{FF2B5EF4-FFF2-40B4-BE49-F238E27FC236}">
                <a16:creationId xmlns:a16="http://schemas.microsoft.com/office/drawing/2014/main" id="{0D8748AF-E0BB-A7C7-5B32-08003C4E3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836" y="2197985"/>
            <a:ext cx="2462030" cy="246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A7E923-86FA-DEAF-3503-4559D20E39C7}"/>
              </a:ext>
            </a:extLst>
          </p:cNvPr>
          <p:cNvCxnSpPr/>
          <p:nvPr/>
        </p:nvCxnSpPr>
        <p:spPr>
          <a:xfrm>
            <a:off x="5919536" y="336884"/>
            <a:ext cx="0" cy="60074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51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3259</Words>
  <Application>Microsoft Office PowerPoint</Application>
  <PresentationFormat>Widescreen</PresentationFormat>
  <Paragraphs>532</Paragraphs>
  <Slides>54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5" baseType="lpstr">
      <vt:lpstr>Aptos</vt:lpstr>
      <vt:lpstr>Arial</vt:lpstr>
      <vt:lpstr>Avenir Light</vt:lpstr>
      <vt:lpstr>Calibri</vt:lpstr>
      <vt:lpstr>Calibri Light</vt:lpstr>
      <vt:lpstr>Cambria</vt:lpstr>
      <vt:lpstr>Courier New</vt:lpstr>
      <vt:lpstr>Nunito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fedex iitm</dc:creator>
  <cp:lastModifiedBy>fedex iitm</cp:lastModifiedBy>
  <cp:revision>39</cp:revision>
  <dcterms:created xsi:type="dcterms:W3CDTF">2026-07-17T04:46:07Z</dcterms:created>
  <dcterms:modified xsi:type="dcterms:W3CDTF">2026-07-19T08:08:57Z</dcterms:modified>
</cp:coreProperties>
</file>