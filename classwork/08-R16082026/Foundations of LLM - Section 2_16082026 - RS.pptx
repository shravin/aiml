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1805" r:id="rId3"/>
    <p:sldId id="1672" r:id="rId4"/>
    <p:sldId id="1420" r:id="rId5"/>
    <p:sldId id="1702" r:id="rId6"/>
    <p:sldId id="1674" r:id="rId7"/>
    <p:sldId id="1701" r:id="rId8"/>
    <p:sldId id="1364" r:id="rId9"/>
    <p:sldId id="1640" r:id="rId10"/>
    <p:sldId id="1458" r:id="rId11"/>
    <p:sldId id="1649" r:id="rId12"/>
    <p:sldId id="1705" r:id="rId13"/>
    <p:sldId id="1356" r:id="rId14"/>
    <p:sldId id="1457" r:id="rId15"/>
    <p:sldId id="1355" r:id="rId16"/>
    <p:sldId id="1699" r:id="rId17"/>
    <p:sldId id="1706" r:id="rId18"/>
    <p:sldId id="1308" r:id="rId19"/>
    <p:sldId id="1707" r:id="rId20"/>
    <p:sldId id="1309" r:id="rId21"/>
    <p:sldId id="1358" r:id="rId22"/>
    <p:sldId id="1708" r:id="rId23"/>
    <p:sldId id="1709" r:id="rId24"/>
    <p:sldId id="1710" r:id="rId25"/>
    <p:sldId id="1711" r:id="rId26"/>
    <p:sldId id="1712" r:id="rId27"/>
    <p:sldId id="1713" r:id="rId28"/>
    <p:sldId id="1717" r:id="rId29"/>
    <p:sldId id="1714" r:id="rId30"/>
    <p:sldId id="1715" r:id="rId31"/>
    <p:sldId id="1716" r:id="rId32"/>
    <p:sldId id="1718" r:id="rId33"/>
    <p:sldId id="1723" r:id="rId34"/>
    <p:sldId id="1725" r:id="rId35"/>
    <p:sldId id="1726" r:id="rId36"/>
    <p:sldId id="1727" r:id="rId37"/>
    <p:sldId id="1728" r:id="rId38"/>
    <p:sldId id="1729" r:id="rId39"/>
    <p:sldId id="1730" r:id="rId40"/>
    <p:sldId id="1732" r:id="rId41"/>
    <p:sldId id="163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D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04" autoAdjust="0"/>
    <p:restoredTop sz="94660"/>
  </p:normalViewPr>
  <p:slideViewPr>
    <p:cSldViewPr snapToGrid="0">
      <p:cViewPr varScale="1">
        <p:scale>
          <a:sx n="91" d="100"/>
          <a:sy n="91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8BE31-1E8E-4CBF-9E67-0DA0E0A429B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CF3DB-B94F-4521-92AB-55AFF3782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90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4F524-DB30-EB11-1C11-991131A1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9E256-6D8C-53EA-48C2-BF4C18391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1CF47-5B94-1CD5-8380-4DCE6E7DB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D9A01-6B32-5B09-66B2-3AF1F413B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362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879B2-6865-EF17-62F5-B18EDAC60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F477C-6FEC-AECA-9629-23311E0F4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857C5-2789-7A09-D24F-E0067B4F5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3E60B-2478-9AE4-1A84-D1695A3CE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58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3CD2D-13D2-A949-F3A1-C3FC2AE6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D41F359C-3291-AD6E-6F87-17E54E5E94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FA9BA010-5A7B-F9CD-2CEE-BEB711DEA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7604E345-9907-3792-F8BF-98424F531F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A2FEEE-E3D9-4F6D-89B2-FF8DF2925E2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482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1B568-A73A-FD9E-043A-2644327A6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48C5A-45C4-2260-B290-EAF73220F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950FC-44DC-CD3D-1881-4C7C8D937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5B375-8139-0EA3-C699-03FC8E1BC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881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98EAD-145E-5540-49B9-6ACE14B2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25369-E88C-4B81-1230-F98C2E50C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C631B-132A-946E-BE22-03906E165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F5CF1-DB44-DFCF-26D0-96D14EA10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06EF-B37D-4655-AAC8-729BF8DB05A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39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04D8-DDA4-F285-ED43-606E8CF0F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9A6F4-FCE3-4779-A65D-EB27F9B7C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F81FF-FEF0-B729-8D24-E84BB4FA9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E247D-617D-0DEA-8765-783C5AFB76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59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B1CA3-09B0-83AE-5856-34CDA0151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F625BFAF-AA65-D61B-DC65-1FE19736FD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9CEA54A0-E2CA-E533-B581-AE49EB9E1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672326A6-8E16-D344-D157-1C0CEAAEE1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4623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E9ED-7EEB-6F44-2B9D-831733A0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75CDCCCD-B469-5775-93D1-3AC2C9407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5B1F5DF4-D44D-83DC-F891-B151CC9B2D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E45DB472-C4E8-5A83-93E2-FE46955EAE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695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52CA-BF5E-D945-B61D-96006645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37D2CF4D-5CB1-8BB2-0174-9403467A87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0D758B64-7C16-5390-1107-1468223FF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8E7B1799-89C2-81B7-E1A0-6BC76A03F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0408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34419-4650-0068-135C-5D660709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240F0-080E-DC72-020B-080CA01D2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3F541-2BE6-9B93-CDA1-182F97F09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2ED72-DABD-C69E-D22D-DEC99D0C9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44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58845-B049-D068-1545-D50B96F9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80BA2C7B-ED7D-7DEC-9D12-7A2AFF612E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6817BCA4-CBB5-EE19-4770-4113D3173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BFB59C28-7A7C-AA2D-3D3A-C656A8C17F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030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6F31A-2D67-D368-64BA-A4DF4E2D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2D281536-3564-1A9A-D20B-8D14DCDCB1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11BC6B58-5B1F-4664-0FAD-400F34553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818307CE-5869-7C54-F2F1-AF786F8371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3657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E679E-4C99-5506-907A-DF820FB5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59938911-41BA-4DCE-0BAC-7878685C8F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A3CAE581-D2EA-DB8E-18ED-4CD5446120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FB97FF25-9DAD-A41F-1BDF-4C55B00E45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2451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656C2-439C-1746-2430-DC2A2006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84343-CE29-9960-96E9-267377D5F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23170-FB1F-E561-B3D2-EE8E8BC3A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00EE4-607F-4684-38F5-8950B201C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445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8E7B3-07CF-8D75-DC51-2CBA6C6AF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2C505FC2-30A8-D119-7A44-1E5878435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171668C5-B5A1-0F66-26D6-B9BEE31B5D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577AE2A0-F2EC-D4A4-C7C7-A72C2D6EE0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8836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CF9C-0623-99BA-EC99-6C3B89EB2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41E4ED3F-07F8-0B61-87A6-26BE6D9B20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4C66102B-4B05-430B-0C50-B91696FFB1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E2F62530-F084-E4A6-4371-3A40697934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6001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19DA-AC79-7F62-3AE2-5C82A4B4A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020A31A1-4ED2-A001-A11F-2FACB8A0BC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13FAD618-DF3B-4FB5-C724-D6026FD5A3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77C77B62-132B-58F4-9A45-AE08CB7554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5044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FDB0D-7368-D903-00D2-5AC61B37A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C239B931-89BF-A987-2953-F61160C7C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145700F4-D7E8-E763-DED1-D8F9BE8DF0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1D1B2256-5F9A-0026-9CDB-25E2D85AA6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3120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4F90F-D634-A992-4B0D-B692ECB1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6D133618-F411-F372-E5AE-22AC2196CC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542493D9-3A2F-C023-4A8E-C5F676802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460A16AD-62B0-A886-EB14-D978456578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97322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50C0-2200-6006-657E-88B36178A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1A577-75AE-C3EB-2802-4825FC0F8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C445B-CC75-7D1E-8B5F-F0834C69E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F986-6346-257B-BEFE-3140E61CE9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40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4BD46-90F6-15FF-077F-D77F4B855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3AA91B38-DA06-1020-D72C-37AFDD3DB7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F0B4885F-01A9-0B24-0C5A-D141BDB6F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1BB1B180-64DA-0023-8384-FF86198F46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9841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02A4B-93E2-4E53-440C-37EC393C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CB1B90E3-9F91-1A75-123A-0072636A1B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91A974B7-3F45-E9F9-60BA-A5F36C1D4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1ED9B64D-ACE8-2232-EDD2-52CDF182D6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9443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CC9A4-75FD-0A64-D51E-17CD54E4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8487D824-DFDF-572F-A175-4D1DCC47F5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11BA9412-1CA5-D6A8-F5C6-2179B5F0F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E110B23A-8DBC-064A-4E4A-30B8D8FB6F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7480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68118-B7C8-0C5F-A228-272C732C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D3D01-B90E-C5CD-43F5-3D72EEC8D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4284F-D609-C4E7-23C4-7D0561BEA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2F7AB-AF15-ADFB-B0ED-DBA955771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09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B4C81-C4F1-9AF1-F38A-5D4F5E55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9683192B-D44E-D31B-8777-51FB324EE3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A2ADD662-DE52-B283-CE29-4EE9BC7E24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BC8B4286-917C-68B1-E0C9-D28132ED23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7292B5-3190-491F-B739-B2B64C798A5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7092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5CF3DB-B94F-4521-92AB-55AFF3782175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8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5557-10E8-C3EA-E51C-7C06DEAF4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5F606-ACA9-EDD6-2B38-719E470A9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288E-D34B-CA10-494A-2CA575EB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9A691-136E-FE82-BDD9-BE2F1C2E2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4233C-3A87-D417-1344-9E1B83B2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848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2E00C-156D-267D-81FF-DFDE7C73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65AF-05FC-49F2-5E9C-C047F3A31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F1C18-2F0E-4B19-91EA-F46E100C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1450A-7F92-05B5-7AEB-AF31FB713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70D74-47CC-3830-EFD4-29A02B59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6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DCE4-F0CB-4041-F9AF-A285D5CD6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3FB07-A309-D73F-E487-F7562B24D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D191D-1F2D-5C4C-F964-AB3EE795A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5739B-583F-4136-DF26-D5C58AE09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09ED0-CD6A-99B9-C91B-32008C28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03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B678-F532-5197-ADE3-4D527874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B3D0C-5030-98E1-0463-5AA6A5F80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E4A69-68D1-3A76-8D34-491147A28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07C63-7B8D-8F01-FE31-EA42D70DC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D2941-8290-BA71-1CEC-4899B1221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7DAC2-FF5D-061C-9A59-0D6F39E6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21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121F-D842-C173-683C-CD34962B0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51E2E-9E07-378C-588E-927381157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ECFD6-A43E-8861-3B21-0D4337A16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4F306-C7AA-B94B-9107-5F4296DD2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28CE5B-D0A9-9C8F-4372-5FED195E5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0D5C4-1C80-52C3-CB7B-0CE1F280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47363-4AB3-A92C-0CC7-36ED8A74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393D1-83C1-EECC-D954-DB5CFB83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75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A856-326A-24E5-409C-925B264E6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64206-9E75-A157-E9BE-A3507478D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2A2F9-52B1-E8FA-5968-BFC293056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EC22D-8C6B-65A6-2D28-106D30A4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62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876C3E-D1EA-2D66-D6F1-AE22BC38F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AA7DB-3B03-D236-AF12-CFC543D6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AD2CE-7BCD-0B27-FF44-A221023A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555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33CF-E608-095A-37AB-EE8CE410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C7272-6421-43EE-09D7-B476D75D9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C15F0-C11B-9993-81E0-448BCF888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12AE7-A8F7-B3D4-A707-18A9DCF40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5F2B-A550-234D-3354-C22254FB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F8A2E-F9B0-6A64-912C-4C22BEEA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97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C042-C16D-711A-3D47-6A47BE8A1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C3C4F7-524C-5954-C187-A4632A36B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04606-BF27-5130-59ED-81AA8B614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473D1-F706-3A6F-73EB-AC8D488D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F087F-59FC-0495-705B-470832CE0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138EE-0744-03DC-6E23-F87D20AE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805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087F-367E-33EF-ABA5-DCF7F11D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81727-3BFF-90DC-02D2-EA2872C0A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B0320-1A74-7275-D3F8-4CEECB87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F031A-FBD3-4996-B3D1-A0D422F1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FB701-3D3D-56AF-0017-5FB4D9706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472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163D9-7074-C10D-91D7-0B46A270E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7F8DA-8F08-F744-6828-F47A13BB0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1103A-A0F7-AA7A-44F1-7E2793E4E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F56B-43B5-52BC-CB9F-FEFF4D95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D5D4E-E7BF-CCC2-609F-BC4AABDA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16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426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4" y="90988"/>
            <a:ext cx="10515598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5" y="1586367"/>
            <a:ext cx="1051559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507" lvl="0" indent="-231192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60"/>
              <a:buChar char="⚫"/>
              <a:defRPr/>
            </a:lvl1pPr>
            <a:lvl2pPr marL="685016" lvl="1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SzPts val="1800"/>
              <a:buChar char="◦"/>
              <a:defRPr/>
            </a:lvl2pPr>
            <a:lvl3pPr marL="1027522" lvl="2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SzPts val="1800"/>
              <a:buChar char="•"/>
              <a:defRPr/>
            </a:lvl3pPr>
            <a:lvl4pPr marL="1370029" lvl="3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SzPts val="1800"/>
              <a:buChar char="•"/>
              <a:defRPr/>
            </a:lvl4pPr>
            <a:lvl5pPr marL="1712540" lvl="4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SzPts val="1800"/>
              <a:buChar char="•"/>
              <a:defRPr/>
            </a:lvl5pPr>
            <a:lvl6pPr marL="2055045" lvl="5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397553" lvl="6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0062" lvl="7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2569" lvl="8" indent="-256879" algn="l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796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F450D-BCF8-60A0-3A3B-0A7C001D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095ED-32B4-AA18-61EB-83328CF4F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C1537-D807-3005-EE76-0277DBB43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9E624-C5E9-42FD-B003-AB563EEA893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648A9-D5BD-71F2-1AD6-A7945CEE7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1DF84-8BAA-69D9-515D-BC43E1A1C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5404B-CA0B-4470-86F8-2330EFB7CB8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029F9065-E3E1-A9B6-5C59-098508BB333D}"/>
              </a:ext>
            </a:extLst>
          </p:cNvPr>
          <p:cNvSpPr/>
          <p:nvPr userDrawn="1"/>
        </p:nvSpPr>
        <p:spPr>
          <a:xfrm>
            <a:off x="0" y="-1"/>
            <a:ext cx="12192000" cy="607273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08B2F65B-38D2-33E4-44EF-BD07B4470CFE}"/>
              </a:ext>
            </a:extLst>
          </p:cNvPr>
          <p:cNvSpPr/>
          <p:nvPr userDrawn="1"/>
        </p:nvSpPr>
        <p:spPr>
          <a:xfrm>
            <a:off x="0" y="6693966"/>
            <a:ext cx="12192000" cy="16403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2" name="Google Shape;118;p2">
            <a:extLst>
              <a:ext uri="{FF2B5EF4-FFF2-40B4-BE49-F238E27FC236}">
                <a16:creationId xmlns:a16="http://schemas.microsoft.com/office/drawing/2014/main" id="{AE330001-CCE5-5980-32B2-19FCDB88E766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11648660" y="70549"/>
            <a:ext cx="461341" cy="466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591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3" Type="http://schemas.openxmlformats.org/officeDocument/2006/relationships/slide" Target="slide5.xml"/><Relationship Id="rId7" Type="http://schemas.openxmlformats.org/officeDocument/2006/relationships/slide" Target="slide2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5" Type="http://schemas.openxmlformats.org/officeDocument/2006/relationships/slide" Target="slide16.xml"/><Relationship Id="rId4" Type="http://schemas.openxmlformats.org/officeDocument/2006/relationships/slide" Target="slide12.xml"/><Relationship Id="rId9" Type="http://schemas.openxmlformats.org/officeDocument/2006/relationships/slide" Target="slide4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anagementsolutions.com/sites/default/files/minisite/static/72b0015f-39c9-4a52-ba63-872c115bfbd0/llm/pdf/rise-of-llm.pdf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christophergs.com/blog/understanding-llm-tokenization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09599" y="450312"/>
            <a:ext cx="5446136" cy="580657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39797" y="1897392"/>
            <a:ext cx="11526560" cy="38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000" b="1" dirty="0">
              <a:solidFill>
                <a:srgbClr val="1E276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599" y="1143874"/>
            <a:ext cx="1219200" cy="331139"/>
          </a:xfrm>
          <a:prstGeom prst="roundRect">
            <a:avLst>
              <a:gd name="adj" fmla="val 13158"/>
            </a:avLst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09599" y="1143874"/>
            <a:ext cx="1219200" cy="33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/>
              <a:t>Session 2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609600" y="4291584"/>
            <a:ext cx="6705600" cy="48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9600" y="4511040"/>
            <a:ext cx="8534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Dr. Ramji Srinivasan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09600" y="5023104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Adjunct Professor &amp; Senior Consultant, IIT Madras  |  Facilitator, IITM Pravartak &amp; Jaro Education</a:t>
            </a:r>
            <a:endParaRPr lang="en-US" sz="1333" dirty="0"/>
          </a:p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Director, Bit2Qubit Technologies Ltd  |  Scientific Advisor, ParvAI Labs &amp; Sonolight Imaging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10237557" y="6293677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/>
              <a:t>16</a:t>
            </a:r>
            <a:r>
              <a:rPr lang="en-US" sz="1333" baseline="30000" dirty="0"/>
              <a:t>th</a:t>
            </a:r>
            <a:r>
              <a:rPr lang="en-US" sz="1333" dirty="0"/>
              <a:t>  August 2026</a:t>
            </a:r>
          </a:p>
        </p:txBody>
      </p:sp>
      <p:pic>
        <p:nvPicPr>
          <p:cNvPr id="3" name="Image 2" descr="/home/claude/build/logo_pravartak.png">
            <a:extLst>
              <a:ext uri="{FF2B5EF4-FFF2-40B4-BE49-F238E27FC236}">
                <a16:creationId xmlns:a16="http://schemas.microsoft.com/office/drawing/2014/main" id="{74E683EA-76DF-6DE7-D236-DCC2FB9F7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65528" y="4961400"/>
            <a:ext cx="1700830" cy="476233"/>
          </a:xfrm>
          <a:prstGeom prst="rect">
            <a:avLst/>
          </a:prstGeom>
          <a:ln>
            <a:noFill/>
          </a:ln>
        </p:spPr>
      </p:pic>
      <p:pic>
        <p:nvPicPr>
          <p:cNvPr id="10" name="Image 3" descr="/home/claude/build/logo_jaro.png">
            <a:extLst>
              <a:ext uri="{FF2B5EF4-FFF2-40B4-BE49-F238E27FC236}">
                <a16:creationId xmlns:a16="http://schemas.microsoft.com/office/drawing/2014/main" id="{0C94154B-1C8E-6722-2F74-7D4A041092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81079" y="5566579"/>
            <a:ext cx="1510822" cy="365760"/>
          </a:xfrm>
          <a:prstGeom prst="rect">
            <a:avLst/>
          </a:prstGeom>
          <a:ln>
            <a:noFill/>
          </a:ln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D62A21A3-27D7-C226-05EA-26AE97E97D8F}"/>
              </a:ext>
            </a:extLst>
          </p:cNvPr>
          <p:cNvSpPr/>
          <p:nvPr/>
        </p:nvSpPr>
        <p:spPr>
          <a:xfrm>
            <a:off x="609600" y="1767840"/>
            <a:ext cx="103632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</a:t>
            </a: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5ED70C67-4185-3C4E-0A2A-BA5BBA007793}"/>
              </a:ext>
            </a:extLst>
          </p:cNvPr>
          <p:cNvSpPr/>
          <p:nvPr/>
        </p:nvSpPr>
        <p:spPr>
          <a:xfrm>
            <a:off x="609600" y="3048000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33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Transformer Architecture</a:t>
            </a:r>
            <a:endParaRPr lang="en-US" sz="5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8E0D27-5D66-2025-1CB4-A9014C3D1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574225"/>
              </p:ext>
            </p:extLst>
          </p:nvPr>
        </p:nvGraphicFramePr>
        <p:xfrm>
          <a:off x="259883" y="612563"/>
          <a:ext cx="11627317" cy="55861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27317">
                  <a:extLst>
                    <a:ext uri="{9D8B030D-6E8A-4147-A177-3AD203B41FA5}">
                      <a16:colId xmlns:a16="http://schemas.microsoft.com/office/drawing/2014/main" val="913738823"/>
                    </a:ext>
                  </a:extLst>
                </a:gridCol>
              </a:tblGrid>
              <a:tr h="69826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b="0" kern="100" dirty="0">
                          <a:solidFill>
                            <a:schemeClr val="tx1"/>
                          </a:solidFill>
                          <a:effectLst/>
                        </a:rPr>
                        <a:t>Foundations of Large Language Models</a:t>
                      </a:r>
                      <a:endParaRPr lang="en-IN" sz="3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86" marR="66986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350915"/>
                  </a:ext>
                </a:extLst>
              </a:tr>
              <a:tr h="69826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b="0" kern="100" dirty="0">
                          <a:solidFill>
                            <a:schemeClr val="tx1"/>
                          </a:solidFill>
                          <a:effectLst/>
                        </a:rPr>
                        <a:t>Training and Scaling LLM</a:t>
                      </a:r>
                      <a:endParaRPr lang="en-IN" sz="3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86" marR="66986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452217"/>
                  </a:ext>
                </a:extLst>
              </a:tr>
              <a:tr h="69826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b="0" kern="100" dirty="0">
                          <a:solidFill>
                            <a:schemeClr val="tx1"/>
                          </a:solidFill>
                          <a:effectLst/>
                        </a:rPr>
                        <a:t>Prompt Engineering</a:t>
                      </a:r>
                      <a:endParaRPr lang="en-IN" sz="3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86" marR="6698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029250"/>
                  </a:ext>
                </a:extLst>
              </a:tr>
              <a:tr h="69826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b="0" kern="100" dirty="0">
                          <a:solidFill>
                            <a:schemeClr val="tx1"/>
                          </a:solidFill>
                          <a:effectLst/>
                        </a:rPr>
                        <a:t>Fine-Tuning and Model Adaptation</a:t>
                      </a:r>
                      <a:endParaRPr lang="en-IN" sz="3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86" marR="6698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174056"/>
                  </a:ext>
                </a:extLst>
              </a:tr>
              <a:tr h="69826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b="0" kern="100" dirty="0">
                          <a:solidFill>
                            <a:schemeClr val="tx1"/>
                          </a:solidFill>
                          <a:effectLst/>
                        </a:rPr>
                        <a:t>Retrieval-Augmented Generation</a:t>
                      </a:r>
                      <a:endParaRPr lang="en-IN" sz="3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86" marR="6698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214090"/>
                  </a:ext>
                </a:extLst>
              </a:tr>
              <a:tr h="69826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b="0" kern="100">
                          <a:solidFill>
                            <a:schemeClr val="tx1"/>
                          </a:solidFill>
                          <a:effectLst/>
                        </a:rPr>
                        <a:t>AI Agents and Agentic Systems</a:t>
                      </a:r>
                      <a:endParaRPr lang="en-IN" sz="36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86" marR="6698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521807"/>
                  </a:ext>
                </a:extLst>
              </a:tr>
              <a:tr h="69826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b="0" kern="100" dirty="0">
                          <a:solidFill>
                            <a:schemeClr val="tx1"/>
                          </a:solidFill>
                          <a:effectLst/>
                        </a:rPr>
                        <a:t>Multimodal LLM</a:t>
                      </a:r>
                      <a:endParaRPr lang="en-IN" sz="3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86" marR="6698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454685"/>
                  </a:ext>
                </a:extLst>
              </a:tr>
              <a:tr h="69826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b="0" kern="100" dirty="0">
                          <a:solidFill>
                            <a:schemeClr val="tx1"/>
                          </a:solidFill>
                          <a:effectLst/>
                        </a:rPr>
                        <a:t>Productionizing AI Application</a:t>
                      </a:r>
                      <a:endParaRPr lang="en-IN" sz="3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86" marR="6698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07379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301A693-C75B-75F7-5DC4-7EC673B2DA5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3D2DA5-4F71-3B66-72D0-3E85E38983F1}"/>
              </a:ext>
            </a:extLst>
          </p:cNvPr>
          <p:cNvSpPr txBox="1">
            <a:spLocks/>
          </p:cNvSpPr>
          <p:nvPr/>
        </p:nvSpPr>
        <p:spPr>
          <a:xfrm>
            <a:off x="0" y="9625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Modules</a:t>
            </a:r>
          </a:p>
        </p:txBody>
      </p:sp>
    </p:spTree>
    <p:extLst>
      <p:ext uri="{BB962C8B-B14F-4D97-AF65-F5344CB8AC3E}">
        <p14:creationId xmlns:p14="http://schemas.microsoft.com/office/powerpoint/2010/main" val="1038588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22669-5BEF-F3C8-4F4B-A0634165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F86E439-0CD8-68AE-9327-37EBFC3FF1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Plan for Module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630365-A3B6-F4D5-D52F-F891426BC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27796"/>
              </p:ext>
            </p:extLst>
          </p:nvPr>
        </p:nvGraphicFramePr>
        <p:xfrm>
          <a:off x="417094" y="1376412"/>
          <a:ext cx="11357811" cy="513263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66610">
                  <a:extLst>
                    <a:ext uri="{9D8B030D-6E8A-4147-A177-3AD203B41FA5}">
                      <a16:colId xmlns:a16="http://schemas.microsoft.com/office/drawing/2014/main" val="1053805739"/>
                    </a:ext>
                  </a:extLst>
                </a:gridCol>
                <a:gridCol w="8291201">
                  <a:extLst>
                    <a:ext uri="{9D8B030D-6E8A-4147-A177-3AD203B41FA5}">
                      <a16:colId xmlns:a16="http://schemas.microsoft.com/office/drawing/2014/main" val="1129184188"/>
                    </a:ext>
                  </a:extLst>
                </a:gridCol>
              </a:tblGrid>
              <a:tr h="66262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IN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0" lang="en-US" sz="2000" b="1" u="none" strike="noStrike" kern="0" cap="none" spc="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PLAN</a:t>
                      </a:r>
                      <a:endParaRPr lang="en-IN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82134"/>
                  </a:ext>
                </a:extLst>
              </a:tr>
              <a:tr h="523654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19-07-2026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  <a:latin typeface="+mn-lt"/>
                        </a:rPr>
                        <a:t>(Sun)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Theory: Evolution of Language Models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697967"/>
                  </a:ext>
                </a:extLst>
              </a:tr>
              <a:tr h="926465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16-08-2026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  <a:latin typeface="+mn-lt"/>
                        </a:rPr>
                        <a:t>(Sun)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Theory</a:t>
                      </a: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Transformers and Foundation Models</a:t>
                      </a:r>
                      <a:endParaRPr kumimoji="0" lang="en-US" sz="20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Practical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Installation &amp; Setup complete,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NLP, Evolution of LLM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551530"/>
                  </a:ext>
                </a:extLst>
              </a:tr>
              <a:tr h="926465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22-08-2026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  <a:latin typeface="+mn-lt"/>
                        </a:rPr>
                        <a:t>(Sat) - 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+mn-lt"/>
                        </a:rPr>
                        <a:t>CANCELLED</a:t>
                      </a:r>
                    </a:p>
                    <a:p>
                      <a:endParaRPr lang="en-IN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Practical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: Explore Hugging Face Hub, Analyze Model Cards, Compare GPT-2/FLAN-T5/Llama Outputs, Experiment with Temperature/Top-K/Top-P, Prompt-Response Analysis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Practical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: Tokenization Experiments, BPE Token Visualization, Embedding Visualization, Attention Visualization, Comparing Encoder vs Decoder Models</a:t>
                      </a:r>
                      <a:endParaRPr lang="en-US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65617"/>
                  </a:ext>
                </a:extLst>
              </a:tr>
              <a:tr h="2014055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</a:rPr>
                        <a:t>23-08-2026 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  <a:latin typeface="+mn-lt"/>
                        </a:rPr>
                        <a:t>(Sun)</a:t>
                      </a:r>
                    </a:p>
                    <a:p>
                      <a:endParaRPr lang="en-IN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556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B9EB52C-6EF0-B15F-9968-A280D47BF9AA}"/>
              </a:ext>
            </a:extLst>
          </p:cNvPr>
          <p:cNvSpPr txBox="1"/>
          <p:nvPr/>
        </p:nvSpPr>
        <p:spPr>
          <a:xfrm>
            <a:off x="417094" y="750599"/>
            <a:ext cx="10084068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600" b="0" kern="100" dirty="0">
                <a:solidFill>
                  <a:schemeClr val="tx1"/>
                </a:solidFill>
                <a:effectLst/>
              </a:rPr>
              <a:t>Module 1 Foundations of Large Language Models</a:t>
            </a:r>
            <a:endParaRPr lang="en-IN" sz="3600" b="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B525FC-972F-67CF-0923-F143AFFFA401}"/>
                  </a:ext>
                </a:extLst>
              </p:cNvPr>
              <p:cNvSpPr txBox="1"/>
              <p:nvPr/>
            </p:nvSpPr>
            <p:spPr>
              <a:xfrm>
                <a:off x="5557584" y="3178412"/>
                <a:ext cx="862774" cy="274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B525FC-972F-67CF-0923-F143AFFFA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584" y="3178412"/>
                <a:ext cx="862774" cy="274320"/>
              </a:xfrm>
              <a:prstGeom prst="rect">
                <a:avLst/>
              </a:prstGeom>
              <a:blipFill>
                <a:blip r:embed="rId2"/>
                <a:stretch>
                  <a:fillRect l="-7092" r="-2837" b="-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50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FF4F-8EEF-28AA-6ADE-942D36E25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F92E-18BB-52B0-BE43-9506B8D9C95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E08EE-45E8-20D1-4623-BD1E1839CC6E}"/>
              </a:ext>
            </a:extLst>
          </p:cNvPr>
          <p:cNvSpPr txBox="1"/>
          <p:nvPr/>
        </p:nvSpPr>
        <p:spPr>
          <a:xfrm>
            <a:off x="-1" y="507544"/>
            <a:ext cx="12192001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rId3" action="ppaction://hlinksldjump"/>
              </a:rPr>
              <a:t>Recap of Session 1</a:t>
            </a:r>
            <a:endParaRPr lang="en-IN" sz="2200" b="1" dirty="0"/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rId4" action="ppaction://hlinksldjump"/>
              </a:rPr>
              <a:t>Large Language Models </a:t>
            </a:r>
            <a:endParaRPr lang="en-IN" sz="2200" b="1" dirty="0"/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rId5" action="ppaction://hlinksldjump"/>
              </a:rPr>
              <a:t>Transformer Architecture</a:t>
            </a:r>
            <a:endParaRPr lang="en-IN" sz="2200" b="1" dirty="0"/>
          </a:p>
          <a:p>
            <a:pPr marL="742950" lvl="1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rId6" action="ppaction://hlinksldjump"/>
              </a:rPr>
              <a:t>Tokenization</a:t>
            </a:r>
            <a:endParaRPr lang="en-IN" sz="2200" b="1" dirty="0"/>
          </a:p>
          <a:p>
            <a:pPr marL="742950" lvl="1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rId7" action="ppaction://hlinksldjump"/>
              </a:rPr>
              <a:t>Input Embeddings</a:t>
            </a:r>
            <a:endParaRPr lang="en-IN" sz="2200" b="1" dirty="0"/>
          </a:p>
          <a:p>
            <a:pPr marL="742950" lvl="1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rId8" action="ppaction://hlinksldjump"/>
              </a:rPr>
              <a:t>Positional Encodings/ Embeddings</a:t>
            </a:r>
            <a:endParaRPr lang="en-IN" sz="2200" b="1" dirty="0"/>
          </a:p>
          <a:p>
            <a:pPr marL="742950" lvl="1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rId9" action="ppaction://hlinksldjump"/>
              </a:rPr>
              <a:t>Encoders </a:t>
            </a:r>
            <a:r>
              <a:rPr lang="en-IN" sz="2000" dirty="0"/>
              <a:t>(</a:t>
            </a:r>
            <a:r>
              <a:rPr lang="en-IN" sz="2000" dirty="0">
                <a:hlinkClick r:id="" action="ppaction://noaction"/>
              </a:rPr>
              <a:t>Self Attention</a:t>
            </a:r>
            <a:r>
              <a:rPr lang="en-IN" sz="2000" dirty="0"/>
              <a:t>, </a:t>
            </a:r>
            <a:r>
              <a:rPr lang="en-IN" sz="2000" dirty="0">
                <a:hlinkClick r:id="" action="ppaction://noaction"/>
              </a:rPr>
              <a:t>Multi-head Attention</a:t>
            </a:r>
            <a:r>
              <a:rPr lang="en-IN" sz="2000" dirty="0"/>
              <a:t>, </a:t>
            </a:r>
            <a:r>
              <a:rPr lang="en-IN" sz="2000" dirty="0">
                <a:hlinkClick r:id="" action="ppaction://noaction"/>
              </a:rPr>
              <a:t>Add &amp; Normalization</a:t>
            </a:r>
            <a:r>
              <a:rPr lang="en-IN" sz="2000" dirty="0"/>
              <a:t>, </a:t>
            </a:r>
            <a:r>
              <a:rPr lang="en-IN" sz="2000" dirty="0">
                <a:hlinkClick r:id="" action="ppaction://noaction"/>
              </a:rPr>
              <a:t>Feedforward Layer</a:t>
            </a:r>
            <a:r>
              <a:rPr lang="en-IN" sz="2000" dirty="0"/>
              <a:t>, </a:t>
            </a:r>
            <a:r>
              <a:rPr lang="en-IN" sz="2000" dirty="0">
                <a:hlinkClick r:id="" action="ppaction://noaction"/>
              </a:rPr>
              <a:t>Training Objective</a:t>
            </a:r>
            <a:r>
              <a:rPr lang="en-IN" sz="2000" dirty="0"/>
              <a:t>)</a:t>
            </a:r>
            <a:endParaRPr lang="en-IN" sz="2000" b="1" dirty="0"/>
          </a:p>
          <a:p>
            <a:pPr marL="742950" lvl="1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" action="ppaction://noaction"/>
              </a:rPr>
              <a:t>Decoders</a:t>
            </a:r>
            <a:r>
              <a:rPr lang="en-IN" sz="2200" b="1" dirty="0"/>
              <a:t> </a:t>
            </a:r>
            <a:r>
              <a:rPr lang="en-IN" sz="2000" b="1" dirty="0"/>
              <a:t>(</a:t>
            </a:r>
            <a:r>
              <a:rPr lang="en-IN" sz="2000" dirty="0">
                <a:hlinkClick r:id="" action="ppaction://noaction"/>
              </a:rPr>
              <a:t>Masked Self-Attention</a:t>
            </a:r>
            <a:r>
              <a:rPr lang="en-IN" sz="2000" dirty="0"/>
              <a:t>, </a:t>
            </a:r>
            <a:r>
              <a:rPr lang="en-IN" sz="2000" dirty="0">
                <a:hlinkClick r:id="" action="ppaction://noaction"/>
              </a:rPr>
              <a:t>Next Token Prediction</a:t>
            </a:r>
            <a:r>
              <a:rPr lang="en-IN" sz="2000" dirty="0"/>
              <a:t>, </a:t>
            </a:r>
            <a:r>
              <a:rPr lang="en-IN" sz="2000" dirty="0">
                <a:hlinkClick r:id="" action="ppaction://noaction"/>
              </a:rPr>
              <a:t>Training Objective</a:t>
            </a:r>
            <a:r>
              <a:rPr lang="en-IN" sz="2000" dirty="0"/>
              <a:t>)</a:t>
            </a:r>
          </a:p>
          <a:p>
            <a:pPr marL="742950" lvl="1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" action="ppaction://noaction"/>
              </a:rPr>
              <a:t>Encoders-Decoders</a:t>
            </a:r>
            <a:r>
              <a:rPr lang="en-IN" sz="2200" b="1" dirty="0"/>
              <a:t>  </a:t>
            </a:r>
            <a:r>
              <a:rPr lang="en-IN" sz="2000" b="1" dirty="0"/>
              <a:t>(</a:t>
            </a:r>
            <a:r>
              <a:rPr lang="en-IN" sz="2000" dirty="0">
                <a:hlinkClick r:id="" action="ppaction://noaction"/>
              </a:rPr>
              <a:t>Cross Attention</a:t>
            </a:r>
            <a:r>
              <a:rPr lang="en-IN" sz="2000" dirty="0"/>
              <a:t>, </a:t>
            </a:r>
            <a:r>
              <a:rPr lang="en-IN" sz="2000" dirty="0">
                <a:hlinkClick r:id="" action="ppaction://noaction"/>
              </a:rPr>
              <a:t>Training Objective</a:t>
            </a:r>
            <a:r>
              <a:rPr lang="en-IN" sz="2000" dirty="0"/>
              <a:t>)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" action="ppaction://noaction"/>
              </a:rPr>
              <a:t>Transformer Variants</a:t>
            </a:r>
            <a:endParaRPr lang="en-IN" sz="2200" b="1" dirty="0"/>
          </a:p>
          <a:p>
            <a:pPr lvl="1">
              <a:spcAft>
                <a:spcPts val="400"/>
              </a:spcAft>
            </a:pPr>
            <a:r>
              <a:rPr lang="en-IN" sz="2200" b="1" dirty="0">
                <a:hlinkClick r:id="" action="ppaction://noaction"/>
              </a:rPr>
              <a:t>Encoder Only Models</a:t>
            </a:r>
            <a:endParaRPr lang="en-IN" sz="2200" b="1" dirty="0"/>
          </a:p>
          <a:p>
            <a:pPr marL="742950" lvl="1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" action="ppaction://noaction"/>
              </a:rPr>
              <a:t>Decoder Only Models</a:t>
            </a:r>
            <a:endParaRPr lang="en-IN" sz="2200" b="1" dirty="0"/>
          </a:p>
          <a:p>
            <a:pPr marL="742950" lvl="1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" action="ppaction://noaction"/>
              </a:rPr>
              <a:t>Encoder-Decoder Models</a:t>
            </a:r>
            <a:endParaRPr lang="en-IN" sz="2200" b="1" dirty="0"/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" action="ppaction://noaction"/>
              </a:rPr>
              <a:t>Rise of Decoder Only LLMs</a:t>
            </a:r>
            <a:endParaRPr lang="en-IN" sz="2200" b="1" dirty="0"/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" action="ppaction://noaction"/>
              </a:rPr>
              <a:t>Learning Highlights</a:t>
            </a:r>
            <a:endParaRPr lang="en-IN" sz="2200" b="1" dirty="0"/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IN" sz="2200" b="1" dirty="0">
                <a:hlinkClick r:id="" action="ppaction://noaction"/>
              </a:rPr>
              <a:t>Hands ON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16699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28921-BC5B-9EF8-8F3C-95D459F4A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C778C768-228B-0316-2984-443627B7C661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0A011E-5915-64E2-2742-5FEB7165D7E0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FDD11B9-8B66-3929-00A4-42A99A77CB08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5F9E2CC-A932-1EB0-549B-B84BFEFDA997}"/>
              </a:ext>
            </a:extLst>
          </p:cNvPr>
          <p:cNvSpPr/>
          <p:nvPr/>
        </p:nvSpPr>
        <p:spPr>
          <a:xfrm>
            <a:off x="609600" y="3319291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231A250-DE43-A5AE-3978-D8A87955DF8B}"/>
              </a:ext>
            </a:extLst>
          </p:cNvPr>
          <p:cNvSpPr txBox="1"/>
          <p:nvPr/>
        </p:nvSpPr>
        <p:spPr>
          <a:xfrm>
            <a:off x="-1" y="3429000"/>
            <a:ext cx="12192000" cy="120385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IN" sz="4000" i="1" dirty="0"/>
              <a:t> </a:t>
            </a:r>
            <a:r>
              <a:rPr lang="en-US" sz="4000" i="1" dirty="0"/>
              <a:t>Recap of Session 1 </a:t>
            </a:r>
          </a:p>
          <a:p>
            <a:pPr algn="ctr">
              <a:defRPr/>
            </a:pPr>
            <a:r>
              <a:rPr lang="en-US" sz="3600" i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2162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Venn Diagram showing relationship between AI, ML, DL, NLP, Computer vision">
            <a:extLst>
              <a:ext uri="{FF2B5EF4-FFF2-40B4-BE49-F238E27FC236}">
                <a16:creationId xmlns:a16="http://schemas.microsoft.com/office/drawing/2014/main" id="{311B81CA-6305-FF27-F94B-BE09A962B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972" y="704123"/>
            <a:ext cx="7078689" cy="573879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EB5041E-3D7F-BD61-67BA-7F6E3125BD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 Language Processing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775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3E79C8-64E6-A4E8-D48F-95DB85F67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957549"/>
              </p:ext>
            </p:extLst>
          </p:nvPr>
        </p:nvGraphicFramePr>
        <p:xfrm>
          <a:off x="293166" y="593313"/>
          <a:ext cx="11573094" cy="5926146"/>
        </p:xfrm>
        <a:graphic>
          <a:graphicData uri="http://schemas.openxmlformats.org/drawingml/2006/table">
            <a:tbl>
              <a:tblPr/>
              <a:tblGrid>
                <a:gridCol w="2144378">
                  <a:extLst>
                    <a:ext uri="{9D8B030D-6E8A-4147-A177-3AD203B41FA5}">
                      <a16:colId xmlns:a16="http://schemas.microsoft.com/office/drawing/2014/main" val="1195712803"/>
                    </a:ext>
                  </a:extLst>
                </a:gridCol>
                <a:gridCol w="4482849">
                  <a:extLst>
                    <a:ext uri="{9D8B030D-6E8A-4147-A177-3AD203B41FA5}">
                      <a16:colId xmlns:a16="http://schemas.microsoft.com/office/drawing/2014/main" val="4180127447"/>
                    </a:ext>
                  </a:extLst>
                </a:gridCol>
                <a:gridCol w="4945867">
                  <a:extLst>
                    <a:ext uri="{9D8B030D-6E8A-4147-A177-3AD203B41FA5}">
                      <a16:colId xmlns:a16="http://schemas.microsoft.com/office/drawing/2014/main" val="2849386089"/>
                    </a:ext>
                  </a:extLst>
                </a:gridCol>
              </a:tblGrid>
              <a:tr h="352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FF0000"/>
                          </a:solidFill>
                        </a:rPr>
                        <a:t>Aspect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Natural Language Understanding (NLU)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</a:rPr>
                        <a:t>Natural Language Generation (NLG)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29226"/>
                  </a:ext>
                </a:extLst>
              </a:tr>
              <a:tr h="850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Definition</a:t>
                      </a:r>
                      <a:endParaRPr lang="en-IN" sz="16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Enables machines to understand and interpret human language.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Enables machines to generate human-like language from structured information or internal representations.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196485"/>
                  </a:ext>
                </a:extLst>
              </a:tr>
              <a:tr h="352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Primary Goal</a:t>
                      </a:r>
                      <a:endParaRPr lang="en-IN" sz="16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Convert language into meaning.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Convert meaning or data into language.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693717"/>
                  </a:ext>
                </a:extLst>
              </a:tr>
              <a:tr h="58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Input</a:t>
                      </a:r>
                      <a:endParaRPr lang="en-IN" sz="16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Natural language text or speech.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Structured data, knowledge, or internal representation.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072443"/>
                  </a:ext>
                </a:extLst>
              </a:tr>
              <a:tr h="58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Output</a:t>
                      </a:r>
                      <a:endParaRPr lang="en-IN" sz="16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Intent, entities, semantics, relationships, sentiment, etc.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Natural language sentences, paragraphs, or conversations.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957975"/>
                  </a:ext>
                </a:extLst>
              </a:tr>
              <a:tr h="310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Direction</a:t>
                      </a:r>
                      <a:endParaRPr lang="en-IN" sz="16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Language → Meaning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Meaning/Data → Language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83776"/>
                  </a:ext>
                </a:extLst>
              </a:tr>
              <a:tr h="58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Key Question</a:t>
                      </a:r>
                      <a:endParaRPr lang="en-IN" sz="16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"What does the user mean?"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"How should the system express this information?"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89780"/>
                  </a:ext>
                </a:extLst>
              </a:tr>
              <a:tr h="850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Typical Tasks</a:t>
                      </a:r>
                      <a:endParaRPr lang="en-IN" sz="16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Intent detection, entity extraction, sentiment analysis, question understanding, text classification.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Text generation, summarization, report generation, dialogue response, translation, caption generation.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910241"/>
                  </a:ext>
                </a:extLst>
              </a:tr>
              <a:tr h="310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Focus</a:t>
                      </a:r>
                      <a:endParaRPr lang="en-IN" sz="16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Comprehension and interpretation.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Expression and communication.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495468"/>
                  </a:ext>
                </a:extLst>
              </a:tr>
              <a:tr h="58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Core Challenge</a:t>
                      </a:r>
                      <a:endParaRPr lang="en-IN" sz="1600" dirty="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Understanding ambiguity, context, and semantics.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Producing coherent, fluent, and contextually appropriate text.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29586"/>
                  </a:ext>
                </a:extLst>
              </a:tr>
              <a:tr h="580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Common Techniques (Traditional)</a:t>
                      </a:r>
                      <a:endParaRPr lang="en-IN" sz="1600"/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Rule-based systems, parsing, statistical models, classifiers.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Template-based systems, grammar rules, statistical language models.</a:t>
                      </a:r>
                    </a:p>
                  </a:txBody>
                  <a:tcPr marL="36261" marR="36261" marT="18131" marB="18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911025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0D97C812-2278-D22A-0639-6B3B6CA1DD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NLU vs NLG</a:t>
            </a:r>
          </a:p>
        </p:txBody>
      </p:sp>
    </p:spTree>
    <p:extLst>
      <p:ext uri="{BB962C8B-B14F-4D97-AF65-F5344CB8AC3E}">
        <p14:creationId xmlns:p14="http://schemas.microsoft.com/office/powerpoint/2010/main" val="872342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4A2C6-32BC-43C6-545F-50E52806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5E9CEB5-D99E-5FCE-BEB7-159CED2F9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7" y="789489"/>
            <a:ext cx="12132826" cy="560284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19F89F7-BE80-1740-0629-B9EC604D83C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 - Timelines</a:t>
            </a:r>
          </a:p>
        </p:txBody>
      </p:sp>
    </p:spTree>
    <p:extLst>
      <p:ext uri="{BB962C8B-B14F-4D97-AF65-F5344CB8AC3E}">
        <p14:creationId xmlns:p14="http://schemas.microsoft.com/office/powerpoint/2010/main" val="3470662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F9D3-3661-AD69-9583-301E204E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5C31-2E11-F9C0-09AC-3DA7C06B7F5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Model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9B55F-43AC-0C37-8AE6-5EA31E233776}"/>
              </a:ext>
            </a:extLst>
          </p:cNvPr>
          <p:cNvSpPr txBox="1"/>
          <p:nvPr/>
        </p:nvSpPr>
        <p:spPr>
          <a:xfrm>
            <a:off x="0" y="465667"/>
            <a:ext cx="12192000" cy="5898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dirty="0"/>
              <a:t>A </a:t>
            </a:r>
            <a:r>
              <a:rPr lang="en-IN" sz="2400" b="1" dirty="0"/>
              <a:t>Language Model (LM)</a:t>
            </a:r>
            <a:r>
              <a:rPr lang="en-IN" sz="2400" dirty="0"/>
              <a:t>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Model that learns the </a:t>
            </a:r>
            <a:r>
              <a:rPr lang="en-IN" sz="2400" b="1" dirty="0"/>
              <a:t>patterns, structure, and relationships</a:t>
            </a:r>
            <a:r>
              <a:rPr lang="en-IN" sz="2400" dirty="0"/>
              <a:t> of human language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Model that can help </a:t>
            </a:r>
            <a:r>
              <a:rPr lang="en-IN" sz="2400" b="1" dirty="0"/>
              <a:t>predict, understand, and generate natural language</a:t>
            </a:r>
            <a:r>
              <a:rPr lang="en-IN" sz="2400" dirty="0"/>
              <a:t>.</a:t>
            </a:r>
          </a:p>
          <a:p>
            <a:pPr>
              <a:lnSpc>
                <a:spcPct val="200000"/>
              </a:lnSpc>
            </a:pPr>
            <a:r>
              <a:rPr lang="en-IN" sz="2400" b="1" dirty="0"/>
              <a:t>Key Characteristics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Learns from large text corpora.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Captures grammar, context, and meaning.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Estimates the likelihood of the next word or piece of text.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30777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6573B5-DF57-D08D-4C8D-2493DB843BBF}"/>
              </a:ext>
            </a:extLst>
          </p:cNvPr>
          <p:cNvGraphicFramePr>
            <a:graphicFrameLocks noGrp="1"/>
          </p:cNvGraphicFramePr>
          <p:nvPr/>
        </p:nvGraphicFramePr>
        <p:xfrm>
          <a:off x="313266" y="635000"/>
          <a:ext cx="11624736" cy="5817263"/>
        </p:xfrm>
        <a:graphic>
          <a:graphicData uri="http://schemas.openxmlformats.org/drawingml/2006/table">
            <a:tbl>
              <a:tblPr/>
              <a:tblGrid>
                <a:gridCol w="1937456">
                  <a:extLst>
                    <a:ext uri="{9D8B030D-6E8A-4147-A177-3AD203B41FA5}">
                      <a16:colId xmlns:a16="http://schemas.microsoft.com/office/drawing/2014/main" val="2798553068"/>
                    </a:ext>
                  </a:extLst>
                </a:gridCol>
                <a:gridCol w="1937456">
                  <a:extLst>
                    <a:ext uri="{9D8B030D-6E8A-4147-A177-3AD203B41FA5}">
                      <a16:colId xmlns:a16="http://schemas.microsoft.com/office/drawing/2014/main" val="2386647502"/>
                    </a:ext>
                  </a:extLst>
                </a:gridCol>
                <a:gridCol w="1937456">
                  <a:extLst>
                    <a:ext uri="{9D8B030D-6E8A-4147-A177-3AD203B41FA5}">
                      <a16:colId xmlns:a16="http://schemas.microsoft.com/office/drawing/2014/main" val="3271938641"/>
                    </a:ext>
                  </a:extLst>
                </a:gridCol>
                <a:gridCol w="1937456">
                  <a:extLst>
                    <a:ext uri="{9D8B030D-6E8A-4147-A177-3AD203B41FA5}">
                      <a16:colId xmlns:a16="http://schemas.microsoft.com/office/drawing/2014/main" val="2808081107"/>
                    </a:ext>
                  </a:extLst>
                </a:gridCol>
                <a:gridCol w="1937456">
                  <a:extLst>
                    <a:ext uri="{9D8B030D-6E8A-4147-A177-3AD203B41FA5}">
                      <a16:colId xmlns:a16="http://schemas.microsoft.com/office/drawing/2014/main" val="1821669968"/>
                    </a:ext>
                  </a:extLst>
                </a:gridCol>
                <a:gridCol w="1937456">
                  <a:extLst>
                    <a:ext uri="{9D8B030D-6E8A-4147-A177-3AD203B41FA5}">
                      <a16:colId xmlns:a16="http://schemas.microsoft.com/office/drawing/2014/main" val="947163213"/>
                    </a:ext>
                  </a:extLst>
                </a:gridCol>
              </a:tblGrid>
              <a:tr h="443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Model family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Core idea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Strengths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Limitations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Context handling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Typical use today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957122"/>
                  </a:ext>
                </a:extLst>
              </a:tr>
              <a:tr h="1753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Statistical Language Models</a:t>
                      </a:r>
                      <a:endParaRPr lang="en-IN" sz="180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Estimate next-word probabilities from observed word frequencies (e.g., N-grams)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Simple, interpretable, fast inference, low compute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Sparse data problem, poor generalization, no semantic understanding, fixed context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Very short (typically 2–5 previous words)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Historical systems, educational purposes, some embedded or low-resource applications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149503"/>
                  </a:ext>
                </a:extLst>
              </a:tr>
              <a:tr h="2035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Neural Language Models (RNN, LSTM, GRU)</a:t>
                      </a:r>
                      <a:endParaRPr lang="en-IN" sz="18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Learn distributed word representations and sequence patterns using recurrent neural networks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Better generalization, captures semantic relationships, handles variable-length sequences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Sequential computation limits scalability, difficult long-range dependencies, slower training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Moderate (tens to hundreds of tokens in practice)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Legacy NLP pipelines, speech recognition, time-series and sequence </a:t>
                      </a:r>
                      <a:r>
                        <a:rPr lang="en-IN" sz="1800" dirty="0" err="1"/>
                        <a:t>modeling</a:t>
                      </a:r>
                      <a:endParaRPr lang="en-IN" sz="18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281188"/>
                  </a:ext>
                </a:extLst>
              </a:tr>
              <a:tr h="1585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Large Language Models (Transformers)</a:t>
                      </a:r>
                      <a:endParaRPr lang="en-IN" sz="1800" dirty="0"/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Learn language using self-attention across tokens and large-scale pretraining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Strong generation, reasoning, multitask learning, transfer learning, in-context learning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 compute cost, hallucinations, alignment/safety challenges, limited interpretability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Long (thousands to millions of tokens depending on architecture)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Chatbots, copilots, RAG systems, coding assistants, search, agents, multimodal AI</a:t>
                      </a:r>
                    </a:p>
                  </a:txBody>
                  <a:tcPr marL="55080" marR="55080" marT="27540" marB="27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799158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D4448BD4-E0B3-3953-FD4A-8FEE60CC6A6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– Language Models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541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40D1-F837-0B6F-33D5-E3D19C58E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25B3B-8477-756B-0D11-4C95434574C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Beyond Text: Modern LLMs 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37D28-519E-7116-7540-9245C5887E06}"/>
              </a:ext>
            </a:extLst>
          </p:cNvPr>
          <p:cNvSpPr txBox="1"/>
          <p:nvPr/>
        </p:nvSpPr>
        <p:spPr>
          <a:xfrm>
            <a:off x="0" y="481632"/>
            <a:ext cx="12192000" cy="146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Modern LLMs have evolved to understand and generate multiple types of information, including text, images, audio, documents, code, and videos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5EA730-46F5-A488-DAA1-19189E301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420" y="1947867"/>
            <a:ext cx="7093725" cy="47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565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ED0C-54D3-D366-669A-2225976F0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1EA48E67-EF1C-75CA-763D-16DDC30EF6D0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F101D1-A583-6B87-68F4-5B925DB09268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5B43CE1-8E35-BE3D-14D8-79127D4A5001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9A5D128-8BA1-D09A-BF2E-17FE508C10F9}"/>
              </a:ext>
            </a:extLst>
          </p:cNvPr>
          <p:cNvSpPr/>
          <p:nvPr/>
        </p:nvSpPr>
        <p:spPr>
          <a:xfrm>
            <a:off x="609600" y="3319291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5AED67B-32AC-A82D-3876-82562805CDBC}"/>
              </a:ext>
            </a:extLst>
          </p:cNvPr>
          <p:cNvSpPr txBox="1"/>
          <p:nvPr/>
        </p:nvSpPr>
        <p:spPr>
          <a:xfrm>
            <a:off x="-1" y="3429000"/>
            <a:ext cx="12192000" cy="649857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GB" sz="4000" i="1" dirty="0"/>
              <a:t>S</a:t>
            </a:r>
            <a:r>
              <a:rPr lang="en-US" sz="4000" i="1" dirty="0" err="1"/>
              <a:t>ection</a:t>
            </a:r>
            <a:r>
              <a:rPr lang="en-US" sz="4000" i="1" dirty="0"/>
              <a:t> 2: 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695034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6E50-1932-9363-F11B-6379B7FC2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1;p14">
            <a:extLst>
              <a:ext uri="{FF2B5EF4-FFF2-40B4-BE49-F238E27FC236}">
                <a16:creationId xmlns:a16="http://schemas.microsoft.com/office/drawing/2014/main" id="{F52595CB-E5E5-21A2-E234-83A4DD0CC2F7}"/>
              </a:ext>
            </a:extLst>
          </p:cNvPr>
          <p:cNvSpPr txBox="1">
            <a:spLocks/>
          </p:cNvSpPr>
          <p:nvPr/>
        </p:nvSpPr>
        <p:spPr>
          <a:xfrm>
            <a:off x="0" y="377791"/>
            <a:ext cx="12192000" cy="6102417"/>
          </a:xfrm>
          <a:prstGeom prst="rect">
            <a:avLst/>
          </a:prstGeom>
          <a:noFill/>
          <a:ln>
            <a:noFill/>
          </a:ln>
        </p:spPr>
        <p:txBody>
          <a:bodyPr spcFirstLastPara="1" lIns="0" tIns="0" rIns="0" bIns="0"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What LLMs are ? </a:t>
            </a:r>
          </a:p>
          <a:p>
            <a:pPr marR="0" lvl="1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Neural Language Models that can recognize, generate, translate, and summarize large amounts of text</a:t>
            </a: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How they work ?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	Most use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transformer architectures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that capture long-range context/relationships across words</a:t>
            </a: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What they learn/do ?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Trained on large corpora (books, articles, web pages) to perform tasks like generation, translation, summarization, sentiment.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841092-A714-07C5-E977-6BF8194E180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80786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964632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6B1D7-2263-DDD1-062A-F15F36FD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1;p14">
            <a:extLst>
              <a:ext uri="{FF2B5EF4-FFF2-40B4-BE49-F238E27FC236}">
                <a16:creationId xmlns:a16="http://schemas.microsoft.com/office/drawing/2014/main" id="{6660E745-C19B-6494-CC63-6097A9627D51}"/>
              </a:ext>
            </a:extLst>
          </p:cNvPr>
          <p:cNvSpPr txBox="1">
            <a:spLocks/>
          </p:cNvSpPr>
          <p:nvPr/>
        </p:nvSpPr>
        <p:spPr>
          <a:xfrm>
            <a:off x="0" y="293125"/>
            <a:ext cx="12192000" cy="5695750"/>
          </a:xfrm>
          <a:prstGeom prst="rect">
            <a:avLst/>
          </a:prstGeom>
          <a:noFill/>
          <a:ln>
            <a:noFill/>
          </a:ln>
        </p:spPr>
        <p:txBody>
          <a:bodyPr spcFirstLastPara="1" lIns="0" tIns="0" rIns="0" bIns="0"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solidFill>
                  <a:prstClr val="black"/>
                </a:solidFill>
              </a:rPr>
              <a:t>What drives quality ?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prstClr val="black"/>
                </a:solidFill>
              </a:rPr>
              <a:t>model size, diverse/high-quality data, and training algorithms impact capability and usefulness.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solidFill>
                  <a:prstClr val="black"/>
                </a:solidFill>
              </a:rPr>
              <a:t>Cost to train ?</a:t>
            </a:r>
          </a:p>
          <a:p>
            <a:pPr lvl="1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prstClr val="black"/>
                </a:solidFill>
              </a:rPr>
              <a:t>requires massive compute and time; e.g., GPT-4 reportedly cost &gt;$100M to train.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solidFill>
                  <a:prstClr val="black"/>
                </a:solidFill>
              </a:rPr>
              <a:t>Who builds them ? </a:t>
            </a:r>
          </a:p>
          <a:p>
            <a:pPr lvl="1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prstClr val="black"/>
                </a:solidFill>
              </a:rPr>
              <a:t>The largest LLMs are concentrated in a few organizations with the necessary </a:t>
            </a:r>
            <a:r>
              <a:rPr lang="en-US" sz="2400" dirty="0">
                <a:solidFill>
                  <a:prstClr val="black"/>
                </a:solidFill>
              </a:rPr>
              <a:t>tech, talent, and capital</a:t>
            </a:r>
            <a:endParaRPr lang="en-US" sz="2400" dirty="0">
              <a:solidFill>
                <a:prstClr val="black"/>
              </a:solidFill>
              <a:sym typeface="Nunito San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0E4F8C-E9F2-4414-0967-A9C17495107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80786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323157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5A4BC-E4AD-8C52-D39D-CB9869DE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>
            <a:extLst>
              <a:ext uri="{FF2B5EF4-FFF2-40B4-BE49-F238E27FC236}">
                <a16:creationId xmlns:a16="http://schemas.microsoft.com/office/drawing/2014/main" id="{E870793D-4C84-F819-2568-CE47150B0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95" y="958022"/>
            <a:ext cx="6129337" cy="528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Google Shape;701;p14">
            <a:extLst>
              <a:ext uri="{FF2B5EF4-FFF2-40B4-BE49-F238E27FC236}">
                <a16:creationId xmlns:a16="http://schemas.microsoft.com/office/drawing/2014/main" id="{FBA87DC0-62D0-2C84-9CCA-4BF1B9B96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832" y="2572509"/>
            <a:ext cx="5219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Subset of ML uses ANN to learn the data</a:t>
            </a:r>
          </a:p>
        </p:txBody>
      </p:sp>
      <p:sp>
        <p:nvSpPr>
          <p:cNvPr id="10" name="Google Shape;701;p14">
            <a:extLst>
              <a:ext uri="{FF2B5EF4-FFF2-40B4-BE49-F238E27FC236}">
                <a16:creationId xmlns:a16="http://schemas.microsoft.com/office/drawing/2014/main" id="{E8E71661-1D9F-D982-F3D9-AA584E87F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395" y="3982209"/>
            <a:ext cx="5219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Specific type of Gen-AI model trained with DL algorithms that focusses on generating humans-like text</a:t>
            </a:r>
          </a:p>
        </p:txBody>
      </p:sp>
      <p:sp>
        <p:nvSpPr>
          <p:cNvPr id="11" name="Google Shape;701;p14">
            <a:extLst>
              <a:ext uri="{FF2B5EF4-FFF2-40B4-BE49-F238E27FC236}">
                <a16:creationId xmlns:a16="http://schemas.microsoft.com/office/drawing/2014/main" id="{7A4BD8D9-CB59-EB70-6148-C1C520917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832" y="5274434"/>
            <a:ext cx="56562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Subset of AI focusses on generating new content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870FCE-40E9-F9DE-0A72-69366D44A84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80786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Language Models: AI Taxonomy</a:t>
            </a:r>
          </a:p>
        </p:txBody>
      </p:sp>
    </p:spTree>
    <p:extLst>
      <p:ext uri="{BB962C8B-B14F-4D97-AF65-F5344CB8AC3E}">
        <p14:creationId xmlns:p14="http://schemas.microsoft.com/office/powerpoint/2010/main" val="28781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17B49-59AC-008D-D415-E1DA26EBE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3FD6AF9F-4663-C601-32CD-576522F12D26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A7C3E9-CCE4-5A65-A5CF-7451EEFAB2E4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6D6121-EC1A-7C95-31AC-6A2467FD2978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9978F94-A5A4-7436-AC65-0498C533BD99}"/>
              </a:ext>
            </a:extLst>
          </p:cNvPr>
          <p:cNvSpPr/>
          <p:nvPr/>
        </p:nvSpPr>
        <p:spPr>
          <a:xfrm>
            <a:off x="609600" y="3319291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7BCA31F-1184-105B-2B19-0CF182131BA3}"/>
              </a:ext>
            </a:extLst>
          </p:cNvPr>
          <p:cNvSpPr txBox="1"/>
          <p:nvPr/>
        </p:nvSpPr>
        <p:spPr>
          <a:xfrm>
            <a:off x="-1" y="3429000"/>
            <a:ext cx="12192000" cy="120385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GB" sz="4000" i="1" dirty="0"/>
              <a:t>S</a:t>
            </a:r>
            <a:r>
              <a:rPr lang="en-US" sz="4000" i="1" dirty="0" err="1"/>
              <a:t>ection</a:t>
            </a:r>
            <a:r>
              <a:rPr lang="en-US" sz="4000" i="1" dirty="0"/>
              <a:t> 2: Large Language Models</a:t>
            </a:r>
          </a:p>
          <a:p>
            <a:pPr algn="ctr">
              <a:defRPr/>
            </a:pPr>
            <a:r>
              <a:rPr lang="en-US" sz="3600" i="1" dirty="0">
                <a:solidFill>
                  <a:srgbClr val="FF0000"/>
                </a:solidFill>
              </a:rPr>
              <a:t>Transformer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70970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38613-0768-BFDA-BBC3-E95572952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AF58768-DFC3-119C-3290-3ACC4D64198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60A2B6-A5C7-0D3A-66C3-BCCC1CF21636}"/>
              </a:ext>
            </a:extLst>
          </p:cNvPr>
          <p:cNvSpPr txBox="1"/>
          <p:nvPr/>
        </p:nvSpPr>
        <p:spPr>
          <a:xfrm>
            <a:off x="0" y="703955"/>
            <a:ext cx="12192000" cy="5959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457200"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Traditional language models could predict the next word but struggled with complex language understanding</a:t>
            </a:r>
          </a:p>
          <a:p>
            <a:pPr marL="1257300" lvl="2" indent="-342900" defTabSz="457200"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000" i="1" dirty="0">
                <a:solidFill>
                  <a:srgbClr val="FF0000"/>
                </a:solidFill>
              </a:rPr>
              <a:t>E.g. </a:t>
            </a:r>
            <a:r>
              <a:rPr lang="en-US" sz="2000" i="1" dirty="0"/>
              <a:t>John gave Peter his laptop because he had finished his work.</a:t>
            </a:r>
            <a:endParaRPr lang="en-IN" sz="2000" i="1" dirty="0"/>
          </a:p>
          <a:p>
            <a:pPr marL="1257300" lvl="2" indent="-342900" defTabSz="457200"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000" i="1" dirty="0">
                <a:solidFill>
                  <a:srgbClr val="FF0000"/>
                </a:solidFill>
              </a:rPr>
              <a:t>E.g.  </a:t>
            </a:r>
            <a:r>
              <a:rPr lang="en-IN" sz="2000" i="1" dirty="0"/>
              <a:t>I saw the man with the telescope.</a:t>
            </a:r>
          </a:p>
          <a:p>
            <a:pPr marL="342900" lvl="0" indent="-342900" defTabSz="457200">
              <a:lnSpc>
                <a:spcPct val="20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RNNs and LSTMs processed text sequentially, making training slow and difficult to parallelize. </a:t>
            </a:r>
          </a:p>
          <a:p>
            <a:pPr marL="342900" lvl="0" indent="-342900" defTabSz="457200">
              <a:lnSpc>
                <a:spcPct val="20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Capturing long-range dependencies became challenging as sequence length increased. </a:t>
            </a:r>
          </a:p>
          <a:p>
            <a:pPr marL="800100" lvl="1" indent="-342900" defTabSz="457200"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000" i="1" dirty="0">
                <a:solidFill>
                  <a:srgbClr val="FF0000"/>
                </a:solidFill>
              </a:rPr>
              <a:t>E.g. </a:t>
            </a:r>
            <a:r>
              <a:rPr lang="en-IN" sz="2000" i="1" dirty="0"/>
              <a:t>John went to the supermarket after finishing work. He met his friend, had coffee, discussed a project, bought groceries, and then returned home. Before sleeping, he remembered that he had forgotten to buy milk. </a:t>
            </a:r>
            <a:endParaRPr lang="en-IN" sz="2400" dirty="0"/>
          </a:p>
          <a:p>
            <a:pPr marL="342900" lvl="0" indent="-342900" defTabSz="457200">
              <a:lnSpc>
                <a:spcPct val="20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Performance degraded when processing long documents or conversations. </a:t>
            </a:r>
          </a:p>
          <a:p>
            <a:pPr marL="342900" lvl="0" indent="-342900" defTabSz="457200">
              <a:lnSpc>
                <a:spcPct val="20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Scaling to massive datasets and large models was computationally inefficient. </a:t>
            </a:r>
          </a:p>
          <a:p>
            <a:pPr marL="342900" indent="-342900" defTabSz="457200">
              <a:lnSpc>
                <a:spcPct val="20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Modern NLP required architectures that were faster, more scalable, and context-aware. </a:t>
            </a:r>
          </a:p>
        </p:txBody>
      </p:sp>
    </p:spTree>
    <p:extLst>
      <p:ext uri="{BB962C8B-B14F-4D97-AF65-F5344CB8AC3E}">
        <p14:creationId xmlns:p14="http://schemas.microsoft.com/office/powerpoint/2010/main" val="3054851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8E27-69B8-C9C3-6EED-A0F77B47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1;p14">
            <a:extLst>
              <a:ext uri="{FF2B5EF4-FFF2-40B4-BE49-F238E27FC236}">
                <a16:creationId xmlns:a16="http://schemas.microsoft.com/office/drawing/2014/main" id="{8B48FA04-E9D0-3857-F092-724FECE71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6138"/>
            <a:ext cx="12192000" cy="10696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sym typeface="Nunito Sans" pitchFamily="2" charset="0"/>
              </a:rPr>
              <a:t>Transformers are a Neural Network Architecture 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that learns which parts (or elements) of a sequence (or data) should pay attention to understand the context and generate output</a:t>
            </a:r>
            <a:endParaRPr lang="en-US" altLang="en-US" sz="2400" dirty="0">
              <a:solidFill>
                <a:srgbClr val="000000"/>
              </a:solidFill>
              <a:latin typeface="+mn-lt"/>
              <a:sym typeface="Nunito 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E913F-088E-4CA5-2857-FE532176B242}"/>
              </a:ext>
            </a:extLst>
          </p:cNvPr>
          <p:cNvSpPr txBox="1"/>
          <p:nvPr/>
        </p:nvSpPr>
        <p:spPr>
          <a:xfrm>
            <a:off x="9469797" y="5862887"/>
            <a:ext cx="1944328" cy="24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https://arxiv.org/abs/1706.03762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E847E4-163D-06AF-A4B6-021A47B04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040" y="2009553"/>
            <a:ext cx="2667693" cy="38533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137CCE-97D1-F4A5-4A17-4A79E9F23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63" y="2221215"/>
            <a:ext cx="6720365" cy="37640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3F6CD78-9625-15AE-F00B-7793A72C431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Transformers?</a:t>
            </a:r>
          </a:p>
        </p:txBody>
      </p:sp>
    </p:spTree>
    <p:extLst>
      <p:ext uri="{BB962C8B-B14F-4D97-AF65-F5344CB8AC3E}">
        <p14:creationId xmlns:p14="http://schemas.microsoft.com/office/powerpoint/2010/main" val="3278439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DE651DB-08C2-C484-87EA-23C0D926108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 Architecture (Overview)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AE8CE-9FE9-DF83-11F8-748D6368C046}"/>
              </a:ext>
            </a:extLst>
          </p:cNvPr>
          <p:cNvSpPr txBox="1"/>
          <p:nvPr/>
        </p:nvSpPr>
        <p:spPr>
          <a:xfrm>
            <a:off x="0" y="592944"/>
            <a:ext cx="7247467" cy="571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Introduced in </a:t>
            </a:r>
            <a:r>
              <a:rPr lang="en-IN" sz="2400" b="1" dirty="0"/>
              <a:t>"Attention Is All You Need" (2017)</a:t>
            </a:r>
            <a:r>
              <a:rPr lang="en-IN" sz="2400" dirty="0"/>
              <a:t>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Designed to process sequences using the </a:t>
            </a:r>
            <a:r>
              <a:rPr lang="en-IN" sz="2400" b="1" dirty="0"/>
              <a:t>Self-Attention</a:t>
            </a:r>
            <a:r>
              <a:rPr lang="en-IN" sz="2400" dirty="0"/>
              <a:t> mechanism.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Consists of two main components: </a:t>
            </a:r>
            <a:r>
              <a:rPr lang="en-IN" sz="2400" b="1" dirty="0"/>
              <a:t>Encoder</a:t>
            </a:r>
            <a:r>
              <a:rPr lang="en-IN" sz="2400" dirty="0"/>
              <a:t> and </a:t>
            </a:r>
            <a:r>
              <a:rPr lang="en-IN" sz="2400" b="1" dirty="0"/>
              <a:t>Decoder</a:t>
            </a:r>
            <a:r>
              <a:rPr lang="en-IN" sz="2400" dirty="0"/>
              <a:t>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Both components are built by stacking multiple identical layers.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Forms the foundation of modern LLMs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037F6E-F42D-4F95-AF4F-F3CF11336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385" y="5843533"/>
            <a:ext cx="5271436" cy="7086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FC6831-9D2F-9D71-FA1D-69F3BBD6C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91" y="771515"/>
            <a:ext cx="4156425" cy="4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57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D59F-8021-E7B8-43A3-2740B364E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1;p14">
            <a:extLst>
              <a:ext uri="{FF2B5EF4-FFF2-40B4-BE49-F238E27FC236}">
                <a16:creationId xmlns:a16="http://schemas.microsoft.com/office/drawing/2014/main" id="{87C5367C-8BD2-EF0A-C312-C66BDB766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1067"/>
            <a:ext cx="12192000" cy="513920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sym typeface="Nunito Sans" pitchFamily="2" charset="0"/>
              </a:rPr>
              <a:t>Natural Language Processing:  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sym typeface="Nunito Sans" pitchFamily="2" charset="0"/>
              </a:rPr>
              <a:t>Language Modelling, Text classification, QA, Translation, Summarization, Text generation, Named Entity Recognition etc.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sym typeface="Nunito Sans" pitchFamily="2" charset="0"/>
              </a:rPr>
              <a:t>Computer Vision: 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sym typeface="Nunito Sans" pitchFamily="2" charset="0"/>
              </a:rPr>
              <a:t>Image classification, Object detection and Segmentation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sym typeface="Nunito Sans" pitchFamily="2" charset="0"/>
              </a:rPr>
              <a:t>Audio: 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sym typeface="Nunito Sans" pitchFamily="2" charset="0"/>
              </a:rPr>
              <a:t>Automatic Speech Recognition and Audio Classification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sym typeface="Nunito Sans" pitchFamily="2" charset="0"/>
              </a:rPr>
              <a:t>Multimodal: 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sym typeface="Nunito Sans" pitchFamily="2" charset="0"/>
              </a:rPr>
              <a:t>Optical Character Recognition, Video classification, Visual QA etc.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B7155F-987E-3AC0-10E4-10D4522976F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can we do with Transformers?</a:t>
            </a:r>
          </a:p>
        </p:txBody>
      </p:sp>
    </p:spTree>
    <p:extLst>
      <p:ext uri="{BB962C8B-B14F-4D97-AF65-F5344CB8AC3E}">
        <p14:creationId xmlns:p14="http://schemas.microsoft.com/office/powerpoint/2010/main" val="2054373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45D73-DB09-04BF-6B99-366373C6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CBDADBA6-DFD1-156C-3286-003A550F3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66" y="637585"/>
            <a:ext cx="11548533" cy="593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87C9F3D7-2C16-46E6-7F4C-1EB1B144A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66230"/>
            <a:ext cx="61007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hlinkClick r:id="rId4"/>
              </a:rPr>
              <a:t>https://www.managementsolutions.com/sites/default/files/minisite/static/72b0015f-39c9-4a52-ba63-872c115bfbd0/llm/pdf/rise-of-llm.pdf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128DD0-89F1-0A6C-C084-ACC75854482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 Architecture (Overview)</a:t>
            </a:r>
          </a:p>
        </p:txBody>
      </p:sp>
    </p:spTree>
    <p:extLst>
      <p:ext uri="{BB962C8B-B14F-4D97-AF65-F5344CB8AC3E}">
        <p14:creationId xmlns:p14="http://schemas.microsoft.com/office/powerpoint/2010/main" val="3469434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D01DB-BABE-B58A-0604-F2BE89D9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4372FFCB-0251-CD46-709E-98875615D9B2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A0CC9D-EFCB-7B2A-BCD8-395ECA0478A1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A337C07-F41A-C610-5F0D-B7ABE8949B6C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7359DF9-3A45-6CBE-0F9B-0B73C85DF3AA}"/>
              </a:ext>
            </a:extLst>
          </p:cNvPr>
          <p:cNvSpPr/>
          <p:nvPr/>
        </p:nvSpPr>
        <p:spPr>
          <a:xfrm>
            <a:off x="609600" y="3319291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D002235-C167-4BD0-6B21-08E05D538800}"/>
              </a:ext>
            </a:extLst>
          </p:cNvPr>
          <p:cNvSpPr txBox="1"/>
          <p:nvPr/>
        </p:nvSpPr>
        <p:spPr>
          <a:xfrm>
            <a:off x="-1" y="3429000"/>
            <a:ext cx="12192000" cy="120385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GB" sz="4000" i="1" dirty="0"/>
              <a:t>S</a:t>
            </a:r>
            <a:r>
              <a:rPr lang="en-US" sz="4000" i="1" dirty="0" err="1"/>
              <a:t>ection</a:t>
            </a:r>
            <a:r>
              <a:rPr lang="en-US" sz="4000" i="1" dirty="0"/>
              <a:t> 2: Large Language Models</a:t>
            </a:r>
          </a:p>
          <a:p>
            <a:pPr algn="ctr">
              <a:defRPr/>
            </a:pPr>
            <a:r>
              <a:rPr lang="en-US" sz="3600" i="1" dirty="0">
                <a:solidFill>
                  <a:srgbClr val="FF0000"/>
                </a:solidFill>
              </a:rPr>
              <a:t>Transformer Architecture - </a:t>
            </a:r>
            <a:r>
              <a:rPr lang="en-US" sz="3600" i="1" dirty="0">
                <a:solidFill>
                  <a:schemeClr val="accent6"/>
                </a:solidFill>
              </a:rPr>
              <a:t>Tokenization</a:t>
            </a:r>
          </a:p>
        </p:txBody>
      </p:sp>
    </p:spTree>
    <p:extLst>
      <p:ext uri="{BB962C8B-B14F-4D97-AF65-F5344CB8AC3E}">
        <p14:creationId xmlns:p14="http://schemas.microsoft.com/office/powerpoint/2010/main" val="4282867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24691-2B9D-972B-5942-C156EFAA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A32AED-A866-96D0-FEE0-9581461CD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44" y="3476600"/>
            <a:ext cx="6233700" cy="2629128"/>
          </a:xfrm>
          <a:prstGeom prst="rect">
            <a:avLst/>
          </a:prstGeom>
        </p:spPr>
      </p:pic>
      <p:sp>
        <p:nvSpPr>
          <p:cNvPr id="4" name="Google Shape;701;p14">
            <a:extLst>
              <a:ext uri="{FF2B5EF4-FFF2-40B4-BE49-F238E27FC236}">
                <a16:creationId xmlns:a16="http://schemas.microsoft.com/office/drawing/2014/main" id="{B2316556-FF98-C913-2171-4A8DF7646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1683"/>
            <a:ext cx="12192000" cy="30064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Converts text into smaller units called </a:t>
            </a:r>
            <a:r>
              <a:rPr lang="en-IN" sz="2400" b="1" dirty="0"/>
              <a:t>tokens</a:t>
            </a:r>
            <a:r>
              <a:rPr lang="en-IN" sz="2400" dirty="0"/>
              <a:t>. </a:t>
            </a:r>
          </a:p>
          <a:p>
            <a:pPr lvl="0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Tokens are the fundamental units processed by LLMs. </a:t>
            </a:r>
          </a:p>
          <a:p>
            <a:pPr lvl="0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Tokens can represent </a:t>
            </a:r>
            <a:r>
              <a:rPr lang="en-IN" sz="2400" b="1" dirty="0"/>
              <a:t>characters, </a:t>
            </a:r>
            <a:r>
              <a:rPr lang="en-IN" sz="2400" b="1" dirty="0" err="1"/>
              <a:t>subwords</a:t>
            </a:r>
            <a:r>
              <a:rPr lang="en-IN" sz="2400" b="1" dirty="0"/>
              <a:t>, words, or punctuation</a:t>
            </a:r>
            <a:r>
              <a:rPr lang="en-IN" sz="2400" dirty="0"/>
              <a:t>. </a:t>
            </a:r>
          </a:p>
          <a:p>
            <a:pPr lvl="0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Each token is mapped to a unique ID from the model's </a:t>
            </a:r>
            <a:r>
              <a:rPr lang="en-IN" sz="2400" b="1" dirty="0"/>
              <a:t>vocabulary</a:t>
            </a:r>
            <a:r>
              <a:rPr lang="en-IN" sz="2400" dirty="0"/>
              <a:t>. </a:t>
            </a:r>
          </a:p>
          <a:p>
            <a:pPr lvl="0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n-IN" sz="2400" dirty="0"/>
              <a:t>The token sequence is then used as input to the Transformer.</a:t>
            </a:r>
            <a:endParaRPr lang="en-US" altLang="en-US" sz="2400" dirty="0">
              <a:sym typeface="Nunito Sans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B71A8B-134B-BD04-0533-6A166340C1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17533-EF96-1E9B-D65F-BBEC6E2CB552}"/>
              </a:ext>
            </a:extLst>
          </p:cNvPr>
          <p:cNvSpPr txBox="1"/>
          <p:nvPr/>
        </p:nvSpPr>
        <p:spPr>
          <a:xfrm>
            <a:off x="6993467" y="4191000"/>
            <a:ext cx="50461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Text:</a:t>
            </a:r>
            <a:r>
              <a:rPr lang="en-IN" dirty="0"/>
              <a:t> </a:t>
            </a:r>
            <a:r>
              <a:rPr lang="en-IN" i="1" dirty="0"/>
              <a:t>"Transformers are amazing!“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Tokens:</a:t>
            </a: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["Transform", "</a:t>
            </a:r>
            <a:r>
              <a:rPr lang="en-IN" dirty="0" err="1">
                <a:latin typeface="Courier New" panose="02070309020205020404" pitchFamily="49" charset="0"/>
              </a:rPr>
              <a:t>ers</a:t>
            </a:r>
            <a:r>
              <a:rPr lang="en-IN" dirty="0">
                <a:latin typeface="Courier New" panose="02070309020205020404" pitchFamily="49" charset="0"/>
              </a:rPr>
              <a:t>", "are", "amazing", "!"]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099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1FB5-4083-24C5-CC6C-FCA53946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01;p14">
            <a:extLst>
              <a:ext uri="{FF2B5EF4-FFF2-40B4-BE49-F238E27FC236}">
                <a16:creationId xmlns:a16="http://schemas.microsoft.com/office/drawing/2014/main" id="{FEF4C5D5-79B4-F748-6913-46BA70878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428537"/>
            <a:ext cx="12191999" cy="59305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b="1" dirty="0"/>
              <a:t>Normalization</a:t>
            </a:r>
            <a:r>
              <a:rPr lang="en-IN" sz="2400" dirty="0"/>
              <a:t> </a:t>
            </a:r>
          </a:p>
          <a:p>
            <a:pPr lvl="1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200" dirty="0"/>
              <a:t>Standardize text (lowercasing, whitespace, punctuation, Unicode normalization*) </a:t>
            </a:r>
          </a:p>
          <a:p>
            <a:pPr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b="1" dirty="0"/>
              <a:t>Pre-tokenization</a:t>
            </a:r>
            <a:r>
              <a:rPr lang="en-IN" sz="2400" dirty="0"/>
              <a:t> </a:t>
            </a:r>
          </a:p>
          <a:p>
            <a:pPr lvl="1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200" dirty="0"/>
              <a:t>Split text into smaller units (words, punctuation, symbols) </a:t>
            </a:r>
          </a:p>
          <a:p>
            <a:pPr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b="1" dirty="0"/>
              <a:t>Tokenization</a:t>
            </a:r>
            <a:r>
              <a:rPr lang="en-IN" sz="2400" dirty="0"/>
              <a:t> </a:t>
            </a:r>
          </a:p>
          <a:p>
            <a:pPr lvl="1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200" dirty="0"/>
              <a:t>Convert text into tokens using a tokenization algorithm </a:t>
            </a:r>
          </a:p>
          <a:p>
            <a:pPr lvl="1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200" dirty="0"/>
              <a:t>Character-level (e.g., Character Split)</a:t>
            </a:r>
          </a:p>
          <a:p>
            <a:pPr lvl="1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200" dirty="0"/>
              <a:t>Word-level (e.g., </a:t>
            </a:r>
            <a:r>
              <a:rPr lang="en-US" sz="2200" dirty="0"/>
              <a:t>Whitespace Tokenizer, Rule-based Tokenizer, Regex Tokenizer</a:t>
            </a:r>
            <a:r>
              <a:rPr lang="en-IN" sz="2200" dirty="0"/>
              <a:t>)</a:t>
            </a:r>
          </a:p>
          <a:p>
            <a:pPr lvl="1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200" dirty="0" err="1"/>
              <a:t>Subword</a:t>
            </a:r>
            <a:r>
              <a:rPr lang="en-IN" sz="2200" dirty="0"/>
              <a:t>-level (e.g., </a:t>
            </a:r>
            <a:r>
              <a:rPr lang="en-IN" sz="2200" b="1" dirty="0"/>
              <a:t>Byte Pair Encoding (BPE), </a:t>
            </a:r>
            <a:r>
              <a:rPr lang="en-IN" sz="2200" dirty="0" err="1"/>
              <a:t>WordPiece</a:t>
            </a:r>
            <a:r>
              <a:rPr lang="en-IN" sz="2200" dirty="0"/>
              <a:t>, </a:t>
            </a:r>
            <a:r>
              <a:rPr lang="en-IN" sz="2200" dirty="0" err="1"/>
              <a:t>SentencePiece</a:t>
            </a:r>
            <a:r>
              <a:rPr lang="en-IN" sz="2200" dirty="0"/>
              <a:t>) </a:t>
            </a:r>
          </a:p>
          <a:p>
            <a:pPr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400" b="1" dirty="0"/>
              <a:t>Vocabulary Construction</a:t>
            </a:r>
            <a:r>
              <a:rPr lang="en-IN" sz="2400" dirty="0"/>
              <a:t> </a:t>
            </a:r>
          </a:p>
          <a:p>
            <a:pPr lvl="1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200" dirty="0"/>
              <a:t>Build a vocabulary of unique tokens </a:t>
            </a:r>
          </a:p>
          <a:p>
            <a:pPr lvl="1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IN" sz="2200" dirty="0"/>
              <a:t>Assign a unique numerical ID to each token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636124-D6C6-F262-C266-25CBCDAAD9B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Tokenization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D5D1A-3189-9BA6-9416-ACEF940608BE}"/>
              </a:ext>
            </a:extLst>
          </p:cNvPr>
          <p:cNvSpPr txBox="1"/>
          <p:nvPr/>
        </p:nvSpPr>
        <p:spPr>
          <a:xfrm>
            <a:off x="0" y="6359113"/>
            <a:ext cx="11870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*Unicode normalization is the process of standardizing character strings so that visually and semantically identical texts have the same binary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79464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A3364-FEF5-854C-2864-658B612F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1;p14">
            <a:extLst>
              <a:ext uri="{FF2B5EF4-FFF2-40B4-BE49-F238E27FC236}">
                <a16:creationId xmlns:a16="http://schemas.microsoft.com/office/drawing/2014/main" id="{4780C763-9261-2B22-50EB-6B85FD66E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5" y="635627"/>
            <a:ext cx="12154565" cy="10497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Universal method for learning subword tokenizers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Build vocabulary of tokens bottom-up by a merging frequent pair of tokens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23430-D6AF-EE46-C68D-DEC526570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74" y="2683275"/>
            <a:ext cx="2789162" cy="21337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FD949A-AE5D-1CAC-93DB-8D2A0F256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712" y="2420554"/>
            <a:ext cx="2720576" cy="244623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82878B4-BF1A-F721-8B8D-A9A6C4533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243" y="4907691"/>
            <a:ext cx="3625768" cy="41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 pitchFamily="2" charset="0"/>
                <a:ea typeface="+mn-ea"/>
                <a:cs typeface="+mn-cs"/>
              </a:rPr>
              <a:t>Pre-tokenize: Splitting on white space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61A6E3-0DA7-6023-ECA0-EF3A776D3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0464" y="2013974"/>
            <a:ext cx="2758679" cy="354360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87BAA5-3305-3D27-9283-37C7B95AE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5444" y="5557581"/>
            <a:ext cx="2758680" cy="41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 pitchFamily="2" charset="0"/>
                <a:ea typeface="+mn-ea"/>
                <a:cs typeface="+mn-cs"/>
              </a:rPr>
              <a:t>Split into sequence of bytes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6236487-343E-42C6-CE5A-334B358C028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Tokenization – Byte-Pair Encoding </a:t>
            </a:r>
          </a:p>
        </p:txBody>
      </p:sp>
    </p:spTree>
    <p:extLst>
      <p:ext uri="{BB962C8B-B14F-4D97-AF65-F5344CB8AC3E}">
        <p14:creationId xmlns:p14="http://schemas.microsoft.com/office/powerpoint/2010/main" val="375611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152E4-BF3D-3039-105C-24F93F3C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097948-D31C-B897-785E-97BC26EA7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49" y="2477184"/>
            <a:ext cx="5315516" cy="29484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CC6907-AC62-9204-B228-E31EA465EEAD}"/>
              </a:ext>
            </a:extLst>
          </p:cNvPr>
          <p:cNvSpPr txBox="1"/>
          <p:nvPr/>
        </p:nvSpPr>
        <p:spPr>
          <a:xfrm>
            <a:off x="-87125" y="6492834"/>
            <a:ext cx="35691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https://christophergs.com/blog/understanding-llm-tokenization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D447E7-091E-370C-6DDE-8B86456C1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007" y="2386507"/>
            <a:ext cx="3084703" cy="3039172"/>
          </a:xfrm>
          <a:prstGeom prst="rect">
            <a:avLst/>
          </a:prstGeom>
        </p:spPr>
      </p:pic>
      <p:pic>
        <p:nvPicPr>
          <p:cNvPr id="16" name="Picture 15" descr="A pair of words and numbers&#10;&#10;AI-generated content may be incorrect.">
            <a:extLst>
              <a:ext uri="{FF2B5EF4-FFF2-40B4-BE49-F238E27FC236}">
                <a16:creationId xmlns:a16="http://schemas.microsoft.com/office/drawing/2014/main" id="{CD3D4029-F9C7-C290-99C3-B7BC9F951E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5710" y="2386507"/>
            <a:ext cx="3453541" cy="316185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315C39E-D09B-9F36-F21A-CFB4EAC31CE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Tokenization – Byte-Pair Encoding </a:t>
            </a:r>
          </a:p>
        </p:txBody>
      </p:sp>
      <p:sp>
        <p:nvSpPr>
          <p:cNvPr id="11" name="Google Shape;701;p14">
            <a:extLst>
              <a:ext uri="{FF2B5EF4-FFF2-40B4-BE49-F238E27FC236}">
                <a16:creationId xmlns:a16="http://schemas.microsoft.com/office/drawing/2014/main" id="{C9FD4439-D3BB-B2AD-0F23-66BFC2408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5" y="635627"/>
            <a:ext cx="12154565" cy="10497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Universal method for learning subword tokenizers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Build vocabulary of tokens bottom-up by a merging frequent pair of tokens</a:t>
            </a:r>
          </a:p>
        </p:txBody>
      </p:sp>
    </p:spTree>
    <p:extLst>
      <p:ext uri="{BB962C8B-B14F-4D97-AF65-F5344CB8AC3E}">
        <p14:creationId xmlns:p14="http://schemas.microsoft.com/office/powerpoint/2010/main" val="186601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E4354-CB64-90AF-48F2-059E3061C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01;p14">
            <a:extLst>
              <a:ext uri="{FF2B5EF4-FFF2-40B4-BE49-F238E27FC236}">
                <a16:creationId xmlns:a16="http://schemas.microsoft.com/office/drawing/2014/main" id="{D9DB0507-6496-5A02-5187-5EC521073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9534"/>
            <a:ext cx="12474293" cy="172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-285750">
              <a:lnSpc>
                <a:spcPct val="15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Building Vocabulary</a:t>
            </a:r>
          </a:p>
          <a:p>
            <a:pPr lvl="1" indent="-228600">
              <a:lnSpc>
                <a:spcPct val="15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Collect unique tokens </a:t>
            </a:r>
          </a:p>
          <a:p>
            <a:pPr lvl="1" indent="-228600">
              <a:lnSpc>
                <a:spcPct val="150000"/>
              </a:lnSpc>
              <a:spcBef>
                <a:spcPct val="0"/>
              </a:spcBef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Assign unique numerical id for each token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E2A162-0537-AD6B-8197-6E4581BD0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057" y="2908879"/>
            <a:ext cx="1714649" cy="27663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5CA2EA8-A04E-B14A-BAAD-35F632888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672" y="2444296"/>
            <a:ext cx="851661" cy="464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Tokens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4559F22-4937-8D11-8455-B2076A91F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4824" y="2444296"/>
            <a:ext cx="1121709" cy="39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Token Ids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BF4646F-EAC7-6151-A826-26F59FB597C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Tokenization – Byte-Pair Encoding </a:t>
            </a:r>
          </a:p>
        </p:txBody>
      </p:sp>
    </p:spTree>
    <p:extLst>
      <p:ext uri="{BB962C8B-B14F-4D97-AF65-F5344CB8AC3E}">
        <p14:creationId xmlns:p14="http://schemas.microsoft.com/office/powerpoint/2010/main" val="198338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26954-7A62-516D-DFAA-6A03D2C6B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CDFFCD0D-D0CF-5F4B-C793-7D557F27E919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DCA190-C8C1-1E74-A905-FA6C3C66075B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7B232F4-005D-660F-E62E-C0D7755482E3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183AC5-CA9B-ED7F-72CF-FCA5A034CD10}"/>
              </a:ext>
            </a:extLst>
          </p:cNvPr>
          <p:cNvSpPr/>
          <p:nvPr/>
        </p:nvSpPr>
        <p:spPr>
          <a:xfrm>
            <a:off x="609600" y="3319291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CC48E3DB-0BDF-7B54-8D3C-D7C380709029}"/>
              </a:ext>
            </a:extLst>
          </p:cNvPr>
          <p:cNvSpPr txBox="1"/>
          <p:nvPr/>
        </p:nvSpPr>
        <p:spPr>
          <a:xfrm>
            <a:off x="-1" y="3429000"/>
            <a:ext cx="12192000" cy="120385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GB" sz="4000" i="1" dirty="0"/>
              <a:t>S</a:t>
            </a:r>
            <a:r>
              <a:rPr lang="en-US" sz="4000" i="1" dirty="0" err="1"/>
              <a:t>ection</a:t>
            </a:r>
            <a:r>
              <a:rPr lang="en-US" sz="4000" i="1" dirty="0"/>
              <a:t> 2: Large Language Models</a:t>
            </a:r>
          </a:p>
          <a:p>
            <a:pPr algn="ctr">
              <a:defRPr/>
            </a:pPr>
            <a:r>
              <a:rPr lang="en-US" sz="3600" i="1" dirty="0">
                <a:solidFill>
                  <a:srgbClr val="FF0000"/>
                </a:solidFill>
              </a:rPr>
              <a:t>Transformer Architecture – </a:t>
            </a:r>
            <a:r>
              <a:rPr lang="en-US" sz="3600" i="1" dirty="0">
                <a:solidFill>
                  <a:schemeClr val="accent6"/>
                </a:solidFill>
              </a:rPr>
              <a:t>Input Embeddings</a:t>
            </a:r>
          </a:p>
        </p:txBody>
      </p:sp>
    </p:spTree>
    <p:extLst>
      <p:ext uri="{BB962C8B-B14F-4D97-AF65-F5344CB8AC3E}">
        <p14:creationId xmlns:p14="http://schemas.microsoft.com/office/powerpoint/2010/main" val="2852450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725F4-B33D-E812-793B-F0740322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701;p14">
                <a:extLst>
                  <a:ext uri="{FF2B5EF4-FFF2-40B4-BE49-F238E27FC236}">
                    <a16:creationId xmlns:a16="http://schemas.microsoft.com/office/drawing/2014/main" id="{F40E900F-89E7-975C-FAD8-02C3B341B2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533400"/>
                <a:ext cx="12192000" cy="26331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ctr"/>
              <a:lstStyle>
                <a:lvl1pPr marL="342900" indent="-342900" defTabSz="4572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defTabSz="4572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defTabSz="4572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defTabSz="4572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defTabSz="4572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just">
                  <a:lnSpc>
                    <a:spcPct val="150000"/>
                  </a:lnSpc>
                  <a:spcBef>
                    <a:spcPct val="0"/>
                  </a:spcBef>
                  <a:buSzPct val="100000"/>
                  <a:buFont typeface="Wingdings" panose="05000000000000000000" pitchFamily="2" charset="2"/>
                  <a:buChar char="Ø"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Nunito Sans" pitchFamily="2" charset="0"/>
                  </a:rPr>
                  <a:t>Function that maps each word/token/sequences to a single numerical vector </a:t>
                </a:r>
              </a:p>
              <a:p>
                <a:pPr marL="1143000" marR="0" lvl="2" indent="-342900" algn="just" defTabSz="4572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Pct val="100000"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sym typeface="Nunito Sans" pitchFamily="2" charset="0"/>
                  </a:rPr>
                  <a:t> geometry </a:t>
                </a:r>
                <a14:m>
                  <m:oMath xmlns:m="http://schemas.openxmlformats.org/officeDocument/2006/math">
                    <m:r>
                      <a:rPr kumimoji="0" lang="en-US" altLang="en-US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sym typeface="Nunito Sans" pitchFamily="2" charset="0"/>
                      </a:rPr>
                      <m:t>∼</m:t>
                    </m:r>
                  </m:oMath>
                </a14:m>
                <a:r>
                  <a:rPr kumimoji="0" lang="en-US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sym typeface="Nunito Sans" pitchFamily="2" charset="0"/>
                  </a:rPr>
                  <a:t> semantics</a:t>
                </a:r>
              </a:p>
              <a:p>
                <a:pPr algn="just">
                  <a:lnSpc>
                    <a:spcPct val="150000"/>
                  </a:lnSpc>
                  <a:spcBef>
                    <a:spcPct val="0"/>
                  </a:spcBef>
                  <a:buSzPct val="100000"/>
                  <a:buFont typeface="Wingdings" panose="05000000000000000000" pitchFamily="2" charset="2"/>
                  <a:buChar char="Ø"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Nunito Sans" pitchFamily="2" charset="0"/>
                  </a:rPr>
                  <a:t>Static embeddings – one vector per word type (Word2Vec, </a:t>
                </a: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Nunito Sans" pitchFamily="2" charset="0"/>
                  </a:rPr>
                  <a:t>GloVe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Nunito Sans" pitchFamily="2" charset="0"/>
                  </a:rPr>
                  <a:t> etc.)</a:t>
                </a:r>
              </a:p>
              <a:p>
                <a:pPr algn="just">
                  <a:lnSpc>
                    <a:spcPct val="150000"/>
                  </a:lnSpc>
                  <a:spcBef>
                    <a:spcPct val="0"/>
                  </a:spcBef>
                  <a:buSzPct val="100000"/>
                  <a:buFont typeface="Wingdings" panose="05000000000000000000" pitchFamily="2" charset="2"/>
                  <a:buChar char="Ø"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Nunito Sans" pitchFamily="2" charset="0"/>
                  </a:rPr>
                  <a:t>Similar words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sym typeface="Nunito Sans" pitchFamily="2" charset="0"/>
                      </a:rPr>
                      <m:t>⟶</m:t>
                    </m:r>
                  </m:oMath>
                </a14:m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Nunito Sans" pitchFamily="2" charset="0"/>
                  </a:rPr>
                  <a:t> nearby vectors</a:t>
                </a:r>
              </a:p>
              <a:p>
                <a:pPr algn="just">
                  <a:lnSpc>
                    <a:spcPct val="150000"/>
                  </a:lnSpc>
                  <a:spcBef>
                    <a:spcPct val="0"/>
                  </a:spcBef>
                  <a:buSzPct val="100000"/>
                  <a:buFont typeface="Wingdings" panose="05000000000000000000" pitchFamily="2" charset="2"/>
                  <a:buChar char="Ø"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Nunito Sans" pitchFamily="2" charset="0"/>
                  </a:rPr>
                  <a:t>Contextual embeddings – word meaning depends on context (BERT, GPT family)</a:t>
                </a:r>
              </a:p>
            </p:txBody>
          </p:sp>
        </mc:Choice>
        <mc:Fallback xmlns="">
          <p:sp>
            <p:nvSpPr>
              <p:cNvPr id="2" name="Google Shape;701;p14">
                <a:extLst>
                  <a:ext uri="{FF2B5EF4-FFF2-40B4-BE49-F238E27FC236}">
                    <a16:creationId xmlns:a16="http://schemas.microsoft.com/office/drawing/2014/main" id="{F40E900F-89E7-975C-FAD8-02C3B341B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533400"/>
                <a:ext cx="12192000" cy="2633134"/>
              </a:xfrm>
              <a:prstGeom prst="rect">
                <a:avLst/>
              </a:prstGeom>
              <a:blipFill>
                <a:blip r:embed="rId3"/>
                <a:stretch>
                  <a:fillRect l="-1400" b="-8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AFB9841-DFF9-2A1B-F679-630E03F11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20" y="3429000"/>
            <a:ext cx="3075098" cy="316689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0105EFA-CDBE-09F7-AF0D-822CEE2FAA8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DC7E0A-77BC-AF9B-BD2F-AB134C76F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7426" y="3343290"/>
            <a:ext cx="2610053" cy="29813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D5EC5A-659C-FC4B-6C97-B2E785472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687" y="3807312"/>
            <a:ext cx="2314425" cy="19489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B54C17-192F-ACC4-2DB9-382F8FEDE2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3920" y="3807312"/>
            <a:ext cx="2314426" cy="192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174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21F04-D018-ED0E-2415-6C7E241C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01;p14">
            <a:extLst>
              <a:ext uri="{FF2B5EF4-FFF2-40B4-BE49-F238E27FC236}">
                <a16:creationId xmlns:a16="http://schemas.microsoft.com/office/drawing/2014/main" id="{FF7B5F30-399C-D43C-CACA-92E47F37C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93313"/>
            <a:ext cx="12115800" cy="2073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Token Embeddings:</a:t>
            </a:r>
          </a:p>
          <a:p>
            <a:pPr marL="742950" marR="0" lvl="1" indent="-34290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Map token ID to a dense vector of continuous values</a:t>
            </a:r>
          </a:p>
          <a:p>
            <a:pPr marL="742950" marR="0" lvl="1" indent="-34290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Token embeddings start as a lookup table of randomly initialized vectors</a:t>
            </a:r>
          </a:p>
          <a:p>
            <a:pPr marL="742950" marR="0" lvl="1" indent="-34290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Learned during training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C6B87A-D109-3D80-E4DE-78C708FB14A8}"/>
              </a:ext>
            </a:extLst>
          </p:cNvPr>
          <p:cNvGrpSpPr/>
          <p:nvPr/>
        </p:nvGrpSpPr>
        <p:grpSpPr>
          <a:xfrm>
            <a:off x="1999917" y="3337831"/>
            <a:ext cx="7914550" cy="3037569"/>
            <a:chOff x="2207610" y="2023158"/>
            <a:chExt cx="7619464" cy="377848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9E51DA-DD41-5664-A52D-8B4BF8B32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7610" y="2023158"/>
              <a:ext cx="7619464" cy="3490326"/>
            </a:xfrm>
            <a:prstGeom prst="rect">
              <a:avLst/>
            </a:prstGeom>
          </p:spPr>
        </p:pic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F6BE6D31-011C-EF2F-75A1-4E5EE25A2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263" y="5513484"/>
              <a:ext cx="1000555" cy="288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unito Sans" pitchFamily="2" charset="0"/>
                  <a:ea typeface="+mn-ea"/>
                  <a:cs typeface="+mn-cs"/>
                </a:rPr>
                <a:t>Tokens</a:t>
              </a: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BFA4B478-BC43-7442-97F0-927782FD6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5642" y="5513484"/>
              <a:ext cx="1000555" cy="288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unito Sans" pitchFamily="2" charset="0"/>
                  <a:ea typeface="+mn-ea"/>
                  <a:cs typeface="+mn-cs"/>
                </a:rPr>
                <a:t>Token Ids</a:t>
              </a: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7483CCDE-ABE9-F1B9-55BB-FBB83B776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9513" y="5483648"/>
              <a:ext cx="2034309" cy="288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6858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unito Sans" pitchFamily="2" charset="0"/>
                  <a:ea typeface="+mn-ea"/>
                  <a:cs typeface="+mn-cs"/>
                </a:rPr>
                <a:t>Token embeddings</a:t>
              </a: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C1FD53B4-E99B-AA5D-583E-755A2CA123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 Embeddings</a:t>
            </a:r>
          </a:p>
        </p:txBody>
      </p:sp>
    </p:spTree>
    <p:extLst>
      <p:ext uri="{BB962C8B-B14F-4D97-AF65-F5344CB8AC3E}">
        <p14:creationId xmlns:p14="http://schemas.microsoft.com/office/powerpoint/2010/main" val="4275560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9FFB-9ACD-32B1-6A1B-F4D53D303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701;p14">
                <a:extLst>
                  <a:ext uri="{FF2B5EF4-FFF2-40B4-BE49-F238E27FC236}">
                    <a16:creationId xmlns:a16="http://schemas.microsoft.com/office/drawing/2014/main" id="{E28FFACA-D623-21F3-5A10-EE17761537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493761"/>
                <a:ext cx="12192001" cy="2363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ctr"/>
              <a:lstStyle>
                <a:lvl1pPr marL="342900" indent="-342900" defTabSz="4572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defTabSz="4572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defTabSz="4572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defTabSz="4572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defTabSz="4572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Pct val="100000"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Nunito Sans" pitchFamily="2" charset="0"/>
                  </a:rPr>
                  <a:t>Input Embeddings:</a:t>
                </a:r>
              </a:p>
              <a:p>
                <a:pPr marL="742950" marR="0" lvl="1" indent="-342900" algn="l" defTabSz="4572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Pct val="100000"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Nunito Sans" pitchFamily="2" charset="0"/>
                  </a:rPr>
                  <a:t>Map token ID to a dense vector of continuous values</a:t>
                </a:r>
              </a:p>
              <a:p>
                <a:pPr marL="742950" marR="0" lvl="1" indent="-342900" algn="l" defTabSz="4572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Pct val="100000"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Token embeddings start as a lookup table of randomly initialized vectors</a:t>
                </a:r>
              </a:p>
              <a:p>
                <a:pPr marL="742950" marR="0" lvl="1" indent="-342900" algn="l" defTabSz="4572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Pct val="100000"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Nunito Sans" pitchFamily="2" charset="0"/>
                  </a:rPr>
                  <a:t>Token embeddings + Position embeddings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sym typeface="Nunito Sans" pitchFamily="2" charset="0"/>
                      </a:rPr>
                      <m:t>⇒</m:t>
                    </m:r>
                  </m:oMath>
                </a14:m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  <a:sym typeface="Nunito Sans" pitchFamily="2" charset="0"/>
                  </a:rPr>
                  <a:t> input embeddings</a:t>
                </a:r>
              </a:p>
            </p:txBody>
          </p:sp>
        </mc:Choice>
        <mc:Fallback xmlns="">
          <p:sp>
            <p:nvSpPr>
              <p:cNvPr id="2" name="Google Shape;701;p14">
                <a:extLst>
                  <a:ext uri="{FF2B5EF4-FFF2-40B4-BE49-F238E27FC236}">
                    <a16:creationId xmlns:a16="http://schemas.microsoft.com/office/drawing/2014/main" id="{E28FFACA-D623-21F3-5A10-EE1776153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93761"/>
                <a:ext cx="12192001" cy="2363449"/>
              </a:xfrm>
              <a:prstGeom prst="rect">
                <a:avLst/>
              </a:prstGeom>
              <a:blipFill>
                <a:blip r:embed="rId3"/>
                <a:stretch>
                  <a:fillRect l="-1400" b="-30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FFE314B-EEF2-8E4F-92DE-B45B1935B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99" y="2857210"/>
            <a:ext cx="7408947" cy="3374894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3979EB-A6E2-9DAA-E094-A74FB92C0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890" y="3248903"/>
            <a:ext cx="1740309" cy="231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 Sans" pitchFamily="2" charset="0"/>
                <a:ea typeface="+mn-ea"/>
                <a:cs typeface="+mn-cs"/>
              </a:rPr>
              <a:t>Input Embeddings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9D7C41-96E3-D0A0-1092-B9E5A347006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Embeddings</a:t>
            </a:r>
          </a:p>
        </p:txBody>
      </p:sp>
    </p:spTree>
    <p:extLst>
      <p:ext uri="{BB962C8B-B14F-4D97-AF65-F5344CB8AC3E}">
        <p14:creationId xmlns:p14="http://schemas.microsoft.com/office/powerpoint/2010/main" val="3031768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7E916-C48A-7909-197E-2903B50F9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0A93B36D-1FF0-6B27-3999-1E32BB20E460}"/>
              </a:ext>
            </a:extLst>
          </p:cNvPr>
          <p:cNvSpPr/>
          <p:nvPr/>
        </p:nvSpPr>
        <p:spPr>
          <a:xfrm>
            <a:off x="937667" y="432778"/>
            <a:ext cx="10316665" cy="446533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Certificate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  Machine Learning, Gen AI &amp; LLMs for Business Applications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97DC9B-D674-A0E2-54EB-F3406685B612}"/>
              </a:ext>
            </a:extLst>
          </p:cNvPr>
          <p:cNvSpPr/>
          <p:nvPr/>
        </p:nvSpPr>
        <p:spPr>
          <a:xfrm>
            <a:off x="3336513" y="48768"/>
            <a:ext cx="343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209EADE-7AD6-289A-A2BF-00B38C161404}"/>
              </a:ext>
            </a:extLst>
          </p:cNvPr>
          <p:cNvSpPr/>
          <p:nvPr/>
        </p:nvSpPr>
        <p:spPr>
          <a:xfrm>
            <a:off x="0" y="2377440"/>
            <a:ext cx="12191999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LLMs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4CEEA07-09CB-E40B-AB79-ED719D18A48C}"/>
              </a:ext>
            </a:extLst>
          </p:cNvPr>
          <p:cNvSpPr/>
          <p:nvPr/>
        </p:nvSpPr>
        <p:spPr>
          <a:xfrm>
            <a:off x="609600" y="3319291"/>
            <a:ext cx="1036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5333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77B4C9C-8D62-89DF-7D07-6C2CA3A698EE}"/>
              </a:ext>
            </a:extLst>
          </p:cNvPr>
          <p:cNvSpPr txBox="1"/>
          <p:nvPr/>
        </p:nvSpPr>
        <p:spPr>
          <a:xfrm>
            <a:off x="-1" y="3429000"/>
            <a:ext cx="12192000" cy="1203855"/>
          </a:xfrm>
          <a:prstGeom prst="rect">
            <a:avLst/>
          </a:prstGeom>
        </p:spPr>
        <p:txBody>
          <a:bodyPr vert="horz" wrap="square" lIns="0" tIns="33972" rIns="0" bIns="0" rtlCol="0">
            <a:spAutoFit/>
          </a:bodyPr>
          <a:lstStyle/>
          <a:p>
            <a:pPr algn="ctr">
              <a:defRPr/>
            </a:pPr>
            <a:r>
              <a:rPr lang="en-GB" sz="4000" i="1" dirty="0"/>
              <a:t>S</a:t>
            </a:r>
            <a:r>
              <a:rPr lang="en-US" sz="4000" i="1" dirty="0" err="1"/>
              <a:t>ection</a:t>
            </a:r>
            <a:r>
              <a:rPr lang="en-US" sz="4000" i="1" dirty="0"/>
              <a:t> 2: Large Language Models</a:t>
            </a:r>
          </a:p>
          <a:p>
            <a:pPr algn="ctr">
              <a:defRPr/>
            </a:pPr>
            <a:r>
              <a:rPr lang="en-US" sz="3600" i="1" dirty="0">
                <a:solidFill>
                  <a:srgbClr val="FF0000"/>
                </a:solidFill>
              </a:rPr>
              <a:t>Transformer Architecture – </a:t>
            </a:r>
            <a:r>
              <a:rPr lang="en-US" sz="3600" i="1" dirty="0">
                <a:solidFill>
                  <a:schemeClr val="accent6"/>
                </a:solidFill>
              </a:rPr>
              <a:t>Positional Encodings/Embeddings</a:t>
            </a:r>
          </a:p>
        </p:txBody>
      </p:sp>
    </p:spTree>
    <p:extLst>
      <p:ext uri="{BB962C8B-B14F-4D97-AF65-F5344CB8AC3E}">
        <p14:creationId xmlns:p14="http://schemas.microsoft.com/office/powerpoint/2010/main" val="3218893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B25C1C-81C9-A02F-4A99-74C4B32CC926}"/>
              </a:ext>
            </a:extLst>
          </p:cNvPr>
          <p:cNvSpPr txBox="1"/>
          <p:nvPr/>
        </p:nvSpPr>
        <p:spPr>
          <a:xfrm>
            <a:off x="0" y="372533"/>
            <a:ext cx="12192000" cy="514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Token embeddings represent </a:t>
            </a:r>
            <a:r>
              <a:rPr lang="en-IN" sz="2800" b="1" dirty="0"/>
              <a:t>what</a:t>
            </a:r>
            <a:r>
              <a:rPr lang="en-IN" sz="2800" dirty="0"/>
              <a:t> a word means, but not </a:t>
            </a:r>
            <a:r>
              <a:rPr lang="en-IN" sz="2800" b="1" dirty="0"/>
              <a:t>where</a:t>
            </a:r>
            <a:r>
              <a:rPr lang="en-IN" sz="2800" dirty="0"/>
              <a:t> it appears.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Word order is essential for understanding the meaning of a sentence.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Positional information is required to identify each token's location in the sequence.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Such additional information would enable the model to learn word order, sentence structure.</a:t>
            </a:r>
            <a:endParaRPr lang="en-IN" sz="2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AC027B-C843-FBB7-17DF-A5416A46923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for Positional Embeddings</a:t>
            </a:r>
          </a:p>
        </p:txBody>
      </p:sp>
    </p:spTree>
    <p:extLst>
      <p:ext uri="{BB962C8B-B14F-4D97-AF65-F5344CB8AC3E}">
        <p14:creationId xmlns:p14="http://schemas.microsoft.com/office/powerpoint/2010/main" val="1533161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3E24590-8FAD-F1BE-6994-8192EBC7D5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Generating Position Encodings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3CDF2-093D-DA83-70C2-4751B2730F28}"/>
              </a:ext>
            </a:extLst>
          </p:cNvPr>
          <p:cNvSpPr txBox="1"/>
          <p:nvPr/>
        </p:nvSpPr>
        <p:spPr>
          <a:xfrm>
            <a:off x="0" y="516467"/>
            <a:ext cx="12192000" cy="515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Each token is assigned a </a:t>
            </a:r>
            <a:r>
              <a:rPr lang="en-IN" sz="2400" b="1" dirty="0"/>
              <a:t>unique positional encoding</a:t>
            </a:r>
            <a:r>
              <a:rPr lang="en-IN" sz="2400" dirty="0"/>
              <a:t> based on its position.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Positional encodings have the </a:t>
            </a:r>
            <a:r>
              <a:rPr lang="en-IN" sz="2400" b="1" dirty="0"/>
              <a:t>same dimensionality</a:t>
            </a:r>
            <a:r>
              <a:rPr lang="en-IN" sz="2400" dirty="0"/>
              <a:t> as the token embeddings.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The original Transformer generates positional encodings using </a:t>
            </a:r>
            <a:r>
              <a:rPr lang="en-IN" sz="2400" b="1" dirty="0"/>
              <a:t>sinusoidal functions</a:t>
            </a:r>
            <a:r>
              <a:rPr lang="en-IN" sz="2400" dirty="0"/>
              <a:t>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Sine</a:t>
            </a:r>
            <a:r>
              <a:rPr lang="en-IN" sz="2400" dirty="0"/>
              <a:t> and </a:t>
            </a:r>
            <a:r>
              <a:rPr lang="en-IN" sz="2400" b="1" dirty="0"/>
              <a:t>cosine</a:t>
            </a:r>
            <a:r>
              <a:rPr lang="en-IN" sz="2400" dirty="0"/>
              <a:t> functions are used to create a unique encoding for each position. </a:t>
            </a:r>
          </a:p>
          <a:p>
            <a:pPr marL="800100" lvl="1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Different frequencies allow the model to capture both </a:t>
            </a:r>
            <a:r>
              <a:rPr lang="en-IN" sz="2400" b="1" dirty="0"/>
              <a:t>short-range</a:t>
            </a:r>
            <a:r>
              <a:rPr lang="en-IN" sz="2400" dirty="0"/>
              <a:t> and </a:t>
            </a:r>
            <a:r>
              <a:rPr lang="en-IN" sz="2400" b="1" dirty="0"/>
              <a:t>long-range</a:t>
            </a:r>
            <a:r>
              <a:rPr lang="en-IN" sz="2400" dirty="0"/>
              <a:t> positional relationships.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The generated positional encoding is added to the corresponding token embedding.</a:t>
            </a:r>
          </a:p>
        </p:txBody>
      </p:sp>
    </p:spTree>
    <p:extLst>
      <p:ext uri="{BB962C8B-B14F-4D97-AF65-F5344CB8AC3E}">
        <p14:creationId xmlns:p14="http://schemas.microsoft.com/office/powerpoint/2010/main" val="12993921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5A0E5D-4DB0-E3C2-6ABA-6484A897EEF1}"/>
                  </a:ext>
                </a:extLst>
              </p:cNvPr>
              <p:cNvSpPr txBox="1"/>
              <p:nvPr/>
            </p:nvSpPr>
            <p:spPr>
              <a:xfrm>
                <a:off x="0" y="593313"/>
                <a:ext cx="5503333" cy="2469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dirty="0">
                    <a:latin typeface="Cambria Math" panose="02040503050406030204" pitchFamily="18" charset="0"/>
                  </a:rPr>
                  <a:t>Sinusoidal Positional Encodings</a:t>
                </a:r>
              </a:p>
              <a:p>
                <a:pPr>
                  <a:buNone/>
                </a:pPr>
                <a:endParaRPr lang="en-IN" sz="2000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sz="200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 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IN" sz="2000" b="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000" b="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000" b="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IN" sz="2000" b="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000" b="0" i="0">
                                          <a:latin typeface="Cambria Math" panose="02040503050406030204" pitchFamily="18" charset="0"/>
                                        </a:rPr>
                                        <m:t>10000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IN" sz="2000" b="0" i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000" b="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IN" sz="2000" b="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IN" sz="20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000" b="0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000" b="0" i="1">
                                                  <a:latin typeface="Cambria Math" panose="02040503050406030204" pitchFamily="18" charset="0"/>
                                                </a:rPr>
                                                <m:t>𝑚𝑜𝑑𝑒𝑙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IN" sz="2000" b="0" dirty="0"/>
              </a:p>
              <a:p>
                <a:pPr>
                  <a:buNone/>
                </a:pPr>
                <a:endParaRPr lang="en-IN" sz="2000" b="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sz="2000" i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b>
                      </m:sSub>
                      <m:r>
                        <a:rPr lang="en-IN" sz="2000" b="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000" b="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000" b="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IN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b="0" i="1"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IN" sz="2000" b="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000" b="0" i="0">
                                          <a:latin typeface="Cambria Math" panose="02040503050406030204" pitchFamily="18" charset="0"/>
                                        </a:rPr>
                                        <m:t>10000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IN" sz="2000" b="0" i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000" b="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IN" sz="2000" b="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IN" sz="20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000" b="0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000" b="0" i="1">
                                                  <a:latin typeface="Cambria Math" panose="02040503050406030204" pitchFamily="18" charset="0"/>
                                                </a:rPr>
                                                <m:t>𝑚𝑜𝑑𝑒𝑙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5A0E5D-4DB0-E3C2-6ABA-6484A897E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93313"/>
                <a:ext cx="5503333" cy="2469009"/>
              </a:xfrm>
              <a:prstGeom prst="rect">
                <a:avLst/>
              </a:prstGeom>
              <a:blipFill>
                <a:blip r:embed="rId2"/>
                <a:stretch>
                  <a:fillRect l="-1107" t="-1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EB3F9719-1D84-ED6F-73DA-F9705767C8C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Sinusoidal Position Encodings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9679A0-D511-505A-6CF4-D749929EEA4D}"/>
                  </a:ext>
                </a:extLst>
              </p:cNvPr>
              <p:cNvSpPr txBox="1"/>
              <p:nvPr/>
            </p:nvSpPr>
            <p:spPr>
              <a:xfrm>
                <a:off x="135467" y="2875135"/>
                <a:ext cx="6214532" cy="2957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b="1" dirty="0"/>
                  <a:t> </a:t>
                </a:r>
                <a:r>
                  <a:rPr lang="en-IN" dirty="0"/>
                  <a:t>Here: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𝒑𝒐𝒔</m:t>
                    </m:r>
                  </m:oMath>
                </a14:m>
                <a:r>
                  <a:rPr lang="en-IN" dirty="0"/>
                  <a:t> 	– Position of the token in the sequence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 	– Dimension index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 dirty="0" smtClean="0">
                            <a:latin typeface="Cambria Math" panose="02040503050406030204" pitchFamily="18" charset="0"/>
                          </a:rPr>
                          <m:t>𝒎𝒐𝒅𝒆𝒍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– Embedding dimension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dirty="0"/>
                  <a:t>	 – Even embedding dimensions (Sine)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IN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– Odd embedding dimensions (Cosine) </a:t>
                </a:r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9679A0-D511-505A-6CF4-D749929EE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67" y="2875135"/>
                <a:ext cx="6214532" cy="2957861"/>
              </a:xfrm>
              <a:prstGeom prst="rect">
                <a:avLst/>
              </a:prstGeom>
              <a:blipFill>
                <a:blip r:embed="rId3"/>
                <a:stretch>
                  <a:fillRect l="-5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8B7A9C-D603-098B-CBDA-D13BCC7B0273}"/>
              </a:ext>
            </a:extLst>
          </p:cNvPr>
          <p:cNvCxnSpPr/>
          <p:nvPr/>
        </p:nvCxnSpPr>
        <p:spPr>
          <a:xfrm>
            <a:off x="5384800" y="795867"/>
            <a:ext cx="0" cy="56388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98F11E7-40E5-E232-8F71-D0D965C8C7BB}"/>
              </a:ext>
            </a:extLst>
          </p:cNvPr>
          <p:cNvSpPr txBox="1"/>
          <p:nvPr/>
        </p:nvSpPr>
        <p:spPr>
          <a:xfrm>
            <a:off x="5503333" y="479891"/>
            <a:ext cx="6477000" cy="5898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IN" sz="2400" b="1" dirty="0"/>
              <a:t>Why Sine and Cosine?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Produce a </a:t>
            </a:r>
            <a:r>
              <a:rPr lang="en-IN" sz="2400" b="1" dirty="0"/>
              <a:t>unique encoding</a:t>
            </a:r>
            <a:r>
              <a:rPr lang="en-IN" sz="2400" dirty="0"/>
              <a:t> for every position.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Preserve </a:t>
            </a:r>
            <a:r>
              <a:rPr lang="en-IN" sz="2400" b="1" dirty="0"/>
              <a:t>relative distances</a:t>
            </a:r>
            <a:r>
              <a:rPr lang="en-IN" sz="2400" dirty="0"/>
              <a:t> between token positions.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Capture positional information at </a:t>
            </a:r>
            <a:r>
              <a:rPr lang="en-IN" sz="2400" b="1" dirty="0"/>
              <a:t>multiple scales (frequencies)</a:t>
            </a:r>
            <a:r>
              <a:rPr lang="en-IN" sz="2400" dirty="0"/>
              <a:t>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Generalize to sequences </a:t>
            </a:r>
            <a:r>
              <a:rPr lang="en-IN" sz="2400" b="1" dirty="0"/>
              <a:t>longer than those seen during training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7513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51395D-13A9-A14E-BB34-9170F0D98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216" y="856980"/>
            <a:ext cx="5647707" cy="56359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1CCB4D-B7A7-9810-50EC-3891B714B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83" y="2650952"/>
            <a:ext cx="5699503" cy="204804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5D34CC6-A24E-8518-B007-1A37F2D8FDD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Sinusoidal Position Encodings</a:t>
            </a:r>
          </a:p>
        </p:txBody>
      </p:sp>
    </p:spTree>
    <p:extLst>
      <p:ext uri="{BB962C8B-B14F-4D97-AF65-F5344CB8AC3E}">
        <p14:creationId xmlns:p14="http://schemas.microsoft.com/office/powerpoint/2010/main" val="2740797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53426D-301E-696C-6D50-2CFDDD959BB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Generating SPE -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A1A82-B241-9175-B3C8-6664F68F2B44}"/>
              </a:ext>
            </a:extLst>
          </p:cNvPr>
          <p:cNvSpPr txBox="1"/>
          <p:nvPr/>
        </p:nvSpPr>
        <p:spPr>
          <a:xfrm>
            <a:off x="0" y="593313"/>
            <a:ext cx="6214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1</a:t>
            </a:r>
            <a:r>
              <a:rPr lang="en-IN" dirty="0"/>
              <a:t> Suppose we have the sentence:</a:t>
            </a:r>
          </a:p>
          <a:p>
            <a:pPr>
              <a:buNone/>
            </a:pPr>
            <a:r>
              <a:rPr lang="en-IN" b="1" dirty="0"/>
              <a:t>				"I love AI"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F123E23-A52E-710E-338F-8E5C3D6C5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829473"/>
              </p:ext>
            </p:extLst>
          </p:nvPr>
        </p:nvGraphicFramePr>
        <p:xfrm>
          <a:off x="364066" y="1965960"/>
          <a:ext cx="2387600" cy="146304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3154768848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892230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581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45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176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33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1322ECB-4DDB-FB1E-8790-41E5ED451948}"/>
              </a:ext>
            </a:extLst>
          </p:cNvPr>
          <p:cNvSpPr txBox="1"/>
          <p:nvPr/>
        </p:nvSpPr>
        <p:spPr>
          <a:xfrm>
            <a:off x="0" y="3663786"/>
            <a:ext cx="6214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</a:t>
            </a:r>
            <a:r>
              <a:rPr lang="en-IN" dirty="0"/>
              <a:t> Lets, assume the embedding dimension is </a:t>
            </a:r>
            <a:r>
              <a:rPr lang="en-IN" b="1" dirty="0"/>
              <a:t>4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336005-0388-6F36-D05B-91F3CE4D3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693162"/>
              </p:ext>
            </p:extLst>
          </p:nvPr>
        </p:nvGraphicFramePr>
        <p:xfrm>
          <a:off x="245534" y="4771782"/>
          <a:ext cx="4419600" cy="1828800"/>
        </p:xfrm>
        <a:graphic>
          <a:graphicData uri="http://schemas.openxmlformats.org/drawingml/2006/table">
            <a:tbl>
              <a:tblPr/>
              <a:tblGrid>
                <a:gridCol w="1413934">
                  <a:extLst>
                    <a:ext uri="{9D8B030D-6E8A-4147-A177-3AD203B41FA5}">
                      <a16:colId xmlns:a16="http://schemas.microsoft.com/office/drawing/2014/main" val="327643878"/>
                    </a:ext>
                  </a:extLst>
                </a:gridCol>
                <a:gridCol w="3005666">
                  <a:extLst>
                    <a:ext uri="{9D8B030D-6E8A-4147-A177-3AD203B41FA5}">
                      <a16:colId xmlns:a16="http://schemas.microsoft.com/office/drawing/2014/main" val="816974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794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sin(position)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055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cos(position)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74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sin(position / 100)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332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cos(position / 100)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31198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27F7F02-85A3-7D61-5C84-AE22864F6416}"/>
              </a:ext>
            </a:extLst>
          </p:cNvPr>
          <p:cNvSpPr txBox="1"/>
          <p:nvPr/>
        </p:nvSpPr>
        <p:spPr>
          <a:xfrm>
            <a:off x="1" y="4428067"/>
            <a:ext cx="5323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3</a:t>
            </a:r>
            <a:r>
              <a:rPr lang="en-IN" dirty="0"/>
              <a:t> For </a:t>
            </a:r>
            <a:r>
              <a:rPr lang="en-IN" b="1" dirty="0"/>
              <a:t>d = 4 (Applying those formula)</a:t>
            </a:r>
            <a:r>
              <a:rPr lang="en-IN" dirty="0"/>
              <a:t>, we  would have: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53EBFC-7172-8C67-8609-5C46518AD8A4}"/>
              </a:ext>
            </a:extLst>
          </p:cNvPr>
          <p:cNvCxnSpPr/>
          <p:nvPr/>
        </p:nvCxnSpPr>
        <p:spPr>
          <a:xfrm>
            <a:off x="5554134" y="743466"/>
            <a:ext cx="0" cy="56980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8DAA7C1-28A4-42ED-6C74-025C5AE679A2}"/>
              </a:ext>
            </a:extLst>
          </p:cNvPr>
          <p:cNvSpPr txBox="1"/>
          <p:nvPr/>
        </p:nvSpPr>
        <p:spPr>
          <a:xfrm>
            <a:off x="5659964" y="781856"/>
            <a:ext cx="1837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Position (0) – ‘I’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6E2F2A0-102F-C6AE-F403-15A83D74BEE0}"/>
                  </a:ext>
                </a:extLst>
              </p:cNvPr>
              <p:cNvSpPr txBox="1"/>
              <p:nvPr/>
            </p:nvSpPr>
            <p:spPr>
              <a:xfrm>
                <a:off x="7344834" y="1239644"/>
                <a:ext cx="30986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fun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fun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⁡(0)]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6E2F2A0-102F-C6AE-F403-15A83D74B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834" y="1239644"/>
                <a:ext cx="3098669" cy="276999"/>
              </a:xfrm>
              <a:prstGeom prst="rect">
                <a:avLst/>
              </a:prstGeom>
              <a:blipFill>
                <a:blip r:embed="rId2"/>
                <a:stretch>
                  <a:fillRect l="-2165" t="-2174" r="-2165" b="-369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BD77B13C-FA0F-C0AF-D330-01F056E8182C}"/>
              </a:ext>
            </a:extLst>
          </p:cNvPr>
          <p:cNvSpPr txBox="1"/>
          <p:nvPr/>
        </p:nvSpPr>
        <p:spPr>
          <a:xfrm>
            <a:off x="7012517" y="1793642"/>
            <a:ext cx="4197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Courier New" panose="02070309020205020404" pitchFamily="49" charset="0"/>
              </a:rPr>
              <a:t>[0.000, 1.000, 0.000, 1.000]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C7EED8-1689-DEC1-70B8-4AB0A8EA25EE}"/>
              </a:ext>
            </a:extLst>
          </p:cNvPr>
          <p:cNvSpPr txBox="1"/>
          <p:nvPr/>
        </p:nvSpPr>
        <p:spPr>
          <a:xfrm>
            <a:off x="5719233" y="2439973"/>
            <a:ext cx="3196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Position (1) – ‘Love’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5CEFAC-159D-F39B-3008-404895BA4AE9}"/>
                  </a:ext>
                </a:extLst>
              </p:cNvPr>
              <p:cNvSpPr txBox="1"/>
              <p:nvPr/>
            </p:nvSpPr>
            <p:spPr>
              <a:xfrm>
                <a:off x="7382935" y="2992610"/>
                <a:ext cx="36933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</m:e>
                          </m:d>
                        </m:e>
                      </m:fun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⁡(0.01)]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5CEFAC-159D-F39B-3008-404895BA4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935" y="2992610"/>
                <a:ext cx="3693383" cy="276999"/>
              </a:xfrm>
              <a:prstGeom prst="rect">
                <a:avLst/>
              </a:prstGeom>
              <a:blipFill>
                <a:blip r:embed="rId3"/>
                <a:stretch>
                  <a:fillRect l="-1815" t="-4444" r="-2145" b="-3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F3CD12B-80C7-C07E-2787-23F403435143}"/>
              </a:ext>
            </a:extLst>
          </p:cNvPr>
          <p:cNvSpPr txBox="1"/>
          <p:nvPr/>
        </p:nvSpPr>
        <p:spPr>
          <a:xfrm>
            <a:off x="7050617" y="3676134"/>
            <a:ext cx="4121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Courier New" panose="02070309020205020404" pitchFamily="49" charset="0"/>
              </a:rPr>
              <a:t>[0.841, 0.540, 0.010, 0.999]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E45701-AD7B-E9CF-72DB-9B26D5CD58EA}"/>
              </a:ext>
            </a:extLst>
          </p:cNvPr>
          <p:cNvSpPr txBox="1"/>
          <p:nvPr/>
        </p:nvSpPr>
        <p:spPr>
          <a:xfrm>
            <a:off x="5784851" y="4679449"/>
            <a:ext cx="3196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Position (2) – ‘AI’</a:t>
            </a:r>
          </a:p>
          <a:p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753116-D711-7DD2-C626-07C6A7EBA6EF}"/>
              </a:ext>
            </a:extLst>
          </p:cNvPr>
          <p:cNvSpPr txBox="1"/>
          <p:nvPr/>
        </p:nvSpPr>
        <p:spPr>
          <a:xfrm>
            <a:off x="7050617" y="5891478"/>
            <a:ext cx="44598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dirty="0">
                <a:latin typeface="Courier New" panose="02070309020205020404" pitchFamily="49" charset="0"/>
              </a:rPr>
              <a:t>[0.909, -0.416, 0.020, 0.999]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FD056A1-6FA0-9363-C8E8-D2BE29185DA0}"/>
                  </a:ext>
                </a:extLst>
              </p:cNvPr>
              <p:cNvSpPr txBox="1"/>
              <p:nvPr/>
            </p:nvSpPr>
            <p:spPr>
              <a:xfrm>
                <a:off x="7134326" y="5074181"/>
                <a:ext cx="36933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fun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I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0.02</m:t>
                              </m:r>
                            </m:e>
                          </m:d>
                        </m:e>
                      </m:fun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⁡(0.02)]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FD056A1-6FA0-9363-C8E8-D2BE29185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326" y="5074181"/>
                <a:ext cx="3693383" cy="276999"/>
              </a:xfrm>
              <a:prstGeom prst="rect">
                <a:avLst/>
              </a:prstGeom>
              <a:blipFill>
                <a:blip r:embed="rId4"/>
                <a:stretch>
                  <a:fillRect l="-1815" t="-2174" r="-2145" b="-369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98F4FB38-2247-14A3-8D57-3BA2C199C508}"/>
              </a:ext>
            </a:extLst>
          </p:cNvPr>
          <p:cNvSpPr txBox="1"/>
          <p:nvPr/>
        </p:nvSpPr>
        <p:spPr>
          <a:xfrm>
            <a:off x="5554134" y="532848"/>
            <a:ext cx="6214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4</a:t>
            </a:r>
            <a:r>
              <a:rPr lang="en-IN" dirty="0"/>
              <a:t>  </a:t>
            </a:r>
          </a:p>
          <a:p>
            <a:pPr>
              <a:buNone/>
            </a:pPr>
            <a:r>
              <a:rPr lang="en-IN" b="1" dirty="0"/>
              <a:t>				"I love AI"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495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DD38D-C69A-4F56-84D1-B4585F83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F2A0F9A-6AF5-D9EE-34E0-304612EF1F0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Generating SPE -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C2D98-19A6-2A5B-1462-315954BF5732}"/>
              </a:ext>
            </a:extLst>
          </p:cNvPr>
          <p:cNvSpPr txBox="1"/>
          <p:nvPr/>
        </p:nvSpPr>
        <p:spPr>
          <a:xfrm>
            <a:off x="8467" y="593313"/>
            <a:ext cx="6214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The resulting Positional Encoding Matrix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77312C-E8E0-F7A7-93EB-ACCF07607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712721"/>
              </p:ext>
            </p:extLst>
          </p:nvPr>
        </p:nvGraphicFramePr>
        <p:xfrm>
          <a:off x="567267" y="1432508"/>
          <a:ext cx="10515600" cy="2316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9361715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122154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1393728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878110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45971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Dim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Dim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Dim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Dim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993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0</a:t>
                      </a:r>
                      <a:endParaRPr lang="en-IN" sz="3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1.000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009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1</a:t>
                      </a:r>
                      <a:endParaRPr lang="en-IN" sz="3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0.841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0.540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0.010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0.999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549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/>
                        <a:t>2</a:t>
                      </a:r>
                      <a:endParaRPr lang="en-IN" sz="3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0.909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-0.416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0.020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0.999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562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5946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66CB9-E3C8-06F1-599D-D9FC43A0C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1;p14">
            <a:extLst>
              <a:ext uri="{FF2B5EF4-FFF2-40B4-BE49-F238E27FC236}">
                <a16:creationId xmlns:a16="http://schemas.microsoft.com/office/drawing/2014/main" id="{A46D3069-2BD3-FC9B-92C7-0553BAB94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3762"/>
            <a:ext cx="12192001" cy="1191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Input Embeddings:</a:t>
            </a:r>
          </a:p>
          <a:p>
            <a:pPr marL="742950" marR="0" lvl="1" indent="-342900" algn="l" defTabSz="4572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Nunito Sans" pitchFamily="2" charset="0"/>
              </a:rPr>
              <a:t>Token embeddings + Position embeddings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82DFDE-8196-9C67-D38A-F48E12F5C9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Resultant Input Embeddings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9420E-5DFE-15DB-A810-C82A322C0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120" y="1998771"/>
            <a:ext cx="9155760" cy="436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232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C8B3FBF-CDB2-E9CB-CC83-B560747FF7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6131513"/>
                  </p:ext>
                </p:extLst>
              </p:nvPr>
            </p:nvGraphicFramePr>
            <p:xfrm>
              <a:off x="127001" y="957381"/>
              <a:ext cx="12064999" cy="5156400"/>
            </p:xfrm>
            <a:graphic>
              <a:graphicData uri="http://schemas.openxmlformats.org/drawingml/2006/table">
                <a:tbl>
                  <a:tblPr/>
                  <a:tblGrid>
                    <a:gridCol w="1532271">
                      <a:extLst>
                        <a:ext uri="{9D8B030D-6E8A-4147-A177-3AD203B41FA5}">
                          <a16:colId xmlns:a16="http://schemas.microsoft.com/office/drawing/2014/main" val="1682371258"/>
                        </a:ext>
                      </a:extLst>
                    </a:gridCol>
                    <a:gridCol w="2916031">
                      <a:extLst>
                        <a:ext uri="{9D8B030D-6E8A-4147-A177-3AD203B41FA5}">
                          <a16:colId xmlns:a16="http://schemas.microsoft.com/office/drawing/2014/main" val="1179253402"/>
                        </a:ext>
                      </a:extLst>
                    </a:gridCol>
                    <a:gridCol w="2790697">
                      <a:extLst>
                        <a:ext uri="{9D8B030D-6E8A-4147-A177-3AD203B41FA5}">
                          <a16:colId xmlns:a16="http://schemas.microsoft.com/office/drawing/2014/main" val="4181061276"/>
                        </a:ext>
                      </a:extLst>
                    </a:gridCol>
                    <a:gridCol w="2413000">
                      <a:extLst>
                        <a:ext uri="{9D8B030D-6E8A-4147-A177-3AD203B41FA5}">
                          <a16:colId xmlns:a16="http://schemas.microsoft.com/office/drawing/2014/main" val="4015545447"/>
                        </a:ext>
                      </a:extLst>
                    </a:gridCol>
                    <a:gridCol w="2413000">
                      <a:extLst>
                        <a:ext uri="{9D8B030D-6E8A-4147-A177-3AD203B41FA5}">
                          <a16:colId xmlns:a16="http://schemas.microsoft.com/office/drawing/2014/main" val="1718928472"/>
                        </a:ext>
                      </a:extLst>
                    </a:gridCol>
                  </a:tblGrid>
                  <a:tr h="19566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/>
                            <a:t>Aspect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Sinusoidal / Learned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Relative Encoding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RoPE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 err="1"/>
                            <a:t>ALiBi</a:t>
                          </a:r>
                          <a:endParaRPr lang="en-IN" sz="1400" b="1" dirty="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15552"/>
                      </a:ext>
                    </a:extLst>
                  </a:tr>
                  <a:tr h="36516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/>
                            <a:t>Where position enters</a:t>
                          </a:r>
                          <a:endParaRPr lang="en-IN" sz="1400" dirty="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Added to input embeddings, before attention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Injected into the attention mechanism (Q·K interaction)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Applied by rotating Q and K vectors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Added as a bias directly to attention scores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850173"/>
                      </a:ext>
                    </a:extLst>
                  </a:tr>
                  <a:tr h="53466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/>
                            <a:t>Core idea</a:t>
                          </a:r>
                          <a:endParaRPr lang="en-IN" sz="1400" dirty="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Absolute position gets its own vector, summed with token embedding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Learn/use pairwise offset (i−j) instead of absolute position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Encode position as a rotation in vector space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Penalize attention scores based on distance, no learned position vectors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7802836"/>
                      </a:ext>
                    </a:extLst>
                  </a:tr>
                  <a:tr h="79769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Equation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400" dirty="0"/>
                            <a:t>, where for sinusoidal: </a:t>
                          </a:r>
                          <a:endParaRPr lang="en-IN" sz="1400" i="1" dirty="0">
                            <a:latin typeface="Cambria Math" panose="02040503050406030204" pitchFamily="18" charset="0"/>
                          </a:endParaRPr>
                        </a:p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, 2</m:t>
                                  </m:r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IN" sz="140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400" i="0">
                                          <a:latin typeface="Cambria Math" panose="02040503050406030204" pitchFamily="18" charset="0"/>
                                        </a:rPr>
                                        <m:t>10000</m:t>
                                      </m:r>
                                    </m:e>
                                    <m:sup>
                                      <m:r>
                                        <a:rPr lang="en-IN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IN" sz="1400" i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IN" sz="14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, 2</m:t>
                                  </m:r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sz="1400" b="0" i="1" smtClean="0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sub>
                              </m:sSub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𝑝𝑜𝑠</m:t>
                                  </m:r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IN" sz="140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400" i="0">
                                          <a:latin typeface="Cambria Math" panose="02040503050406030204" pitchFamily="18" charset="0"/>
                                        </a:rPr>
                                        <m:t>10000</m:t>
                                      </m:r>
                                    </m:e>
                                    <m:sup>
                                      <m:r>
                                        <a:rPr lang="en-IN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IN" sz="1400" i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en-IN" sz="1400" dirty="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IN" sz="14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IN" sz="1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IN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400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IN" sz="1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en-IN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IN" sz="1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IN" sz="1400" i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IN" sz="1400" i="0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IN" sz="1400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IN" sz="1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14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IN" sz="1400" dirty="0"/>
                        </a:p>
                        <a:p>
                          <a:pPr>
                            <a:buNone/>
                          </a:pPr>
                          <a:r>
                            <a:rPr lang="en-IN" sz="1400" dirty="0"/>
                            <a:t>(Shaw et al. style,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400" dirty="0"/>
                            <a:t>learned relative vector)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IN" sz="1400" b="0" i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sSub>
                                <m:sSubPr>
                                  <m:ctrlP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400" b="0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IN" sz="1400" b="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IN" sz="1400" b="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400" b="0" i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  <m:r>
                                    <a:rPr lang="en-IN" sz="1400" b="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IN" sz="1400" b="0" i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sSub>
                                <m:sSubPr>
                                  <m:ctrlP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sz="1400" b="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400" dirty="0"/>
                            <a:t>, so that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sepChr m:val=","/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IN" sz="1400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  <m:e>
                                  <m:sSubSup>
                                    <m:sSubSupPr>
                                      <m:ctrlP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IN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IN" sz="1400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r>
                            <a:rPr lang="en-IN" sz="1400" dirty="0"/>
                            <a:t> depends only on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oMath>
                          </a14:m>
                          <a:r>
                            <a:rPr lang="en-IN" sz="1400" dirty="0"/>
                            <a:t> via rotation matrix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b>
                              </m:sSub>
                            </m:oMath>
                          </a14:m>
                          <a:endParaRPr lang="en-IN" sz="1400" dirty="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⋅∣</m:t>
                              </m:r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oMath>
                          </a14:m>
                          <a:r>
                            <a:rPr lang="en-IN" sz="1400" dirty="0"/>
                            <a:t>, where </a:t>
                          </a:r>
                          <a14:m>
                            <m:oMath xmlns:m="http://schemas.openxmlformats.org/officeDocument/2006/math"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IN" sz="1400" dirty="0"/>
                            <a:t> is a fixed, head-specific slope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1374791"/>
                      </a:ext>
                    </a:extLst>
                  </a:tr>
                  <a:tr h="3787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What's learned vs fixed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Sinusoidal: fixed formula. Learned: trainable embedding table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Usually learned relative embeddings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Fixed rotation (no extra parameters)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Fixed slope </a:t>
                          </a:r>
                          <a14:m>
                            <m:oMath xmlns:m="http://schemas.openxmlformats.org/officeDocument/2006/math"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IN" sz="1400"/>
                            <a:t>per head (no extra parameters)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7848966"/>
                      </a:ext>
                    </a:extLst>
                  </a:tr>
                  <a:tr h="36516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Generalizes to longer sequences?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Sinusoidal: somewhat; Learned: poorly (fixed max length)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Better than absolute, but implementation-dependent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Good — rotation is well-defined for any position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Excellent — explicitly designed for length extrapolation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6775515"/>
                      </a:ext>
                    </a:extLst>
                  </a:tr>
                  <a:tr h="53466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Effect on Q/K vs scores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Neither — modifies the input embedding itself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Modifies the attention score computation (adds relative term)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Modifies Q and K representations directly (rotation)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Modifies the final attention scores (additive bias)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49510"/>
                      </a:ext>
                    </a:extLst>
                  </a:tr>
                  <a:tr h="36516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Used in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Original Transformer (sinusoidal), BERT/GPT-2 (learned)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Transformer-XL, T5 (bucketed relative bias)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LLaMA, GPT-NeoX, PaLM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BLOOM, MPT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4789430"/>
                      </a:ext>
                    </a:extLst>
                  </a:tr>
                  <a:tr h="70416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Key property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Position is a separate signal fused early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Attention "knows" relative offset, not absolute position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Dot product </a:t>
                          </a:r>
                          <a:r>
                            <a:rPr lang="en-IN" sz="1400">
                              <a:effectLst/>
                            </a:rPr>
                            <a:t>q_i'\cdot k_j' $ is a function of $(i-j) </a:t>
                          </a:r>
                          <a:r>
                            <a:rPr lang="en-IN" sz="1400"/>
                            <a:t>only — rotation is relative by construction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dirty="0"/>
                            <a:t>Long-range positions get a large, fixed penalty — like a built-in recency bias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50826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C8B3FBF-CDB2-E9CB-CC83-B560747FF7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6131513"/>
                  </p:ext>
                </p:extLst>
              </p:nvPr>
            </p:nvGraphicFramePr>
            <p:xfrm>
              <a:off x="127001" y="957381"/>
              <a:ext cx="12064999" cy="5156400"/>
            </p:xfrm>
            <a:graphic>
              <a:graphicData uri="http://schemas.openxmlformats.org/drawingml/2006/table">
                <a:tbl>
                  <a:tblPr/>
                  <a:tblGrid>
                    <a:gridCol w="1532271">
                      <a:extLst>
                        <a:ext uri="{9D8B030D-6E8A-4147-A177-3AD203B41FA5}">
                          <a16:colId xmlns:a16="http://schemas.microsoft.com/office/drawing/2014/main" val="1682371258"/>
                        </a:ext>
                      </a:extLst>
                    </a:gridCol>
                    <a:gridCol w="2916031">
                      <a:extLst>
                        <a:ext uri="{9D8B030D-6E8A-4147-A177-3AD203B41FA5}">
                          <a16:colId xmlns:a16="http://schemas.microsoft.com/office/drawing/2014/main" val="1179253402"/>
                        </a:ext>
                      </a:extLst>
                    </a:gridCol>
                    <a:gridCol w="2790697">
                      <a:extLst>
                        <a:ext uri="{9D8B030D-6E8A-4147-A177-3AD203B41FA5}">
                          <a16:colId xmlns:a16="http://schemas.microsoft.com/office/drawing/2014/main" val="4181061276"/>
                        </a:ext>
                      </a:extLst>
                    </a:gridCol>
                    <a:gridCol w="2413000">
                      <a:extLst>
                        <a:ext uri="{9D8B030D-6E8A-4147-A177-3AD203B41FA5}">
                          <a16:colId xmlns:a16="http://schemas.microsoft.com/office/drawing/2014/main" val="4015545447"/>
                        </a:ext>
                      </a:extLst>
                    </a:gridCol>
                    <a:gridCol w="2413000">
                      <a:extLst>
                        <a:ext uri="{9D8B030D-6E8A-4147-A177-3AD203B41FA5}">
                          <a16:colId xmlns:a16="http://schemas.microsoft.com/office/drawing/2014/main" val="1718928472"/>
                        </a:ext>
                      </a:extLst>
                    </a:gridCol>
                  </a:tblGrid>
                  <a:tr h="2463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/>
                            <a:t>Aspect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Sinusoidal / Learned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Relative Encoding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RoPE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 err="1"/>
                            <a:t>ALiBi</a:t>
                          </a:r>
                          <a:endParaRPr lang="en-IN" sz="1400" b="1" dirty="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15552"/>
                      </a:ext>
                    </a:extLst>
                  </a:tr>
                  <a:tr h="4596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/>
                            <a:t>Where position enters</a:t>
                          </a:r>
                          <a:endParaRPr lang="en-IN" sz="1400" dirty="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Added to input embeddings, before attention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Injected into the attention mechanism (Q·K interaction)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Applied by rotating Q and K vectors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Added as a bias directly to attention scores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850173"/>
                      </a:ext>
                    </a:extLst>
                  </a:tr>
                  <a:tr h="6730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/>
                            <a:t>Core idea</a:t>
                          </a:r>
                          <a:endParaRPr lang="en-IN" sz="1400" dirty="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Absolute position gets its own vector, summed with token embedding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Learn/use pairwise offset (i−j) instead of absolute position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Encode position as a rotation in vector space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Penalize attention scores based on distance, no learned position vectors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7802836"/>
                      </a:ext>
                    </a:extLst>
                  </a:tr>
                  <a:tr h="100410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Equation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401" t="-140606" r="-261378" b="-28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9389" t="-140606" r="-173362" b="-28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40606" r="-100505" b="-28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0" t="-140606" r="-505" b="-28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1374791"/>
                      </a:ext>
                    </a:extLst>
                  </a:tr>
                  <a:tr h="47680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What's learned vs fixed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Sinusoidal: fixed formula. Learned: trainable embedding table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9389" t="-508974" r="-173362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Fixed rotation (no extra parameters)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0" t="-508974" r="-505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7848966"/>
                      </a:ext>
                    </a:extLst>
                  </a:tr>
                  <a:tr h="4596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Generalizes to longer sequences?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Sinusoidal: somewhat; Learned: poorly (fixed max length)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Better than absolute, but implementation-dependent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Good — rotation is well-defined for any position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Excellent — explicitly designed for length extrapolation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6775515"/>
                      </a:ext>
                    </a:extLst>
                  </a:tr>
                  <a:tr h="6730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Effect on Q/K vs scores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Neither — modifies the input embedding itself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Modifies the attention score computation (adds relative term)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Modifies Q and K representations directly (rotation)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Modifies the final attention scores (additive bias)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49510"/>
                      </a:ext>
                    </a:extLst>
                  </a:tr>
                  <a:tr h="4596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Used in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Original Transformer (sinusoidal), BERT/GPT-2 (learned)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Transformer-XL, T5 (bucketed relative bias)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LLaMA, GPT-NeoX, PaLM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BLOOM, MPT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4789430"/>
                      </a:ext>
                    </a:extLst>
                  </a:tr>
                  <a:tr h="70416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Key property</a:t>
                          </a:r>
                          <a:endParaRPr lang="en-IN" sz="1400"/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Position is a separate signal fused early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Attention "knows" relative offset, not absolute position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/>
                            <a:t>Dot product </a:t>
                          </a:r>
                          <a:r>
                            <a:rPr lang="en-IN" sz="1400">
                              <a:effectLst/>
                            </a:rPr>
                            <a:t>q_i'\cdot k_j' $ is a function of $(i-j) </a:t>
                          </a:r>
                          <a:r>
                            <a:rPr lang="en-IN" sz="1400"/>
                            <a:t>only — rotation is relative by construction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dirty="0"/>
                            <a:t>Long-range positions get a large, fixed penalty — like a built-in recency bias</a:t>
                          </a:r>
                        </a:p>
                      </a:txBody>
                      <a:tcPr marL="32939" marR="32939" marT="16470" marB="16470" anchor="ctr">
                        <a:lnL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50826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73D75798-4CF9-C070-C49B-D41840E4147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33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Positional Embeddings Variants</a:t>
            </a:r>
          </a:p>
        </p:txBody>
      </p:sp>
    </p:spTree>
    <p:extLst>
      <p:ext uri="{BB962C8B-B14F-4D97-AF65-F5344CB8AC3E}">
        <p14:creationId xmlns:p14="http://schemas.microsoft.com/office/powerpoint/2010/main" val="5266668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7;p4">
            <a:extLst>
              <a:ext uri="{FF2B5EF4-FFF2-40B4-BE49-F238E27FC236}">
                <a16:creationId xmlns:a16="http://schemas.microsoft.com/office/drawing/2014/main" id="{CDF4EA55-62AC-DF6C-8B54-0C96E8A81C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4133" y="3057579"/>
            <a:ext cx="7907866" cy="7428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06" tIns="34243" rIns="68506" bIns="34243" rtlCol="0" anchor="ctr" anchorCtr="0">
            <a:normAutofit/>
          </a:bodyPr>
          <a:lstStyle/>
          <a:p>
            <a:pPr algn="ctr">
              <a:buSzPts val="4300"/>
            </a:pPr>
            <a:r>
              <a:rPr lang="en-US" sz="4400" b="1" dirty="0">
                <a:latin typeface="Aptos" panose="020B0004020202020204" pitchFamily="34" charset="0"/>
              </a:rPr>
              <a:t>Thank you</a:t>
            </a:r>
            <a:endParaRPr sz="4400" b="1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30468-A46F-7F1E-13B2-2441EEAF4D98}"/>
              </a:ext>
            </a:extLst>
          </p:cNvPr>
          <p:cNvSpPr txBox="1"/>
          <p:nvPr/>
        </p:nvSpPr>
        <p:spPr>
          <a:xfrm>
            <a:off x="-48861" y="6462092"/>
            <a:ext cx="76200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i="1" dirty="0"/>
              <a:t>Reach to me: </a:t>
            </a:r>
            <a:r>
              <a:rPr lang="en-IN" sz="1000" dirty="0"/>
              <a:t>ramji@iitm.ac.in </a:t>
            </a:r>
          </a:p>
        </p:txBody>
      </p:sp>
      <p:pic>
        <p:nvPicPr>
          <p:cNvPr id="2" name="Picture 2" descr="IIT Madras - Wikipedia">
            <a:extLst>
              <a:ext uri="{FF2B5EF4-FFF2-40B4-BE49-F238E27FC236}">
                <a16:creationId xmlns:a16="http://schemas.microsoft.com/office/drawing/2014/main" id="{0D8748AF-E0BB-A7C7-5B32-08003C4E3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836" y="2197985"/>
            <a:ext cx="2462030" cy="246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A7E923-86FA-DEAF-3503-4559D20E39C7}"/>
              </a:ext>
            </a:extLst>
          </p:cNvPr>
          <p:cNvCxnSpPr/>
          <p:nvPr/>
        </p:nvCxnSpPr>
        <p:spPr>
          <a:xfrm>
            <a:off x="5919536" y="336884"/>
            <a:ext cx="0" cy="60074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510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2731</Words>
  <Application>Microsoft Office PowerPoint</Application>
  <PresentationFormat>Widescreen</PresentationFormat>
  <Paragraphs>416</Paragraphs>
  <Slides>41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Aptos</vt:lpstr>
      <vt:lpstr>Arial</vt:lpstr>
      <vt:lpstr>Calibri</vt:lpstr>
      <vt:lpstr>Calibri Light</vt:lpstr>
      <vt:lpstr>Cambria</vt:lpstr>
      <vt:lpstr>Cambria Math</vt:lpstr>
      <vt:lpstr>Courier New</vt:lpstr>
      <vt:lpstr>Nunito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fedex iitm</dc:creator>
  <cp:lastModifiedBy>fedex iitm</cp:lastModifiedBy>
  <cp:revision>179</cp:revision>
  <dcterms:created xsi:type="dcterms:W3CDTF">2026-07-17T04:46:07Z</dcterms:created>
  <dcterms:modified xsi:type="dcterms:W3CDTF">2026-08-20T05:10:53Z</dcterms:modified>
</cp:coreProperties>
</file>